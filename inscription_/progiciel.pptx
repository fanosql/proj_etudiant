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64" r:id="rId4"/>
    <p:sldId id="274" r:id="rId5"/>
    <p:sldId id="275" r:id="rId6"/>
    <p:sldId id="276" r:id="rId7"/>
    <p:sldId id="267" r:id="rId8"/>
    <p:sldId id="269" r:id="rId9"/>
    <p:sldId id="263" r:id="rId10"/>
    <p:sldId id="260" r:id="rId11"/>
    <p:sldId id="270" r:id="rId12"/>
    <p:sldId id="262" r:id="rId13"/>
    <p:sldId id="265" r:id="rId14"/>
    <p:sldId id="266" r:id="rId15"/>
    <p:sldId id="277" r:id="rId16"/>
    <p:sldId id="278" r:id="rId17"/>
    <p:sldId id="279" r:id="rId18"/>
    <p:sldId id="280" r:id="rId19"/>
    <p:sldId id="281" r:id="rId20"/>
    <p:sldId id="282" r:id="rId21"/>
    <p:sldId id="283" r:id="rId22"/>
    <p:sldId id="284" r:id="rId23"/>
    <p:sldId id="285" r:id="rId24"/>
    <p:sldId id="286" r:id="rId25"/>
    <p:sldId id="287" r:id="rId26"/>
    <p:sldId id="295" r:id="rId27"/>
    <p:sldId id="296" r:id="rId28"/>
    <p:sldId id="288" r:id="rId29"/>
    <p:sldId id="289" r:id="rId30"/>
    <p:sldId id="290" r:id="rId31"/>
    <p:sldId id="291" r:id="rId32"/>
    <p:sldId id="292" r:id="rId33"/>
    <p:sldId id="293" r:id="rId34"/>
    <p:sldId id="294" r:id="rId35"/>
    <p:sldId id="303" r:id="rId36"/>
    <p:sldId id="297" r:id="rId37"/>
    <p:sldId id="298" r:id="rId38"/>
    <p:sldId id="258" r:id="rId39"/>
    <p:sldId id="259" r:id="rId40"/>
    <p:sldId id="261" r:id="rId41"/>
    <p:sldId id="299" r:id="rId42"/>
    <p:sldId id="300" r:id="rId43"/>
    <p:sldId id="301" r:id="rId44"/>
    <p:sldId id="302" r:id="rId45"/>
    <p:sldId id="268" r:id="rId46"/>
    <p:sldId id="271" r:id="rId47"/>
    <p:sldId id="273" r:id="rId4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672"/>
    <a:srgbClr val="52B4E6"/>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912"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0BBBC-827A-41A7-9204-CF83AF984D77}" type="datetimeFigureOut">
              <a:rPr lang="fr-FR" smtClean="0"/>
              <a:t>27/07/2025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3517CD-2E2C-4771-84C9-E6E3C7BC90DC}" type="slidenum">
              <a:rPr lang="fr-FR" smtClean="0"/>
              <a:t>‹N°›</a:t>
            </a:fld>
            <a:endParaRPr lang="fr-FR"/>
          </a:p>
        </p:txBody>
      </p:sp>
    </p:spTree>
    <p:extLst>
      <p:ext uri="{BB962C8B-B14F-4D97-AF65-F5344CB8AC3E}">
        <p14:creationId xmlns:p14="http://schemas.microsoft.com/office/powerpoint/2010/main" val="2950646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53517CD-2E2C-4771-84C9-E6E3C7BC90DC}" type="slidenum">
              <a:rPr lang="fr-FR" smtClean="0"/>
              <a:t>5</a:t>
            </a:fld>
            <a:endParaRPr lang="fr-FR"/>
          </a:p>
        </p:txBody>
      </p:sp>
    </p:spTree>
    <p:extLst>
      <p:ext uri="{BB962C8B-B14F-4D97-AF65-F5344CB8AC3E}">
        <p14:creationId xmlns:p14="http://schemas.microsoft.com/office/powerpoint/2010/main" val="471793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53517CD-2E2C-4771-84C9-E6E3C7BC90DC}" type="slidenum">
              <a:rPr lang="fr-FR" smtClean="0"/>
              <a:t>6</a:t>
            </a:fld>
            <a:endParaRPr lang="fr-FR"/>
          </a:p>
        </p:txBody>
      </p:sp>
    </p:spTree>
    <p:extLst>
      <p:ext uri="{BB962C8B-B14F-4D97-AF65-F5344CB8AC3E}">
        <p14:creationId xmlns:p14="http://schemas.microsoft.com/office/powerpoint/2010/main" val="3068759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53517CD-2E2C-4771-84C9-E6E3C7BC90DC}" type="slidenum">
              <a:rPr lang="fr-FR" smtClean="0"/>
              <a:t>7</a:t>
            </a:fld>
            <a:endParaRPr lang="fr-FR"/>
          </a:p>
        </p:txBody>
      </p:sp>
    </p:spTree>
    <p:extLst>
      <p:ext uri="{BB962C8B-B14F-4D97-AF65-F5344CB8AC3E}">
        <p14:creationId xmlns:p14="http://schemas.microsoft.com/office/powerpoint/2010/main" val="2980816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53517CD-2E2C-4771-84C9-E6E3C7BC90DC}" type="slidenum">
              <a:rPr lang="fr-FR" smtClean="0"/>
              <a:t>27</a:t>
            </a:fld>
            <a:endParaRPr lang="fr-FR"/>
          </a:p>
        </p:txBody>
      </p:sp>
    </p:spTree>
    <p:extLst>
      <p:ext uri="{BB962C8B-B14F-4D97-AF65-F5344CB8AC3E}">
        <p14:creationId xmlns:p14="http://schemas.microsoft.com/office/powerpoint/2010/main" val="2770172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0EF36F-DF38-0325-27C6-96307D02869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5706AC9-C948-E474-AFBF-524A39B9DD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B7B2D9C-A481-1B42-3F3D-469440AF2D56}"/>
              </a:ext>
            </a:extLst>
          </p:cNvPr>
          <p:cNvSpPr>
            <a:spLocks noGrp="1"/>
          </p:cNvSpPr>
          <p:nvPr>
            <p:ph type="dt" sz="half" idx="10"/>
          </p:nvPr>
        </p:nvSpPr>
        <p:spPr/>
        <p:txBody>
          <a:bodyPr/>
          <a:lstStyle/>
          <a:p>
            <a:fld id="{0C016CCC-D188-4954-9121-6B53152D040B}" type="datetime1">
              <a:rPr lang="fr-FR" smtClean="0"/>
              <a:t>27/07/2025</a:t>
            </a:fld>
            <a:endParaRPr lang="fr-FR"/>
          </a:p>
        </p:txBody>
      </p:sp>
      <p:sp>
        <p:nvSpPr>
          <p:cNvPr id="5" name="Espace réservé du pied de page 4">
            <a:extLst>
              <a:ext uri="{FF2B5EF4-FFF2-40B4-BE49-F238E27FC236}">
                <a16:creationId xmlns:a16="http://schemas.microsoft.com/office/drawing/2014/main" id="{94291BC1-EE16-F8F8-838C-6936EC49436C}"/>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165720AB-24FF-9A66-4638-FD4A2D73D50C}"/>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3277078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F3B142-3E82-6723-9C74-E44B40C2CEE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27D8C4E-5063-A6D4-D93E-E795AA785A8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2636F14-6EF0-3430-B3E3-B056174FB4C5}"/>
              </a:ext>
            </a:extLst>
          </p:cNvPr>
          <p:cNvSpPr>
            <a:spLocks noGrp="1"/>
          </p:cNvSpPr>
          <p:nvPr>
            <p:ph type="dt" sz="half" idx="10"/>
          </p:nvPr>
        </p:nvSpPr>
        <p:spPr/>
        <p:txBody>
          <a:bodyPr/>
          <a:lstStyle/>
          <a:p>
            <a:fld id="{DCA9D776-EBF2-4874-B3AE-A71A0A912848}" type="datetime1">
              <a:rPr lang="fr-FR" smtClean="0"/>
              <a:t>27/07/2025</a:t>
            </a:fld>
            <a:endParaRPr lang="fr-FR"/>
          </a:p>
        </p:txBody>
      </p:sp>
      <p:sp>
        <p:nvSpPr>
          <p:cNvPr id="5" name="Espace réservé du pied de page 4">
            <a:extLst>
              <a:ext uri="{FF2B5EF4-FFF2-40B4-BE49-F238E27FC236}">
                <a16:creationId xmlns:a16="http://schemas.microsoft.com/office/drawing/2014/main" id="{12E92026-8F33-AC39-5566-F328E50A5C6C}"/>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0312E24C-579C-0AE5-7C37-64DF53B935A0}"/>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1664203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C03822-A66E-8005-CF82-DDD97701620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F282930-21AE-0067-BDE8-FCE09E7501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7E25191-ECF8-0217-1EDC-EBBE5D13A004}"/>
              </a:ext>
            </a:extLst>
          </p:cNvPr>
          <p:cNvSpPr>
            <a:spLocks noGrp="1"/>
          </p:cNvSpPr>
          <p:nvPr>
            <p:ph type="dt" sz="half" idx="10"/>
          </p:nvPr>
        </p:nvSpPr>
        <p:spPr/>
        <p:txBody>
          <a:bodyPr/>
          <a:lstStyle/>
          <a:p>
            <a:fld id="{C7FA0CB4-9593-49CD-89DF-67A60CE14788}" type="datetime1">
              <a:rPr lang="fr-FR" smtClean="0"/>
              <a:t>27/07/2025</a:t>
            </a:fld>
            <a:endParaRPr lang="fr-FR"/>
          </a:p>
        </p:txBody>
      </p:sp>
      <p:sp>
        <p:nvSpPr>
          <p:cNvPr id="5" name="Espace réservé du pied de page 4">
            <a:extLst>
              <a:ext uri="{FF2B5EF4-FFF2-40B4-BE49-F238E27FC236}">
                <a16:creationId xmlns:a16="http://schemas.microsoft.com/office/drawing/2014/main" id="{C4A58DB3-6CC6-851A-E577-0408AF95FF98}"/>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E2A4CB76-4636-959D-AA09-876F9B545B4F}"/>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671083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AB18A-5218-077B-45E0-79BAFF13415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5FB34BD-2AC2-69E5-ABF8-E47A71A8074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D4F5685-8C18-6E41-1B60-02238C0DCEA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75510C1-B390-C83E-A357-B9A0E1293F3B}"/>
              </a:ext>
            </a:extLst>
          </p:cNvPr>
          <p:cNvSpPr>
            <a:spLocks noGrp="1"/>
          </p:cNvSpPr>
          <p:nvPr>
            <p:ph type="dt" sz="half" idx="10"/>
          </p:nvPr>
        </p:nvSpPr>
        <p:spPr/>
        <p:txBody>
          <a:bodyPr/>
          <a:lstStyle/>
          <a:p>
            <a:fld id="{73F954E5-3353-4B8A-A59B-352FCB57A116}" type="datetime1">
              <a:rPr lang="fr-FR" smtClean="0"/>
              <a:t>27/07/2025</a:t>
            </a:fld>
            <a:endParaRPr lang="fr-FR"/>
          </a:p>
        </p:txBody>
      </p:sp>
      <p:sp>
        <p:nvSpPr>
          <p:cNvPr id="6" name="Espace réservé du pied de page 5">
            <a:extLst>
              <a:ext uri="{FF2B5EF4-FFF2-40B4-BE49-F238E27FC236}">
                <a16:creationId xmlns:a16="http://schemas.microsoft.com/office/drawing/2014/main" id="{2F40302D-E905-BA22-CA25-422CF11B7CBF}"/>
              </a:ext>
            </a:extLst>
          </p:cNvPr>
          <p:cNvSpPr>
            <a:spLocks noGrp="1"/>
          </p:cNvSpPr>
          <p:nvPr>
            <p:ph type="ftr" sz="quarter" idx="11"/>
          </p:nvPr>
        </p:nvSpPr>
        <p:spPr/>
        <p:txBody>
          <a:bodyPr/>
          <a:lstStyle/>
          <a:p>
            <a:r>
              <a:rPr lang="fr-FR"/>
              <a:t>Evaluaiton avec un micro projet HTML-CSS</a:t>
            </a:r>
          </a:p>
        </p:txBody>
      </p:sp>
      <p:sp>
        <p:nvSpPr>
          <p:cNvPr id="7" name="Espace réservé du numéro de diapositive 6">
            <a:extLst>
              <a:ext uri="{FF2B5EF4-FFF2-40B4-BE49-F238E27FC236}">
                <a16:creationId xmlns:a16="http://schemas.microsoft.com/office/drawing/2014/main" id="{17A8D18C-D666-AF64-9A7F-D7CCACCB8B8D}"/>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1898362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B07415-41F3-1B15-F870-D2F81FFF2E4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D144F35-F2AE-9021-0152-2A777BFD0E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24D2D80-A7E9-19F7-81EF-AC252D45A94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41CA7F6-777E-8E8D-C056-84331AD66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51BCC94-9E68-9C00-8627-B1B51A6933F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E5BC11B-EB1F-01CA-4775-EA5D6ECD503E}"/>
              </a:ext>
            </a:extLst>
          </p:cNvPr>
          <p:cNvSpPr>
            <a:spLocks noGrp="1"/>
          </p:cNvSpPr>
          <p:nvPr>
            <p:ph type="dt" sz="half" idx="10"/>
          </p:nvPr>
        </p:nvSpPr>
        <p:spPr/>
        <p:txBody>
          <a:bodyPr/>
          <a:lstStyle/>
          <a:p>
            <a:fld id="{B62DCAC0-F8C2-4CCA-AB7F-9A73B385A949}" type="datetime1">
              <a:rPr lang="fr-FR" smtClean="0"/>
              <a:t>27/07/2025</a:t>
            </a:fld>
            <a:endParaRPr lang="fr-FR"/>
          </a:p>
        </p:txBody>
      </p:sp>
      <p:sp>
        <p:nvSpPr>
          <p:cNvPr id="8" name="Espace réservé du pied de page 7">
            <a:extLst>
              <a:ext uri="{FF2B5EF4-FFF2-40B4-BE49-F238E27FC236}">
                <a16:creationId xmlns:a16="http://schemas.microsoft.com/office/drawing/2014/main" id="{45AC494B-4C7F-5158-7443-4987DD1EF0F6}"/>
              </a:ext>
            </a:extLst>
          </p:cNvPr>
          <p:cNvSpPr>
            <a:spLocks noGrp="1"/>
          </p:cNvSpPr>
          <p:nvPr>
            <p:ph type="ftr" sz="quarter" idx="11"/>
          </p:nvPr>
        </p:nvSpPr>
        <p:spPr/>
        <p:txBody>
          <a:bodyPr/>
          <a:lstStyle/>
          <a:p>
            <a:r>
              <a:rPr lang="fr-FR"/>
              <a:t>Evaluaiton avec un micro projet HTML-CSS</a:t>
            </a:r>
          </a:p>
        </p:txBody>
      </p:sp>
      <p:sp>
        <p:nvSpPr>
          <p:cNvPr id="9" name="Espace réservé du numéro de diapositive 8">
            <a:extLst>
              <a:ext uri="{FF2B5EF4-FFF2-40B4-BE49-F238E27FC236}">
                <a16:creationId xmlns:a16="http://schemas.microsoft.com/office/drawing/2014/main" id="{D64579C3-2095-05AD-6D3E-6E33CB2F8CEA}"/>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4114278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382606-F26D-B102-555E-BCE7CC801F4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457209A-BCC9-E283-EFAB-C8AE0F93D089}"/>
              </a:ext>
            </a:extLst>
          </p:cNvPr>
          <p:cNvSpPr>
            <a:spLocks noGrp="1"/>
          </p:cNvSpPr>
          <p:nvPr>
            <p:ph type="dt" sz="half" idx="10"/>
          </p:nvPr>
        </p:nvSpPr>
        <p:spPr/>
        <p:txBody>
          <a:bodyPr/>
          <a:lstStyle/>
          <a:p>
            <a:fld id="{7E3292A4-642B-4DC6-9515-6ABB091E9DA5}" type="datetime1">
              <a:rPr lang="fr-FR" smtClean="0"/>
              <a:t>27/07/2025</a:t>
            </a:fld>
            <a:endParaRPr lang="fr-FR"/>
          </a:p>
        </p:txBody>
      </p:sp>
      <p:sp>
        <p:nvSpPr>
          <p:cNvPr id="4" name="Espace réservé du pied de page 3">
            <a:extLst>
              <a:ext uri="{FF2B5EF4-FFF2-40B4-BE49-F238E27FC236}">
                <a16:creationId xmlns:a16="http://schemas.microsoft.com/office/drawing/2014/main" id="{2B5B5917-1238-5C68-B68A-2D4CF3341C41}"/>
              </a:ext>
            </a:extLst>
          </p:cNvPr>
          <p:cNvSpPr>
            <a:spLocks noGrp="1"/>
          </p:cNvSpPr>
          <p:nvPr>
            <p:ph type="ftr" sz="quarter" idx="11"/>
          </p:nvPr>
        </p:nvSpPr>
        <p:spPr/>
        <p:txBody>
          <a:bodyPr/>
          <a:lstStyle/>
          <a:p>
            <a:r>
              <a:rPr lang="fr-FR"/>
              <a:t>Evaluaiton avec un micro projet HTML-CSS</a:t>
            </a:r>
          </a:p>
        </p:txBody>
      </p:sp>
      <p:sp>
        <p:nvSpPr>
          <p:cNvPr id="5" name="Espace réservé du numéro de diapositive 4">
            <a:extLst>
              <a:ext uri="{FF2B5EF4-FFF2-40B4-BE49-F238E27FC236}">
                <a16:creationId xmlns:a16="http://schemas.microsoft.com/office/drawing/2014/main" id="{F9CF16BF-CE35-B2DE-6790-0668CC51C809}"/>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427422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290B6E5-75D3-A1E3-9A47-1278A7C21653}"/>
              </a:ext>
            </a:extLst>
          </p:cNvPr>
          <p:cNvSpPr>
            <a:spLocks noGrp="1"/>
          </p:cNvSpPr>
          <p:nvPr>
            <p:ph type="dt" sz="half" idx="10"/>
          </p:nvPr>
        </p:nvSpPr>
        <p:spPr/>
        <p:txBody>
          <a:bodyPr/>
          <a:lstStyle/>
          <a:p>
            <a:fld id="{64755C4C-D883-4D38-8F7C-1FCFC4ABC195}" type="datetime1">
              <a:rPr lang="fr-FR" smtClean="0"/>
              <a:t>27/07/2025</a:t>
            </a:fld>
            <a:endParaRPr lang="fr-FR"/>
          </a:p>
        </p:txBody>
      </p:sp>
      <p:sp>
        <p:nvSpPr>
          <p:cNvPr id="3" name="Espace réservé du pied de page 2">
            <a:extLst>
              <a:ext uri="{FF2B5EF4-FFF2-40B4-BE49-F238E27FC236}">
                <a16:creationId xmlns:a16="http://schemas.microsoft.com/office/drawing/2014/main" id="{44E0DC4D-82F9-62F0-6CAE-8D9348382B9A}"/>
              </a:ext>
            </a:extLst>
          </p:cNvPr>
          <p:cNvSpPr>
            <a:spLocks noGrp="1"/>
          </p:cNvSpPr>
          <p:nvPr>
            <p:ph type="ftr" sz="quarter" idx="11"/>
          </p:nvPr>
        </p:nvSpPr>
        <p:spPr/>
        <p:txBody>
          <a:bodyPr/>
          <a:lstStyle/>
          <a:p>
            <a:r>
              <a:rPr lang="fr-FR"/>
              <a:t>Evaluaiton avec un micro projet HTML-CSS</a:t>
            </a:r>
          </a:p>
        </p:txBody>
      </p:sp>
      <p:sp>
        <p:nvSpPr>
          <p:cNvPr id="4" name="Espace réservé du numéro de diapositive 3">
            <a:extLst>
              <a:ext uri="{FF2B5EF4-FFF2-40B4-BE49-F238E27FC236}">
                <a16:creationId xmlns:a16="http://schemas.microsoft.com/office/drawing/2014/main" id="{62B3321B-F817-5EE7-D578-55B4C46AA100}"/>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1393637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73F042-0744-1FE9-1ED4-F75CC1837BD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7C0596F-6BD2-664A-F4E8-96E6E03FD9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F05042D-A972-0864-8516-3D1433ACDB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D30F791-624A-CC95-AB54-EA85F82C8940}"/>
              </a:ext>
            </a:extLst>
          </p:cNvPr>
          <p:cNvSpPr>
            <a:spLocks noGrp="1"/>
          </p:cNvSpPr>
          <p:nvPr>
            <p:ph type="dt" sz="half" idx="10"/>
          </p:nvPr>
        </p:nvSpPr>
        <p:spPr/>
        <p:txBody>
          <a:bodyPr/>
          <a:lstStyle/>
          <a:p>
            <a:fld id="{866A84CA-7241-4470-90ED-8A2B422E3465}" type="datetime1">
              <a:rPr lang="fr-FR" smtClean="0"/>
              <a:t>27/07/2025</a:t>
            </a:fld>
            <a:endParaRPr lang="fr-FR"/>
          </a:p>
        </p:txBody>
      </p:sp>
      <p:sp>
        <p:nvSpPr>
          <p:cNvPr id="6" name="Espace réservé du pied de page 5">
            <a:extLst>
              <a:ext uri="{FF2B5EF4-FFF2-40B4-BE49-F238E27FC236}">
                <a16:creationId xmlns:a16="http://schemas.microsoft.com/office/drawing/2014/main" id="{BEE1C9E5-CCCF-A8F6-FB90-0682BECF2AFA}"/>
              </a:ext>
            </a:extLst>
          </p:cNvPr>
          <p:cNvSpPr>
            <a:spLocks noGrp="1"/>
          </p:cNvSpPr>
          <p:nvPr>
            <p:ph type="ftr" sz="quarter" idx="11"/>
          </p:nvPr>
        </p:nvSpPr>
        <p:spPr/>
        <p:txBody>
          <a:bodyPr/>
          <a:lstStyle/>
          <a:p>
            <a:r>
              <a:rPr lang="fr-FR"/>
              <a:t>Evaluaiton avec un micro projet HTML-CSS</a:t>
            </a:r>
          </a:p>
        </p:txBody>
      </p:sp>
      <p:sp>
        <p:nvSpPr>
          <p:cNvPr id="7" name="Espace réservé du numéro de diapositive 6">
            <a:extLst>
              <a:ext uri="{FF2B5EF4-FFF2-40B4-BE49-F238E27FC236}">
                <a16:creationId xmlns:a16="http://schemas.microsoft.com/office/drawing/2014/main" id="{4A0D0A5D-42A7-AE34-703F-989FD5D29362}"/>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2433099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8CFE66-2FA6-5F08-CBF0-A30F5868697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A39158A-D61B-DF68-A86D-043A8C8D9E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B19E2E2-E974-3D44-A6C1-CB9ECB9B1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DF5341D-1810-CD48-81FF-705B768FBB85}"/>
              </a:ext>
            </a:extLst>
          </p:cNvPr>
          <p:cNvSpPr>
            <a:spLocks noGrp="1"/>
          </p:cNvSpPr>
          <p:nvPr>
            <p:ph type="dt" sz="half" idx="10"/>
          </p:nvPr>
        </p:nvSpPr>
        <p:spPr/>
        <p:txBody>
          <a:bodyPr/>
          <a:lstStyle/>
          <a:p>
            <a:fld id="{AA769A4E-F71C-45F7-A349-B87FD0A55068}" type="datetime1">
              <a:rPr lang="fr-FR" smtClean="0"/>
              <a:t>27/07/2025</a:t>
            </a:fld>
            <a:endParaRPr lang="fr-FR"/>
          </a:p>
        </p:txBody>
      </p:sp>
      <p:sp>
        <p:nvSpPr>
          <p:cNvPr id="6" name="Espace réservé du pied de page 5">
            <a:extLst>
              <a:ext uri="{FF2B5EF4-FFF2-40B4-BE49-F238E27FC236}">
                <a16:creationId xmlns:a16="http://schemas.microsoft.com/office/drawing/2014/main" id="{6924A344-3C9C-2639-7015-FEE9A713B458}"/>
              </a:ext>
            </a:extLst>
          </p:cNvPr>
          <p:cNvSpPr>
            <a:spLocks noGrp="1"/>
          </p:cNvSpPr>
          <p:nvPr>
            <p:ph type="ftr" sz="quarter" idx="11"/>
          </p:nvPr>
        </p:nvSpPr>
        <p:spPr/>
        <p:txBody>
          <a:bodyPr/>
          <a:lstStyle/>
          <a:p>
            <a:r>
              <a:rPr lang="fr-FR"/>
              <a:t>Evaluaiton avec un micro projet HTML-CSS</a:t>
            </a:r>
          </a:p>
        </p:txBody>
      </p:sp>
      <p:sp>
        <p:nvSpPr>
          <p:cNvPr id="7" name="Espace réservé du numéro de diapositive 6">
            <a:extLst>
              <a:ext uri="{FF2B5EF4-FFF2-40B4-BE49-F238E27FC236}">
                <a16:creationId xmlns:a16="http://schemas.microsoft.com/office/drawing/2014/main" id="{1CADEFD5-F4B9-38C9-5B14-071BCE4FCD31}"/>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1108440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E29F41-4A4F-74D4-11E1-754B5EB1959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4558061-C51F-F3FD-3DB8-2CAC7096CE7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E32940F-19B1-F299-783B-B10FE3642CA9}"/>
              </a:ext>
            </a:extLst>
          </p:cNvPr>
          <p:cNvSpPr>
            <a:spLocks noGrp="1"/>
          </p:cNvSpPr>
          <p:nvPr>
            <p:ph type="dt" sz="half" idx="10"/>
          </p:nvPr>
        </p:nvSpPr>
        <p:spPr/>
        <p:txBody>
          <a:bodyPr/>
          <a:lstStyle/>
          <a:p>
            <a:fld id="{DC77DC33-9E57-4646-8516-F78B3F921F9E}" type="datetime1">
              <a:rPr lang="fr-FR" smtClean="0"/>
              <a:t>27/07/2025</a:t>
            </a:fld>
            <a:endParaRPr lang="fr-FR"/>
          </a:p>
        </p:txBody>
      </p:sp>
      <p:sp>
        <p:nvSpPr>
          <p:cNvPr id="5" name="Espace réservé du pied de page 4">
            <a:extLst>
              <a:ext uri="{FF2B5EF4-FFF2-40B4-BE49-F238E27FC236}">
                <a16:creationId xmlns:a16="http://schemas.microsoft.com/office/drawing/2014/main" id="{FB2566E6-A295-5EC1-A13E-1CB24F7C0CC9}"/>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F58D2E44-A181-F188-D55D-0E12DBE88444}"/>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2361852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45E078C-9B0F-0D8A-A7B1-23E9E3DE54E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2B513C3-9AB3-8769-4A95-4C9612959B7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98E4AB8-5EBB-8128-BF29-0B59428FAAD9}"/>
              </a:ext>
            </a:extLst>
          </p:cNvPr>
          <p:cNvSpPr>
            <a:spLocks noGrp="1"/>
          </p:cNvSpPr>
          <p:nvPr>
            <p:ph type="dt" sz="half" idx="10"/>
          </p:nvPr>
        </p:nvSpPr>
        <p:spPr/>
        <p:txBody>
          <a:bodyPr/>
          <a:lstStyle/>
          <a:p>
            <a:fld id="{55BB2F55-EA13-4052-9419-C122FC384B65}" type="datetime1">
              <a:rPr lang="fr-FR" smtClean="0"/>
              <a:t>27/07/2025</a:t>
            </a:fld>
            <a:endParaRPr lang="fr-FR"/>
          </a:p>
        </p:txBody>
      </p:sp>
      <p:sp>
        <p:nvSpPr>
          <p:cNvPr id="5" name="Espace réservé du pied de page 4">
            <a:extLst>
              <a:ext uri="{FF2B5EF4-FFF2-40B4-BE49-F238E27FC236}">
                <a16:creationId xmlns:a16="http://schemas.microsoft.com/office/drawing/2014/main" id="{2C633280-E0FB-871F-D535-F9686C7CAECA}"/>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542AB2AA-6101-3FD9-391A-112D1327B0B4}"/>
              </a:ext>
            </a:extLst>
          </p:cNvPr>
          <p:cNvSpPr>
            <a:spLocks noGrp="1"/>
          </p:cNvSpPr>
          <p:nvPr>
            <p:ph type="sldNum" sz="quarter" idx="12"/>
          </p:nvPr>
        </p:nvSpPr>
        <p:spPr/>
        <p:txBody>
          <a:bodyPr/>
          <a:lstStyle/>
          <a:p>
            <a:fld id="{61A50371-3F2D-4FEF-B603-773838516A24}" type="slidenum">
              <a:rPr lang="fr-FR" smtClean="0"/>
              <a:t>‹N°›</a:t>
            </a:fld>
            <a:endParaRPr lang="fr-FR"/>
          </a:p>
        </p:txBody>
      </p:sp>
    </p:spTree>
    <p:extLst>
      <p:ext uri="{BB962C8B-B14F-4D97-AF65-F5344CB8AC3E}">
        <p14:creationId xmlns:p14="http://schemas.microsoft.com/office/powerpoint/2010/main" val="1315135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B794788-229C-6FDD-B34C-CC03E364E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F4AC013-1656-2DEF-D6B3-A07D030A23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E1666D9-FD28-DDF3-5F6F-9D19BCB801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C21615-4264-413D-A2CE-AC5C300AEF7C}" type="datetime1">
              <a:rPr lang="fr-FR" smtClean="0"/>
              <a:t>27/07/2025</a:t>
            </a:fld>
            <a:endParaRPr lang="fr-FR"/>
          </a:p>
        </p:txBody>
      </p:sp>
      <p:sp>
        <p:nvSpPr>
          <p:cNvPr id="5" name="Espace réservé du pied de page 4">
            <a:extLst>
              <a:ext uri="{FF2B5EF4-FFF2-40B4-BE49-F238E27FC236}">
                <a16:creationId xmlns:a16="http://schemas.microsoft.com/office/drawing/2014/main" id="{BA0D291C-B036-56E0-3C6F-30C97EEA3A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E25FF0F4-BE0F-7384-E00D-5B860BC987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A50371-3F2D-4FEF-B603-773838516A24}" type="slidenum">
              <a:rPr lang="fr-FR" smtClean="0"/>
              <a:t>‹N°›</a:t>
            </a:fld>
            <a:endParaRPr lang="fr-FR"/>
          </a:p>
        </p:txBody>
      </p:sp>
    </p:spTree>
    <p:extLst>
      <p:ext uri="{BB962C8B-B14F-4D97-AF65-F5344CB8AC3E}">
        <p14:creationId xmlns:p14="http://schemas.microsoft.com/office/powerpoint/2010/main" val="1862465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780102-8883-133A-1DE5-9373068E08FF}"/>
              </a:ext>
            </a:extLst>
          </p:cNvPr>
          <p:cNvSpPr>
            <a:spLocks noGrp="1"/>
          </p:cNvSpPr>
          <p:nvPr>
            <p:ph type="ctrTitle"/>
          </p:nvPr>
        </p:nvSpPr>
        <p:spPr>
          <a:xfrm>
            <a:off x="1524000" y="2362199"/>
            <a:ext cx="9144000" cy="1147763"/>
          </a:xfrm>
        </p:spPr>
        <p:txBody>
          <a:bodyPr/>
          <a:lstStyle/>
          <a:p>
            <a:r>
              <a:rPr lang="fr-FR" dirty="0"/>
              <a:t>Micro Projet </a:t>
            </a:r>
            <a:r>
              <a:rPr lang="fr-FR" dirty="0" err="1"/>
              <a:t>PgI</a:t>
            </a:r>
            <a:r>
              <a:rPr lang="fr-FR" dirty="0"/>
              <a:t> CUST</a:t>
            </a:r>
          </a:p>
        </p:txBody>
      </p:sp>
      <p:sp>
        <p:nvSpPr>
          <p:cNvPr id="3" name="Sous-titre 2">
            <a:extLst>
              <a:ext uri="{FF2B5EF4-FFF2-40B4-BE49-F238E27FC236}">
                <a16:creationId xmlns:a16="http://schemas.microsoft.com/office/drawing/2014/main" id="{95713EA4-7AAF-DA47-9805-66DC52696900}"/>
              </a:ext>
            </a:extLst>
          </p:cNvPr>
          <p:cNvSpPr>
            <a:spLocks noGrp="1"/>
          </p:cNvSpPr>
          <p:nvPr>
            <p:ph type="subTitle" idx="1"/>
          </p:nvPr>
        </p:nvSpPr>
        <p:spPr>
          <a:xfrm>
            <a:off x="1524000" y="3602038"/>
            <a:ext cx="9144000" cy="550862"/>
          </a:xfrm>
        </p:spPr>
        <p:txBody>
          <a:bodyPr/>
          <a:lstStyle/>
          <a:p>
            <a:r>
              <a:rPr lang="fr-FR" dirty="0"/>
              <a:t>Etude d’un langage statique et dynamique</a:t>
            </a:r>
          </a:p>
        </p:txBody>
      </p:sp>
      <p:pic>
        <p:nvPicPr>
          <p:cNvPr id="4" name="Image 3">
            <a:extLst>
              <a:ext uri="{FF2B5EF4-FFF2-40B4-BE49-F238E27FC236}">
                <a16:creationId xmlns:a16="http://schemas.microsoft.com/office/drawing/2014/main" id="{6C72D148-78E3-0781-015C-F81E5B9206F1}"/>
              </a:ext>
            </a:extLst>
          </p:cNvPr>
          <p:cNvPicPr>
            <a:picLocks noChangeAspect="1"/>
          </p:cNvPicPr>
          <p:nvPr/>
        </p:nvPicPr>
        <p:blipFill>
          <a:blip r:embed="rId2"/>
          <a:stretch>
            <a:fillRect/>
          </a:stretch>
        </p:blipFill>
        <p:spPr>
          <a:xfrm>
            <a:off x="4010025" y="978017"/>
            <a:ext cx="3867149" cy="1292106"/>
          </a:xfrm>
          <a:prstGeom prst="rect">
            <a:avLst/>
          </a:prstGeom>
        </p:spPr>
      </p:pic>
      <p:sp>
        <p:nvSpPr>
          <p:cNvPr id="5" name="Espace réservé du pied de page 4">
            <a:extLst>
              <a:ext uri="{FF2B5EF4-FFF2-40B4-BE49-F238E27FC236}">
                <a16:creationId xmlns:a16="http://schemas.microsoft.com/office/drawing/2014/main" id="{9B9BA72B-7881-1650-F9DE-70BEFA146666}"/>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77B79914-119E-40E1-F480-02D66CE111BA}"/>
              </a:ext>
            </a:extLst>
          </p:cNvPr>
          <p:cNvSpPr>
            <a:spLocks noGrp="1"/>
          </p:cNvSpPr>
          <p:nvPr>
            <p:ph type="sldNum" sz="quarter" idx="12"/>
          </p:nvPr>
        </p:nvSpPr>
        <p:spPr/>
        <p:txBody>
          <a:bodyPr/>
          <a:lstStyle/>
          <a:p>
            <a:fld id="{61A50371-3F2D-4FEF-B603-773838516A24}" type="slidenum">
              <a:rPr lang="fr-FR" smtClean="0"/>
              <a:t>1</a:t>
            </a:fld>
            <a:endParaRPr lang="fr-FR"/>
          </a:p>
        </p:txBody>
      </p:sp>
      <p:sp>
        <p:nvSpPr>
          <p:cNvPr id="7" name="Rectangle 6">
            <a:extLst>
              <a:ext uri="{FF2B5EF4-FFF2-40B4-BE49-F238E27FC236}">
                <a16:creationId xmlns:a16="http://schemas.microsoft.com/office/drawing/2014/main" id="{F00A0CFC-1D70-0F4C-24DC-B8F45545B89B}"/>
              </a:ext>
            </a:extLst>
          </p:cNvPr>
          <p:cNvSpPr/>
          <p:nvPr/>
        </p:nvSpPr>
        <p:spPr>
          <a:xfrm>
            <a:off x="180975" y="158749"/>
            <a:ext cx="2200275" cy="6000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28/047/2025</a:t>
            </a:r>
          </a:p>
        </p:txBody>
      </p:sp>
      <p:sp>
        <p:nvSpPr>
          <p:cNvPr id="8" name="Rectangle 7">
            <a:extLst>
              <a:ext uri="{FF2B5EF4-FFF2-40B4-BE49-F238E27FC236}">
                <a16:creationId xmlns:a16="http://schemas.microsoft.com/office/drawing/2014/main" id="{E0A956EB-D5C3-1D26-DEA3-FA87E28337F2}"/>
              </a:ext>
            </a:extLst>
          </p:cNvPr>
          <p:cNvSpPr/>
          <p:nvPr/>
        </p:nvSpPr>
        <p:spPr>
          <a:xfrm>
            <a:off x="76199" y="5286375"/>
            <a:ext cx="3514725" cy="695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Durée de la réalisation : 72h</a:t>
            </a:r>
          </a:p>
        </p:txBody>
      </p:sp>
      <p:sp>
        <p:nvSpPr>
          <p:cNvPr id="9" name="Rectangle 8">
            <a:extLst>
              <a:ext uri="{FF2B5EF4-FFF2-40B4-BE49-F238E27FC236}">
                <a16:creationId xmlns:a16="http://schemas.microsoft.com/office/drawing/2014/main" id="{56DE34FF-1030-5097-F8F3-DD8F75697446}"/>
              </a:ext>
            </a:extLst>
          </p:cNvPr>
          <p:cNvSpPr/>
          <p:nvPr/>
        </p:nvSpPr>
        <p:spPr>
          <a:xfrm>
            <a:off x="7048501" y="4948237"/>
            <a:ext cx="4895850" cy="1147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u="sng" dirty="0"/>
              <a:t>Objectifs</a:t>
            </a:r>
            <a:r>
              <a:rPr lang="fr-FR" sz="1600" dirty="0"/>
              <a:t> référentiels :</a:t>
            </a:r>
          </a:p>
          <a:p>
            <a:pPr algn="ctr"/>
            <a:r>
              <a:rPr lang="fr-FR" sz="1600" dirty="0"/>
              <a:t>Activité 1 : Interface U.I (80%)</a:t>
            </a:r>
          </a:p>
          <a:p>
            <a:pPr algn="ctr"/>
            <a:r>
              <a:rPr lang="fr-FR" sz="1600" dirty="0"/>
              <a:t>Activité 2 Langage dynamique (20%)</a:t>
            </a:r>
          </a:p>
        </p:txBody>
      </p:sp>
    </p:spTree>
    <p:extLst>
      <p:ext uri="{BB962C8B-B14F-4D97-AF65-F5344CB8AC3E}">
        <p14:creationId xmlns:p14="http://schemas.microsoft.com/office/powerpoint/2010/main" val="22591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2CF1D9-3D29-324E-D948-59F45A4C9255}"/>
              </a:ext>
            </a:extLst>
          </p:cNvPr>
          <p:cNvSpPr>
            <a:spLocks noGrp="1"/>
          </p:cNvSpPr>
          <p:nvPr>
            <p:ph type="title"/>
          </p:nvPr>
        </p:nvSpPr>
        <p:spPr/>
        <p:txBody>
          <a:bodyPr/>
          <a:lstStyle/>
          <a:p>
            <a:r>
              <a:rPr lang="fr-FR" dirty="0"/>
              <a:t>Contexte de travail : Expression du besoin</a:t>
            </a:r>
          </a:p>
        </p:txBody>
      </p:sp>
      <p:sp>
        <p:nvSpPr>
          <p:cNvPr id="3" name="Espace réservé du contenu 2">
            <a:extLst>
              <a:ext uri="{FF2B5EF4-FFF2-40B4-BE49-F238E27FC236}">
                <a16:creationId xmlns:a16="http://schemas.microsoft.com/office/drawing/2014/main" id="{082D81DC-578F-CD34-B44A-EFD6C8E81A0C}"/>
              </a:ext>
            </a:extLst>
          </p:cNvPr>
          <p:cNvSpPr>
            <a:spLocks noGrp="1"/>
          </p:cNvSpPr>
          <p:nvPr>
            <p:ph idx="1"/>
          </p:nvPr>
        </p:nvSpPr>
        <p:spPr/>
        <p:txBody>
          <a:bodyPr>
            <a:normAutofit fontScale="92500" lnSpcReduction="10000"/>
          </a:bodyPr>
          <a:lstStyle/>
          <a:p>
            <a:pPr algn="just"/>
            <a:r>
              <a:rPr lang="fr-FR" dirty="0"/>
              <a:t>PGI CUST : est un progiciel de gestion intégrée, pour la gestion des clients via intelligence artificielle et la validation de leads automatique.</a:t>
            </a:r>
          </a:p>
          <a:p>
            <a:pPr algn="just"/>
            <a:r>
              <a:rPr lang="fr-FR" dirty="0"/>
              <a:t>La société PGI LTD, vous demande de suivre les indications données sur sa maquette, afin de mettre en place leur applications d’inscription pour l’accès au téléchargement du logiciel, la formation et le support technique.</a:t>
            </a:r>
          </a:p>
          <a:p>
            <a:pPr algn="just"/>
            <a:r>
              <a:rPr lang="fr-FR" dirty="0"/>
              <a:t>La direction vous fait confiance et vous donne libre arbitre sur la charte graphique, à partir du moment où les codes couleurs sont respectés : bleu, jaune, dégradés, noir.</a:t>
            </a:r>
          </a:p>
          <a:p>
            <a:pPr algn="just"/>
            <a:r>
              <a:rPr lang="fr-FR" dirty="0"/>
              <a:t>NB : Il n’est pas nécessaire de reproduire à l’identique… (Faites de votre mieux)</a:t>
            </a:r>
          </a:p>
        </p:txBody>
      </p:sp>
      <p:sp>
        <p:nvSpPr>
          <p:cNvPr id="4" name="Espace réservé du pied de page 3">
            <a:extLst>
              <a:ext uri="{FF2B5EF4-FFF2-40B4-BE49-F238E27FC236}">
                <a16:creationId xmlns:a16="http://schemas.microsoft.com/office/drawing/2014/main" id="{F63B0677-B77E-4D71-D2F7-A574FB1F0552}"/>
              </a:ext>
            </a:extLst>
          </p:cNvPr>
          <p:cNvSpPr>
            <a:spLocks noGrp="1"/>
          </p:cNvSpPr>
          <p:nvPr>
            <p:ph type="ftr" sz="quarter" idx="11"/>
          </p:nvPr>
        </p:nvSpPr>
        <p:spPr/>
        <p:txBody>
          <a:bodyPr/>
          <a:lstStyle/>
          <a:p>
            <a:r>
              <a:rPr lang="fr-FR"/>
              <a:t>Evaluaiton avec un micro projet HTML-CSS</a:t>
            </a:r>
          </a:p>
        </p:txBody>
      </p:sp>
      <p:sp>
        <p:nvSpPr>
          <p:cNvPr id="5" name="Espace réservé du numéro de diapositive 4">
            <a:extLst>
              <a:ext uri="{FF2B5EF4-FFF2-40B4-BE49-F238E27FC236}">
                <a16:creationId xmlns:a16="http://schemas.microsoft.com/office/drawing/2014/main" id="{6C8B5814-1740-7B61-2AF8-DC59885FC05B}"/>
              </a:ext>
            </a:extLst>
          </p:cNvPr>
          <p:cNvSpPr>
            <a:spLocks noGrp="1"/>
          </p:cNvSpPr>
          <p:nvPr>
            <p:ph type="sldNum" sz="quarter" idx="12"/>
          </p:nvPr>
        </p:nvSpPr>
        <p:spPr/>
        <p:txBody>
          <a:bodyPr/>
          <a:lstStyle/>
          <a:p>
            <a:fld id="{61A50371-3F2D-4FEF-B603-773838516A24}" type="slidenum">
              <a:rPr lang="fr-FR" smtClean="0"/>
              <a:t>2</a:t>
            </a:fld>
            <a:endParaRPr lang="fr-FR"/>
          </a:p>
        </p:txBody>
      </p:sp>
    </p:spTree>
    <p:extLst>
      <p:ext uri="{BB962C8B-B14F-4D97-AF65-F5344CB8AC3E}">
        <p14:creationId xmlns:p14="http://schemas.microsoft.com/office/powerpoint/2010/main" val="2534709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AFB4CA-BF34-5D86-7894-AABFDC863489}"/>
              </a:ext>
            </a:extLst>
          </p:cNvPr>
          <p:cNvSpPr>
            <a:spLocks noGrp="1"/>
          </p:cNvSpPr>
          <p:nvPr>
            <p:ph type="title"/>
          </p:nvPr>
        </p:nvSpPr>
        <p:spPr/>
        <p:txBody>
          <a:bodyPr/>
          <a:lstStyle/>
          <a:p>
            <a:r>
              <a:rPr lang="fr-FR" dirty="0"/>
              <a:t>Quelques pistes pour votre CSS…</a:t>
            </a:r>
          </a:p>
        </p:txBody>
      </p:sp>
      <p:sp>
        <p:nvSpPr>
          <p:cNvPr id="3" name="Espace réservé du contenu 2">
            <a:extLst>
              <a:ext uri="{FF2B5EF4-FFF2-40B4-BE49-F238E27FC236}">
                <a16:creationId xmlns:a16="http://schemas.microsoft.com/office/drawing/2014/main" id="{392B9E8E-F5F8-865C-859F-94B22F36B830}"/>
              </a:ext>
            </a:extLst>
          </p:cNvPr>
          <p:cNvSpPr>
            <a:spLocks noGrp="1"/>
          </p:cNvSpPr>
          <p:nvPr>
            <p:ph idx="1"/>
          </p:nvPr>
        </p:nvSpPr>
        <p:spPr/>
        <p:txBody>
          <a:bodyPr/>
          <a:lstStyle/>
          <a:p>
            <a:r>
              <a:rPr lang="fr-FR" dirty="0" err="1"/>
              <a:t>Padding</a:t>
            </a:r>
            <a:r>
              <a:rPr lang="fr-FR" dirty="0"/>
              <a:t> = marge intérieure</a:t>
            </a:r>
          </a:p>
          <a:p>
            <a:r>
              <a:rPr lang="fr-FR" dirty="0" err="1"/>
              <a:t>Margin</a:t>
            </a:r>
            <a:r>
              <a:rPr lang="fr-FR" dirty="0"/>
              <a:t>: marge extérieure</a:t>
            </a:r>
          </a:p>
          <a:p>
            <a:r>
              <a:rPr lang="fr-FR" dirty="0"/>
              <a:t>Border-radius : bordure arrondie</a:t>
            </a:r>
          </a:p>
          <a:p>
            <a:r>
              <a:rPr lang="fr-FR" dirty="0"/>
              <a:t>Border : </a:t>
            </a:r>
            <a:r>
              <a:rPr lang="fr-FR" dirty="0" err="1"/>
              <a:t>solid</a:t>
            </a:r>
            <a:r>
              <a:rPr lang="fr-FR" dirty="0"/>
              <a:t>, black, 1px = Exemple d’une bordure visible, noir de 1 pixel</a:t>
            </a:r>
          </a:p>
          <a:p>
            <a:r>
              <a:rPr lang="fr-FR" dirty="0" err="1"/>
              <a:t>Margin</a:t>
            </a:r>
            <a:r>
              <a:rPr lang="fr-FR" dirty="0"/>
              <a:t>-top, </a:t>
            </a:r>
            <a:r>
              <a:rPr lang="fr-FR" dirty="0" err="1"/>
              <a:t>margin-left</a:t>
            </a:r>
            <a:r>
              <a:rPr lang="fr-FR" dirty="0"/>
              <a:t>, </a:t>
            </a:r>
            <a:r>
              <a:rPr lang="fr-FR" dirty="0" err="1"/>
              <a:t>margin</a:t>
            </a:r>
            <a:r>
              <a:rPr lang="fr-FR" dirty="0"/>
              <a:t>-right, </a:t>
            </a:r>
            <a:r>
              <a:rPr lang="fr-FR" dirty="0" err="1"/>
              <a:t>margin-bottom</a:t>
            </a:r>
            <a:r>
              <a:rPr lang="fr-FR" dirty="0"/>
              <a:t> : marge de haut, de gauche, de droite, du bas. PS : Idem pour </a:t>
            </a:r>
            <a:r>
              <a:rPr lang="fr-FR" dirty="0" err="1"/>
              <a:t>padding</a:t>
            </a:r>
            <a:r>
              <a:rPr lang="fr-FR" dirty="0"/>
              <a:t>.</a:t>
            </a:r>
          </a:p>
        </p:txBody>
      </p:sp>
      <p:sp>
        <p:nvSpPr>
          <p:cNvPr id="6" name="Espace réservé du pied de page 5">
            <a:extLst>
              <a:ext uri="{FF2B5EF4-FFF2-40B4-BE49-F238E27FC236}">
                <a16:creationId xmlns:a16="http://schemas.microsoft.com/office/drawing/2014/main" id="{9F9E9276-E2E3-E86F-BE98-2DDD58C03B34}"/>
              </a:ext>
            </a:extLst>
          </p:cNvPr>
          <p:cNvSpPr>
            <a:spLocks noGrp="1"/>
          </p:cNvSpPr>
          <p:nvPr>
            <p:ph type="ftr" sz="quarter" idx="11"/>
          </p:nvPr>
        </p:nvSpPr>
        <p:spPr/>
        <p:txBody>
          <a:bodyPr/>
          <a:lstStyle/>
          <a:p>
            <a:r>
              <a:rPr lang="fr-FR"/>
              <a:t>Evaluaiton avec un micro projet HTML-CSS</a:t>
            </a:r>
          </a:p>
        </p:txBody>
      </p:sp>
      <p:sp>
        <p:nvSpPr>
          <p:cNvPr id="7" name="Espace réservé du numéro de diapositive 6">
            <a:extLst>
              <a:ext uri="{FF2B5EF4-FFF2-40B4-BE49-F238E27FC236}">
                <a16:creationId xmlns:a16="http://schemas.microsoft.com/office/drawing/2014/main" id="{EA292CCC-75E1-3488-D160-68294A0CB17A}"/>
              </a:ext>
            </a:extLst>
          </p:cNvPr>
          <p:cNvSpPr>
            <a:spLocks noGrp="1"/>
          </p:cNvSpPr>
          <p:nvPr>
            <p:ph type="sldNum" sz="quarter" idx="12"/>
          </p:nvPr>
        </p:nvSpPr>
        <p:spPr/>
        <p:txBody>
          <a:bodyPr/>
          <a:lstStyle/>
          <a:p>
            <a:fld id="{61A50371-3F2D-4FEF-B603-773838516A24}" type="slidenum">
              <a:rPr lang="fr-FR" smtClean="0"/>
              <a:t>3</a:t>
            </a:fld>
            <a:endParaRPr lang="fr-FR"/>
          </a:p>
        </p:txBody>
      </p:sp>
    </p:spTree>
    <p:extLst>
      <p:ext uri="{BB962C8B-B14F-4D97-AF65-F5344CB8AC3E}">
        <p14:creationId xmlns:p14="http://schemas.microsoft.com/office/powerpoint/2010/main" val="3842737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3B7BCF-19C8-3D3D-3D3C-72D602DCD099}"/>
              </a:ext>
            </a:extLst>
          </p:cNvPr>
          <p:cNvSpPr>
            <a:spLocks noGrp="1"/>
          </p:cNvSpPr>
          <p:nvPr>
            <p:ph type="title"/>
          </p:nvPr>
        </p:nvSpPr>
        <p:spPr/>
        <p:txBody>
          <a:bodyPr/>
          <a:lstStyle/>
          <a:p>
            <a:r>
              <a:rPr lang="fr-FR" dirty="0"/>
              <a:t>Les pages :</a:t>
            </a:r>
          </a:p>
        </p:txBody>
      </p:sp>
      <p:sp>
        <p:nvSpPr>
          <p:cNvPr id="3" name="Espace réservé du contenu 2">
            <a:extLst>
              <a:ext uri="{FF2B5EF4-FFF2-40B4-BE49-F238E27FC236}">
                <a16:creationId xmlns:a16="http://schemas.microsoft.com/office/drawing/2014/main" id="{47D20FD4-E2EF-C20D-FBE1-F0D9F67B690C}"/>
              </a:ext>
            </a:extLst>
          </p:cNvPr>
          <p:cNvSpPr>
            <a:spLocks noGrp="1"/>
          </p:cNvSpPr>
          <p:nvPr>
            <p:ph idx="1"/>
          </p:nvPr>
        </p:nvSpPr>
        <p:spPr>
          <a:xfrm>
            <a:off x="838200" y="1825625"/>
            <a:ext cx="10515600" cy="3232150"/>
          </a:xfrm>
        </p:spPr>
        <p:txBody>
          <a:bodyPr/>
          <a:lstStyle/>
          <a:p>
            <a:r>
              <a:rPr lang="fr-FR" dirty="0"/>
              <a:t>P1 = page 1</a:t>
            </a:r>
          </a:p>
          <a:p>
            <a:r>
              <a:rPr lang="fr-FR" dirty="0"/>
              <a:t>P2 = Page 2</a:t>
            </a:r>
          </a:p>
          <a:p>
            <a:r>
              <a:rPr lang="fr-FR" dirty="0"/>
              <a:t>P3 = Page 3</a:t>
            </a:r>
          </a:p>
          <a:p>
            <a:r>
              <a:rPr lang="fr-FR" dirty="0"/>
              <a:t>P4 = Page 4</a:t>
            </a:r>
          </a:p>
          <a:p>
            <a:r>
              <a:rPr lang="fr-FR" dirty="0"/>
              <a:t>P5 = Page 5</a:t>
            </a:r>
          </a:p>
          <a:p>
            <a:r>
              <a:rPr lang="fr-FR" dirty="0"/>
              <a:t>P6 = Page 6</a:t>
            </a:r>
          </a:p>
          <a:p>
            <a:endParaRPr lang="fr-FR" dirty="0"/>
          </a:p>
        </p:txBody>
      </p:sp>
      <p:sp>
        <p:nvSpPr>
          <p:cNvPr id="4" name="Espace réservé du pied de page 3">
            <a:extLst>
              <a:ext uri="{FF2B5EF4-FFF2-40B4-BE49-F238E27FC236}">
                <a16:creationId xmlns:a16="http://schemas.microsoft.com/office/drawing/2014/main" id="{CCEE53AE-902D-CC6F-6CAB-6F28E8F9A6DE}"/>
              </a:ext>
            </a:extLst>
          </p:cNvPr>
          <p:cNvSpPr>
            <a:spLocks noGrp="1"/>
          </p:cNvSpPr>
          <p:nvPr>
            <p:ph type="ftr" sz="quarter" idx="11"/>
          </p:nvPr>
        </p:nvSpPr>
        <p:spPr/>
        <p:txBody>
          <a:bodyPr/>
          <a:lstStyle/>
          <a:p>
            <a:r>
              <a:rPr lang="fr-FR"/>
              <a:t>Evaluaiton avec un micro projet HTML-CSS</a:t>
            </a:r>
          </a:p>
        </p:txBody>
      </p:sp>
      <p:sp>
        <p:nvSpPr>
          <p:cNvPr id="5" name="Espace réservé du numéro de diapositive 4">
            <a:extLst>
              <a:ext uri="{FF2B5EF4-FFF2-40B4-BE49-F238E27FC236}">
                <a16:creationId xmlns:a16="http://schemas.microsoft.com/office/drawing/2014/main" id="{9515DF88-ECB6-4F78-6148-6878F8958FD4}"/>
              </a:ext>
            </a:extLst>
          </p:cNvPr>
          <p:cNvSpPr>
            <a:spLocks noGrp="1"/>
          </p:cNvSpPr>
          <p:nvPr>
            <p:ph type="sldNum" sz="quarter" idx="12"/>
          </p:nvPr>
        </p:nvSpPr>
        <p:spPr/>
        <p:txBody>
          <a:bodyPr/>
          <a:lstStyle/>
          <a:p>
            <a:fld id="{61A50371-3F2D-4FEF-B603-773838516A24}" type="slidenum">
              <a:rPr lang="fr-FR" smtClean="0"/>
              <a:t>4</a:t>
            </a:fld>
            <a:endParaRPr lang="fr-FR"/>
          </a:p>
        </p:txBody>
      </p:sp>
    </p:spTree>
    <p:extLst>
      <p:ext uri="{BB962C8B-B14F-4D97-AF65-F5344CB8AC3E}">
        <p14:creationId xmlns:p14="http://schemas.microsoft.com/office/powerpoint/2010/main" val="1724917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5226-F57F-93D7-5D9F-175BA5F149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D09F2D-1E07-8F22-2FB1-DF8315836FF1}"/>
              </a:ext>
            </a:extLst>
          </p:cNvPr>
          <p:cNvSpPr>
            <a:spLocks noGrp="1"/>
          </p:cNvSpPr>
          <p:nvPr>
            <p:ph type="title"/>
          </p:nvPr>
        </p:nvSpPr>
        <p:spPr/>
        <p:txBody>
          <a:bodyPr/>
          <a:lstStyle/>
          <a:p>
            <a:r>
              <a:rPr lang="fr-FR" dirty="0"/>
              <a:t>Processus fonctionnel du site web</a:t>
            </a:r>
          </a:p>
        </p:txBody>
      </p:sp>
      <p:sp>
        <p:nvSpPr>
          <p:cNvPr id="6" name="Rectangle : coins arrondis 5">
            <a:extLst>
              <a:ext uri="{FF2B5EF4-FFF2-40B4-BE49-F238E27FC236}">
                <a16:creationId xmlns:a16="http://schemas.microsoft.com/office/drawing/2014/main" id="{D77B6437-21EF-6C21-4493-07DF3F0B819C}"/>
              </a:ext>
            </a:extLst>
          </p:cNvPr>
          <p:cNvSpPr/>
          <p:nvPr/>
        </p:nvSpPr>
        <p:spPr>
          <a:xfrm>
            <a:off x="4791075" y="2238375"/>
            <a:ext cx="2381250" cy="5524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P1 :</a:t>
            </a:r>
          </a:p>
          <a:p>
            <a:pPr algn="ctr"/>
            <a:r>
              <a:rPr lang="fr-FR" sz="1200" dirty="0"/>
              <a:t>Un visiteur s’inscrit</a:t>
            </a:r>
          </a:p>
        </p:txBody>
      </p:sp>
      <p:sp>
        <p:nvSpPr>
          <p:cNvPr id="7" name="Rectangle : coins arrondis 6">
            <a:extLst>
              <a:ext uri="{FF2B5EF4-FFF2-40B4-BE49-F238E27FC236}">
                <a16:creationId xmlns:a16="http://schemas.microsoft.com/office/drawing/2014/main" id="{85D0B715-7FF1-A460-BAE6-48F8056CEBE8}"/>
              </a:ext>
            </a:extLst>
          </p:cNvPr>
          <p:cNvSpPr/>
          <p:nvPr/>
        </p:nvSpPr>
        <p:spPr>
          <a:xfrm>
            <a:off x="4791075" y="2933700"/>
            <a:ext cx="2381250" cy="5524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P2 :</a:t>
            </a:r>
          </a:p>
          <a:p>
            <a:pPr algn="ctr"/>
            <a:r>
              <a:rPr lang="fr-FR" sz="1200" dirty="0"/>
              <a:t>Il arrive sur la page 2 pour lire le contenu après son inscription</a:t>
            </a:r>
          </a:p>
        </p:txBody>
      </p:sp>
      <p:sp>
        <p:nvSpPr>
          <p:cNvPr id="8" name="Rectangle : coins arrondis 7">
            <a:extLst>
              <a:ext uri="{FF2B5EF4-FFF2-40B4-BE49-F238E27FC236}">
                <a16:creationId xmlns:a16="http://schemas.microsoft.com/office/drawing/2014/main" id="{6E3E12AF-7626-40E7-FB2D-1A22416E96BC}"/>
              </a:ext>
            </a:extLst>
          </p:cNvPr>
          <p:cNvSpPr/>
          <p:nvPr/>
        </p:nvSpPr>
        <p:spPr>
          <a:xfrm>
            <a:off x="4791075" y="3629025"/>
            <a:ext cx="2381250" cy="5524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P3:</a:t>
            </a:r>
          </a:p>
          <a:p>
            <a:pPr algn="ctr"/>
            <a:r>
              <a:rPr lang="fr-FR" sz="1200" dirty="0"/>
              <a:t>Il peut se connecter s’il s’est inscrit …</a:t>
            </a:r>
          </a:p>
        </p:txBody>
      </p:sp>
      <p:sp>
        <p:nvSpPr>
          <p:cNvPr id="9" name="Rectangle : coins arrondis 8">
            <a:extLst>
              <a:ext uri="{FF2B5EF4-FFF2-40B4-BE49-F238E27FC236}">
                <a16:creationId xmlns:a16="http://schemas.microsoft.com/office/drawing/2014/main" id="{7C459991-8133-980A-B28B-6045B1AEDA20}"/>
              </a:ext>
            </a:extLst>
          </p:cNvPr>
          <p:cNvSpPr/>
          <p:nvPr/>
        </p:nvSpPr>
        <p:spPr>
          <a:xfrm>
            <a:off x="2228850" y="4343401"/>
            <a:ext cx="2381250" cy="5524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P4 :</a:t>
            </a:r>
          </a:p>
          <a:p>
            <a:pPr algn="ctr"/>
            <a:r>
              <a:rPr lang="fr-FR" sz="1200" dirty="0"/>
              <a:t>Lorsqu’il se connecte il doit sélectionner sa région…</a:t>
            </a:r>
          </a:p>
        </p:txBody>
      </p:sp>
      <p:sp>
        <p:nvSpPr>
          <p:cNvPr id="10" name="Rectangle : coins arrondis 9">
            <a:extLst>
              <a:ext uri="{FF2B5EF4-FFF2-40B4-BE49-F238E27FC236}">
                <a16:creationId xmlns:a16="http://schemas.microsoft.com/office/drawing/2014/main" id="{3D671890-D2FB-20D3-C954-F8BB5D1E6FB6}"/>
              </a:ext>
            </a:extLst>
          </p:cNvPr>
          <p:cNvSpPr/>
          <p:nvPr/>
        </p:nvSpPr>
        <p:spPr>
          <a:xfrm>
            <a:off x="4791075" y="4343401"/>
            <a:ext cx="2381250" cy="5524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P5 :</a:t>
            </a:r>
          </a:p>
          <a:p>
            <a:pPr algn="ctr"/>
            <a:r>
              <a:rPr lang="fr-FR" sz="1200" dirty="0"/>
              <a:t>Après sa connexion, il a droit à un questionnaire…</a:t>
            </a:r>
          </a:p>
        </p:txBody>
      </p:sp>
      <p:sp>
        <p:nvSpPr>
          <p:cNvPr id="11" name="Rectangle : coins arrondis 10">
            <a:extLst>
              <a:ext uri="{FF2B5EF4-FFF2-40B4-BE49-F238E27FC236}">
                <a16:creationId xmlns:a16="http://schemas.microsoft.com/office/drawing/2014/main" id="{B497C2A8-2E44-A6AE-E754-43BF019ADDC4}"/>
              </a:ext>
            </a:extLst>
          </p:cNvPr>
          <p:cNvSpPr/>
          <p:nvPr/>
        </p:nvSpPr>
        <p:spPr>
          <a:xfrm>
            <a:off x="7353300" y="4343401"/>
            <a:ext cx="2381250" cy="5524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P6 :</a:t>
            </a:r>
          </a:p>
          <a:p>
            <a:pPr algn="ctr"/>
            <a:r>
              <a:rPr lang="fr-FR" sz="1200" dirty="0"/>
              <a:t>Et enfin, il peut accéder aux cours sur le logiciel…</a:t>
            </a:r>
          </a:p>
        </p:txBody>
      </p:sp>
      <p:cxnSp>
        <p:nvCxnSpPr>
          <p:cNvPr id="13" name="Connecteur : en angle 12">
            <a:extLst>
              <a:ext uri="{FF2B5EF4-FFF2-40B4-BE49-F238E27FC236}">
                <a16:creationId xmlns:a16="http://schemas.microsoft.com/office/drawing/2014/main" id="{F0EF9CBD-6BB9-9071-63DA-AF6FC37307EA}"/>
              </a:ext>
            </a:extLst>
          </p:cNvPr>
          <p:cNvCxnSpPr>
            <a:cxnSpLocks/>
            <a:stCxn id="6" idx="3"/>
            <a:endCxn id="7" idx="3"/>
          </p:cNvCxnSpPr>
          <p:nvPr/>
        </p:nvCxnSpPr>
        <p:spPr>
          <a:xfrm>
            <a:off x="7172325" y="2514600"/>
            <a:ext cx="12700" cy="695325"/>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 en angle 15">
            <a:extLst>
              <a:ext uri="{FF2B5EF4-FFF2-40B4-BE49-F238E27FC236}">
                <a16:creationId xmlns:a16="http://schemas.microsoft.com/office/drawing/2014/main" id="{14C71D1B-6BCB-622C-120F-E3B3732D1FC7}"/>
              </a:ext>
            </a:extLst>
          </p:cNvPr>
          <p:cNvCxnSpPr>
            <a:stCxn id="7" idx="1"/>
            <a:endCxn id="8" idx="1"/>
          </p:cNvCxnSpPr>
          <p:nvPr/>
        </p:nvCxnSpPr>
        <p:spPr>
          <a:xfrm rot="10800000" flipV="1">
            <a:off x="4791075" y="3209924"/>
            <a:ext cx="12700" cy="695325"/>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 en angle 17">
            <a:extLst>
              <a:ext uri="{FF2B5EF4-FFF2-40B4-BE49-F238E27FC236}">
                <a16:creationId xmlns:a16="http://schemas.microsoft.com/office/drawing/2014/main" id="{6A95A8DD-55B0-50AD-1255-713821ACADF5}"/>
              </a:ext>
            </a:extLst>
          </p:cNvPr>
          <p:cNvCxnSpPr>
            <a:stCxn id="8" idx="3"/>
            <a:endCxn id="10" idx="0"/>
          </p:cNvCxnSpPr>
          <p:nvPr/>
        </p:nvCxnSpPr>
        <p:spPr>
          <a:xfrm flipH="1">
            <a:off x="5981700" y="3905250"/>
            <a:ext cx="1190625" cy="438151"/>
          </a:xfrm>
          <a:prstGeom prst="bentConnector4">
            <a:avLst>
              <a:gd name="adj1" fmla="val -19200"/>
              <a:gd name="adj2" fmla="val 8152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eur : en angle 19">
            <a:extLst>
              <a:ext uri="{FF2B5EF4-FFF2-40B4-BE49-F238E27FC236}">
                <a16:creationId xmlns:a16="http://schemas.microsoft.com/office/drawing/2014/main" id="{E78ADEBE-BF51-123F-4066-B057946F2D1F}"/>
              </a:ext>
            </a:extLst>
          </p:cNvPr>
          <p:cNvCxnSpPr>
            <a:stCxn id="10" idx="2"/>
            <a:endCxn id="9" idx="2"/>
          </p:cNvCxnSpPr>
          <p:nvPr/>
        </p:nvCxnSpPr>
        <p:spPr>
          <a:xfrm rot="5400000">
            <a:off x="4700588" y="3614739"/>
            <a:ext cx="12700" cy="2562225"/>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necteur : en angle 21">
            <a:extLst>
              <a:ext uri="{FF2B5EF4-FFF2-40B4-BE49-F238E27FC236}">
                <a16:creationId xmlns:a16="http://schemas.microsoft.com/office/drawing/2014/main" id="{1CD119D2-6D2E-AF06-0475-C8FD5A4DE5A6}"/>
              </a:ext>
            </a:extLst>
          </p:cNvPr>
          <p:cNvCxnSpPr>
            <a:stCxn id="10" idx="2"/>
            <a:endCxn id="11" idx="2"/>
          </p:cNvCxnSpPr>
          <p:nvPr/>
        </p:nvCxnSpPr>
        <p:spPr>
          <a:xfrm rot="16200000" flipH="1">
            <a:off x="7262812" y="3614738"/>
            <a:ext cx="12700" cy="2562225"/>
          </a:xfrm>
          <a:prstGeom prst="bentConnector3">
            <a:avLst>
              <a:gd name="adj1" fmla="val 180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ZoneTexte 22">
            <a:extLst>
              <a:ext uri="{FF2B5EF4-FFF2-40B4-BE49-F238E27FC236}">
                <a16:creationId xmlns:a16="http://schemas.microsoft.com/office/drawing/2014/main" id="{7580C3D8-6268-1837-E2D5-1946BC34D5F5}"/>
              </a:ext>
            </a:extLst>
          </p:cNvPr>
          <p:cNvSpPr txBox="1"/>
          <p:nvPr/>
        </p:nvSpPr>
        <p:spPr>
          <a:xfrm>
            <a:off x="977901" y="1733371"/>
            <a:ext cx="2622549" cy="1477328"/>
          </a:xfrm>
          <a:prstGeom prst="rect">
            <a:avLst/>
          </a:prstGeom>
          <a:noFill/>
        </p:spPr>
        <p:txBody>
          <a:bodyPr wrap="square" rtlCol="0">
            <a:spAutoFit/>
          </a:bodyPr>
          <a:lstStyle/>
          <a:p>
            <a:pPr algn="just"/>
            <a:r>
              <a:rPr lang="fr-FR" dirty="0"/>
              <a:t>Le déroulement lorsqu’une personne s’inscrit sur le site web est simple et est décrit sommairement ici.</a:t>
            </a:r>
          </a:p>
        </p:txBody>
      </p:sp>
      <p:sp>
        <p:nvSpPr>
          <p:cNvPr id="25" name="Espace réservé du pied de page 24">
            <a:extLst>
              <a:ext uri="{FF2B5EF4-FFF2-40B4-BE49-F238E27FC236}">
                <a16:creationId xmlns:a16="http://schemas.microsoft.com/office/drawing/2014/main" id="{0AD4F890-5307-753D-57A3-4699010074E6}"/>
              </a:ext>
            </a:extLst>
          </p:cNvPr>
          <p:cNvSpPr>
            <a:spLocks noGrp="1"/>
          </p:cNvSpPr>
          <p:nvPr>
            <p:ph type="ftr" sz="quarter" idx="11"/>
          </p:nvPr>
        </p:nvSpPr>
        <p:spPr/>
        <p:txBody>
          <a:bodyPr/>
          <a:lstStyle/>
          <a:p>
            <a:r>
              <a:rPr lang="fr-FR"/>
              <a:t>Evaluaiton avec un micro projet HTML-CSS</a:t>
            </a:r>
          </a:p>
        </p:txBody>
      </p:sp>
      <p:sp>
        <p:nvSpPr>
          <p:cNvPr id="26" name="Espace réservé du numéro de diapositive 25">
            <a:extLst>
              <a:ext uri="{FF2B5EF4-FFF2-40B4-BE49-F238E27FC236}">
                <a16:creationId xmlns:a16="http://schemas.microsoft.com/office/drawing/2014/main" id="{72E2DB76-230E-763C-9CA2-893DB8F7C028}"/>
              </a:ext>
            </a:extLst>
          </p:cNvPr>
          <p:cNvSpPr>
            <a:spLocks noGrp="1"/>
          </p:cNvSpPr>
          <p:nvPr>
            <p:ph type="sldNum" sz="quarter" idx="12"/>
          </p:nvPr>
        </p:nvSpPr>
        <p:spPr/>
        <p:txBody>
          <a:bodyPr/>
          <a:lstStyle/>
          <a:p>
            <a:fld id="{61A50371-3F2D-4FEF-B603-773838516A24}" type="slidenum">
              <a:rPr lang="fr-FR" smtClean="0"/>
              <a:t>5</a:t>
            </a:fld>
            <a:endParaRPr lang="fr-FR"/>
          </a:p>
        </p:txBody>
      </p:sp>
    </p:spTree>
    <p:extLst>
      <p:ext uri="{BB962C8B-B14F-4D97-AF65-F5344CB8AC3E}">
        <p14:creationId xmlns:p14="http://schemas.microsoft.com/office/powerpoint/2010/main" val="1289439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F1C255-67F7-774E-B839-487DDBB7F1AA}"/>
              </a:ext>
            </a:extLst>
          </p:cNvPr>
          <p:cNvSpPr>
            <a:spLocks noGrp="1"/>
          </p:cNvSpPr>
          <p:nvPr>
            <p:ph type="title"/>
          </p:nvPr>
        </p:nvSpPr>
        <p:spPr/>
        <p:txBody>
          <a:bodyPr/>
          <a:lstStyle/>
          <a:p>
            <a:r>
              <a:rPr lang="fr-FR" dirty="0"/>
              <a:t>Organisation et objectifs :</a:t>
            </a:r>
          </a:p>
        </p:txBody>
      </p:sp>
      <p:sp>
        <p:nvSpPr>
          <p:cNvPr id="24" name="ZoneTexte 23">
            <a:extLst>
              <a:ext uri="{FF2B5EF4-FFF2-40B4-BE49-F238E27FC236}">
                <a16:creationId xmlns:a16="http://schemas.microsoft.com/office/drawing/2014/main" id="{51BDC7F2-7AB9-4A41-AC55-F77E1F859202}"/>
              </a:ext>
            </a:extLst>
          </p:cNvPr>
          <p:cNvSpPr txBox="1"/>
          <p:nvPr/>
        </p:nvSpPr>
        <p:spPr>
          <a:xfrm>
            <a:off x="8016876" y="1864042"/>
            <a:ext cx="3336924" cy="2308324"/>
          </a:xfrm>
          <a:prstGeom prst="rect">
            <a:avLst/>
          </a:prstGeom>
          <a:solidFill>
            <a:srgbClr val="FF0000"/>
          </a:solidFill>
        </p:spPr>
        <p:txBody>
          <a:bodyPr wrap="square" rtlCol="0">
            <a:spAutoFit/>
          </a:bodyPr>
          <a:lstStyle/>
          <a:p>
            <a:pPr algn="just"/>
            <a:r>
              <a:rPr lang="fr-FR" b="1" dirty="0">
                <a:solidFill>
                  <a:schemeClr val="bg1"/>
                </a:solidFill>
              </a:rPr>
              <a:t>Niveau 3 : du développeur (facultatif). </a:t>
            </a:r>
            <a:r>
              <a:rPr lang="fr-FR" dirty="0">
                <a:solidFill>
                  <a:schemeClr val="bg1"/>
                </a:solidFill>
              </a:rPr>
              <a:t>Vous avez à peu près compris comment créer une base de données, les 2 commandes SQL  Select et INSERT, utilisez cela pour stocker les données de l’utilisateur.</a:t>
            </a:r>
          </a:p>
        </p:txBody>
      </p:sp>
      <p:sp>
        <p:nvSpPr>
          <p:cNvPr id="4" name="ZoneTexte 3">
            <a:extLst>
              <a:ext uri="{FF2B5EF4-FFF2-40B4-BE49-F238E27FC236}">
                <a16:creationId xmlns:a16="http://schemas.microsoft.com/office/drawing/2014/main" id="{FC107FC1-68FD-2354-7179-10DF94FC21E8}"/>
              </a:ext>
            </a:extLst>
          </p:cNvPr>
          <p:cNvSpPr txBox="1"/>
          <p:nvPr/>
        </p:nvSpPr>
        <p:spPr>
          <a:xfrm>
            <a:off x="4198938" y="1864042"/>
            <a:ext cx="3638550" cy="2308324"/>
          </a:xfrm>
          <a:prstGeom prst="rect">
            <a:avLst/>
          </a:prstGeom>
          <a:solidFill>
            <a:srgbClr val="FAD672"/>
          </a:solidFill>
        </p:spPr>
        <p:txBody>
          <a:bodyPr wrap="square" rtlCol="0">
            <a:spAutoFit/>
          </a:bodyPr>
          <a:lstStyle/>
          <a:p>
            <a:pPr algn="just"/>
            <a:r>
              <a:rPr lang="fr-FR" b="1" dirty="0"/>
              <a:t>Niveau 2 du développeur (facultatif).</a:t>
            </a:r>
          </a:p>
          <a:p>
            <a:pPr algn="just"/>
            <a:r>
              <a:rPr lang="fr-FR" dirty="0"/>
              <a:t>Vous avez compris les choses simples du langage </a:t>
            </a:r>
            <a:r>
              <a:rPr lang="fr-FR" dirty="0" err="1"/>
              <a:t>php</a:t>
            </a:r>
            <a:r>
              <a:rPr lang="fr-FR" dirty="0"/>
              <a:t> en ce qui concerne les formulaires et leur validation. Utilisez cela pour basculer d’un formulaire à un autre ou d’une page à une autre. </a:t>
            </a:r>
          </a:p>
        </p:txBody>
      </p:sp>
      <p:sp>
        <p:nvSpPr>
          <p:cNvPr id="5" name="ZoneTexte 4">
            <a:extLst>
              <a:ext uri="{FF2B5EF4-FFF2-40B4-BE49-F238E27FC236}">
                <a16:creationId xmlns:a16="http://schemas.microsoft.com/office/drawing/2014/main" id="{B4ADC72F-12ED-B659-15FB-B1BCC9493F6A}"/>
              </a:ext>
            </a:extLst>
          </p:cNvPr>
          <p:cNvSpPr txBox="1"/>
          <p:nvPr/>
        </p:nvSpPr>
        <p:spPr>
          <a:xfrm>
            <a:off x="720726" y="1864042"/>
            <a:ext cx="3298824" cy="2308324"/>
          </a:xfrm>
          <a:prstGeom prst="rect">
            <a:avLst/>
          </a:prstGeom>
          <a:solidFill>
            <a:schemeClr val="accent6">
              <a:lumMod val="20000"/>
              <a:lumOff val="80000"/>
            </a:schemeClr>
          </a:solidFill>
        </p:spPr>
        <p:txBody>
          <a:bodyPr wrap="square" rtlCol="0">
            <a:spAutoFit/>
          </a:bodyPr>
          <a:lstStyle/>
          <a:p>
            <a:pPr algn="just"/>
            <a:r>
              <a:rPr lang="fr-FR" b="1" dirty="0"/>
              <a:t>Niveau 1 du développeur :</a:t>
            </a:r>
          </a:p>
          <a:p>
            <a:pPr algn="just"/>
            <a:r>
              <a:rPr lang="fr-FR" dirty="0"/>
              <a:t>Vous avez à peu prés compris à peu près les langages HTML-CSS, faites de votre mieux pour respecter ce processus, utilisez des astuces simples pour passer d’une page à une autre.</a:t>
            </a:r>
          </a:p>
          <a:p>
            <a:pPr algn="just"/>
            <a:endParaRPr lang="fr-FR" dirty="0"/>
          </a:p>
        </p:txBody>
      </p:sp>
      <p:sp>
        <p:nvSpPr>
          <p:cNvPr id="7" name="Espace réservé du pied de page 6">
            <a:extLst>
              <a:ext uri="{FF2B5EF4-FFF2-40B4-BE49-F238E27FC236}">
                <a16:creationId xmlns:a16="http://schemas.microsoft.com/office/drawing/2014/main" id="{91DFF176-B8C0-B49D-B10B-418FED50305D}"/>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29BE6BFA-3EA4-B2E8-0749-4699A50174B9}"/>
              </a:ext>
            </a:extLst>
          </p:cNvPr>
          <p:cNvSpPr>
            <a:spLocks noGrp="1"/>
          </p:cNvSpPr>
          <p:nvPr>
            <p:ph type="sldNum" sz="quarter" idx="12"/>
          </p:nvPr>
        </p:nvSpPr>
        <p:spPr/>
        <p:txBody>
          <a:bodyPr/>
          <a:lstStyle/>
          <a:p>
            <a:fld id="{61A50371-3F2D-4FEF-B603-773838516A24}" type="slidenum">
              <a:rPr lang="fr-FR" smtClean="0"/>
              <a:t>6</a:t>
            </a:fld>
            <a:endParaRPr lang="fr-FR"/>
          </a:p>
        </p:txBody>
      </p:sp>
    </p:spTree>
    <p:extLst>
      <p:ext uri="{BB962C8B-B14F-4D97-AF65-F5344CB8AC3E}">
        <p14:creationId xmlns:p14="http://schemas.microsoft.com/office/powerpoint/2010/main" val="2418903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68AD-D63A-1D0F-53BB-214BA130722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39C5217-6988-9B66-E69F-0066E49D47F7}"/>
              </a:ext>
            </a:extLst>
          </p:cNvPr>
          <p:cNvSpPr/>
          <p:nvPr/>
        </p:nvSpPr>
        <p:spPr>
          <a:xfrm>
            <a:off x="0" y="0"/>
            <a:ext cx="12192000" cy="6858000"/>
          </a:xfrm>
          <a:prstGeom prst="rect">
            <a:avLst/>
          </a:prstGeom>
          <a:gradFill>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3" name="Graphique 2">
            <a:extLst>
              <a:ext uri="{FF2B5EF4-FFF2-40B4-BE49-F238E27FC236}">
                <a16:creationId xmlns:a16="http://schemas.microsoft.com/office/drawing/2014/main" id="{C9C3B89C-F7F2-5EA8-A8D4-2C4F9F3B25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4071" y="0"/>
            <a:ext cx="10903857" cy="6858000"/>
          </a:xfrm>
          <a:prstGeom prst="rect">
            <a:avLst/>
          </a:prstGeom>
        </p:spPr>
      </p:pic>
      <p:sp>
        <p:nvSpPr>
          <p:cNvPr id="27" name="Rectangle : coins arrondis 26">
            <a:extLst>
              <a:ext uri="{FF2B5EF4-FFF2-40B4-BE49-F238E27FC236}">
                <a16:creationId xmlns:a16="http://schemas.microsoft.com/office/drawing/2014/main" id="{0196F375-CFC4-71B7-B780-CD1A7F6EBB52}"/>
              </a:ext>
            </a:extLst>
          </p:cNvPr>
          <p:cNvSpPr/>
          <p:nvPr/>
        </p:nvSpPr>
        <p:spPr>
          <a:xfrm>
            <a:off x="7612380" y="355602"/>
            <a:ext cx="3771900" cy="59340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Rectangle 27">
            <a:extLst>
              <a:ext uri="{FF2B5EF4-FFF2-40B4-BE49-F238E27FC236}">
                <a16:creationId xmlns:a16="http://schemas.microsoft.com/office/drawing/2014/main" id="{A99ED839-CF91-60F8-7AE3-E334B1BDD45D}"/>
              </a:ext>
            </a:extLst>
          </p:cNvPr>
          <p:cNvSpPr/>
          <p:nvPr/>
        </p:nvSpPr>
        <p:spPr>
          <a:xfrm>
            <a:off x="7808595" y="104711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Work Email</a:t>
            </a:r>
          </a:p>
        </p:txBody>
      </p:sp>
      <p:sp>
        <p:nvSpPr>
          <p:cNvPr id="29" name="Rectangle 28">
            <a:extLst>
              <a:ext uri="{FF2B5EF4-FFF2-40B4-BE49-F238E27FC236}">
                <a16:creationId xmlns:a16="http://schemas.microsoft.com/office/drawing/2014/main" id="{354B8E03-AC70-07DC-2702-9184E5721B3A}"/>
              </a:ext>
            </a:extLst>
          </p:cNvPr>
          <p:cNvSpPr/>
          <p:nvPr/>
        </p:nvSpPr>
        <p:spPr>
          <a:xfrm>
            <a:off x="7808594" y="150431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30" name="Rectangle 29">
            <a:extLst>
              <a:ext uri="{FF2B5EF4-FFF2-40B4-BE49-F238E27FC236}">
                <a16:creationId xmlns:a16="http://schemas.microsoft.com/office/drawing/2014/main" id="{AF252D2D-6455-294A-B2A4-4604BCCFA9CF}"/>
              </a:ext>
            </a:extLst>
          </p:cNvPr>
          <p:cNvSpPr/>
          <p:nvPr/>
        </p:nvSpPr>
        <p:spPr>
          <a:xfrm>
            <a:off x="7808595" y="203771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First Name</a:t>
            </a:r>
          </a:p>
        </p:txBody>
      </p:sp>
      <p:sp>
        <p:nvSpPr>
          <p:cNvPr id="31" name="Rectangle 30">
            <a:extLst>
              <a:ext uri="{FF2B5EF4-FFF2-40B4-BE49-F238E27FC236}">
                <a16:creationId xmlns:a16="http://schemas.microsoft.com/office/drawing/2014/main" id="{067C627D-1CDD-089E-59BC-97895FF4A333}"/>
              </a:ext>
            </a:extLst>
          </p:cNvPr>
          <p:cNvSpPr/>
          <p:nvPr/>
        </p:nvSpPr>
        <p:spPr>
          <a:xfrm>
            <a:off x="9402898" y="203771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Last Name</a:t>
            </a:r>
          </a:p>
        </p:txBody>
      </p:sp>
      <p:sp>
        <p:nvSpPr>
          <p:cNvPr id="32" name="Rectangle 31">
            <a:extLst>
              <a:ext uri="{FF2B5EF4-FFF2-40B4-BE49-F238E27FC236}">
                <a16:creationId xmlns:a16="http://schemas.microsoft.com/office/drawing/2014/main" id="{874BD562-AFE2-1AEC-41FD-F80D0EF41453}"/>
              </a:ext>
            </a:extLst>
          </p:cNvPr>
          <p:cNvSpPr/>
          <p:nvPr/>
        </p:nvSpPr>
        <p:spPr>
          <a:xfrm>
            <a:off x="7808595" y="255206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Organizations</a:t>
            </a:r>
          </a:p>
        </p:txBody>
      </p:sp>
      <p:sp>
        <p:nvSpPr>
          <p:cNvPr id="33" name="Rectangle 32">
            <a:extLst>
              <a:ext uri="{FF2B5EF4-FFF2-40B4-BE49-F238E27FC236}">
                <a16:creationId xmlns:a16="http://schemas.microsoft.com/office/drawing/2014/main" id="{0990A157-BCF9-D8CF-25B8-940E974A4B84}"/>
              </a:ext>
            </a:extLst>
          </p:cNvPr>
          <p:cNvSpPr/>
          <p:nvPr/>
        </p:nvSpPr>
        <p:spPr>
          <a:xfrm>
            <a:off x="7768681" y="306641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Country</a:t>
            </a:r>
          </a:p>
        </p:txBody>
      </p:sp>
      <p:sp>
        <p:nvSpPr>
          <p:cNvPr id="34" name="Rectangle 33">
            <a:extLst>
              <a:ext uri="{FF2B5EF4-FFF2-40B4-BE49-F238E27FC236}">
                <a16:creationId xmlns:a16="http://schemas.microsoft.com/office/drawing/2014/main" id="{3B7025EE-2F91-AA39-4B6C-F59AA6EBF21A}"/>
              </a:ext>
            </a:extLst>
          </p:cNvPr>
          <p:cNvSpPr/>
          <p:nvPr/>
        </p:nvSpPr>
        <p:spPr>
          <a:xfrm>
            <a:off x="7768680" y="3628391"/>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err="1">
                <a:solidFill>
                  <a:schemeClr val="bg2">
                    <a:lumMod val="50000"/>
                  </a:schemeClr>
                </a:solidFill>
              </a:rPr>
              <a:t>Region</a:t>
            </a:r>
            <a:endParaRPr lang="fr-FR" sz="1100" dirty="0">
              <a:solidFill>
                <a:schemeClr val="bg2">
                  <a:lumMod val="50000"/>
                </a:schemeClr>
              </a:solidFill>
            </a:endParaRPr>
          </a:p>
        </p:txBody>
      </p:sp>
      <p:sp>
        <p:nvSpPr>
          <p:cNvPr id="35" name="Triangle isocèle 34">
            <a:extLst>
              <a:ext uri="{FF2B5EF4-FFF2-40B4-BE49-F238E27FC236}">
                <a16:creationId xmlns:a16="http://schemas.microsoft.com/office/drawing/2014/main" id="{84252D08-5119-A772-3B0F-4D7909166FBF}"/>
              </a:ext>
            </a:extLst>
          </p:cNvPr>
          <p:cNvSpPr/>
          <p:nvPr/>
        </p:nvSpPr>
        <p:spPr>
          <a:xfrm rot="10800000">
            <a:off x="10576378" y="3743641"/>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36" name="Triangle isocèle 35">
            <a:extLst>
              <a:ext uri="{FF2B5EF4-FFF2-40B4-BE49-F238E27FC236}">
                <a16:creationId xmlns:a16="http://schemas.microsoft.com/office/drawing/2014/main" id="{C13E64FF-A6B0-FF03-9287-54121B01C2B0}"/>
              </a:ext>
            </a:extLst>
          </p:cNvPr>
          <p:cNvSpPr/>
          <p:nvPr/>
        </p:nvSpPr>
        <p:spPr>
          <a:xfrm rot="10800000">
            <a:off x="10553336" y="3162619"/>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BFDB81F0-91AE-DA36-4346-FAB9429D48E5}"/>
              </a:ext>
            </a:extLst>
          </p:cNvPr>
          <p:cNvSpPr/>
          <p:nvPr/>
        </p:nvSpPr>
        <p:spPr>
          <a:xfrm>
            <a:off x="7768679" y="412464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Phone </a:t>
            </a:r>
            <a:r>
              <a:rPr lang="fr-FR" sz="1100" dirty="0" err="1">
                <a:solidFill>
                  <a:schemeClr val="bg2">
                    <a:lumMod val="50000"/>
                  </a:schemeClr>
                </a:solidFill>
              </a:rPr>
              <a:t>Number</a:t>
            </a:r>
            <a:endParaRPr lang="fr-FR" sz="1100" dirty="0">
              <a:solidFill>
                <a:schemeClr val="bg2">
                  <a:lumMod val="50000"/>
                </a:schemeClr>
              </a:solidFill>
            </a:endParaRPr>
          </a:p>
        </p:txBody>
      </p:sp>
      <p:sp>
        <p:nvSpPr>
          <p:cNvPr id="38" name="Rectangle 37">
            <a:extLst>
              <a:ext uri="{FF2B5EF4-FFF2-40B4-BE49-F238E27FC236}">
                <a16:creationId xmlns:a16="http://schemas.microsoft.com/office/drawing/2014/main" id="{774CB323-8A97-1EFE-3418-86518BB790F2}"/>
              </a:ext>
            </a:extLst>
          </p:cNvPr>
          <p:cNvSpPr/>
          <p:nvPr/>
        </p:nvSpPr>
        <p:spPr>
          <a:xfrm>
            <a:off x="7768679" y="4620903"/>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39" name="Rectangle 38">
            <a:extLst>
              <a:ext uri="{FF2B5EF4-FFF2-40B4-BE49-F238E27FC236}">
                <a16:creationId xmlns:a16="http://schemas.microsoft.com/office/drawing/2014/main" id="{675EA4D2-0994-3FC9-4426-279663920D5F}"/>
              </a:ext>
            </a:extLst>
          </p:cNvPr>
          <p:cNvSpPr/>
          <p:nvPr/>
        </p:nvSpPr>
        <p:spPr>
          <a:xfrm>
            <a:off x="7768679" y="5064766"/>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40" name="ZoneTexte 39">
            <a:extLst>
              <a:ext uri="{FF2B5EF4-FFF2-40B4-BE49-F238E27FC236}">
                <a16:creationId xmlns:a16="http://schemas.microsoft.com/office/drawing/2014/main" id="{EA703CF4-2F6F-4345-BB5D-25C118930033}"/>
              </a:ext>
            </a:extLst>
          </p:cNvPr>
          <p:cNvSpPr txBox="1"/>
          <p:nvPr/>
        </p:nvSpPr>
        <p:spPr>
          <a:xfrm>
            <a:off x="7995918" y="4586252"/>
            <a:ext cx="3162300" cy="369332"/>
          </a:xfrm>
          <a:prstGeom prst="rect">
            <a:avLst/>
          </a:prstGeom>
          <a:noFill/>
        </p:spPr>
        <p:txBody>
          <a:bodyPr wrap="square" rtlCol="0">
            <a:spAutoFit/>
          </a:bodyPr>
          <a:lstStyle/>
          <a:p>
            <a:r>
              <a:rPr lang="fr-FR" sz="900" i="1" dirty="0">
                <a:solidFill>
                  <a:schemeClr val="tx1">
                    <a:lumMod val="95000"/>
                    <a:lumOff val="5000"/>
                  </a:schemeClr>
                </a:solidFill>
              </a:rPr>
              <a:t>By </a:t>
            </a:r>
            <a:r>
              <a:rPr lang="fr-FR" sz="900" i="1" dirty="0" err="1">
                <a:solidFill>
                  <a:schemeClr val="tx1">
                    <a:lumMod val="95000"/>
                    <a:lumOff val="5000"/>
                  </a:schemeClr>
                </a:solidFill>
              </a:rPr>
              <a:t>clicking</a:t>
            </a:r>
            <a:r>
              <a:rPr lang="fr-FR" sz="900" i="1" dirty="0">
                <a:solidFill>
                  <a:schemeClr val="tx1">
                    <a:lumMod val="95000"/>
                    <a:lumOff val="5000"/>
                  </a:schemeClr>
                </a:solidFill>
              </a:rPr>
              <a:t> </a:t>
            </a:r>
            <a:r>
              <a:rPr lang="fr-FR" sz="900" i="1" dirty="0" err="1">
                <a:solidFill>
                  <a:schemeClr val="tx1">
                    <a:lumMod val="95000"/>
                    <a:lumOff val="5000"/>
                  </a:schemeClr>
                </a:solidFill>
              </a:rPr>
              <a:t>you</a:t>
            </a:r>
            <a:r>
              <a:rPr lang="fr-FR" sz="900" i="1" dirty="0">
                <a:solidFill>
                  <a:schemeClr val="tx1">
                    <a:lumMod val="95000"/>
                    <a:lumOff val="5000"/>
                  </a:schemeClr>
                </a:solidFill>
              </a:rPr>
              <a:t> are </a:t>
            </a:r>
            <a:r>
              <a:rPr lang="fr-FR" sz="900" i="1" dirty="0" err="1">
                <a:solidFill>
                  <a:schemeClr val="tx1">
                    <a:lumMod val="95000"/>
                    <a:lumOff val="5000"/>
                  </a:schemeClr>
                </a:solidFill>
              </a:rPr>
              <a:t>agreeing</a:t>
            </a:r>
            <a:r>
              <a:rPr lang="fr-FR" sz="900" i="1" dirty="0">
                <a:solidFill>
                  <a:schemeClr val="tx1">
                    <a:lumMod val="95000"/>
                    <a:lumOff val="5000"/>
                  </a:schemeClr>
                </a:solidFill>
              </a:rPr>
              <a:t> to </a:t>
            </a:r>
            <a:r>
              <a:rPr lang="fr-FR" sz="900" i="1" dirty="0" err="1">
                <a:solidFill>
                  <a:schemeClr val="tx1">
                    <a:lumMod val="95000"/>
                    <a:lumOff val="5000"/>
                  </a:schemeClr>
                </a:solidFill>
              </a:rPr>
              <a:t>our</a:t>
            </a:r>
            <a:r>
              <a:rPr lang="fr-FR" sz="900" i="1" dirty="0">
                <a:solidFill>
                  <a:schemeClr val="tx1">
                    <a:lumMod val="95000"/>
                    <a:lumOff val="5000"/>
                  </a:schemeClr>
                </a:solidFill>
              </a:rPr>
              <a:t> applicable </a:t>
            </a:r>
            <a:r>
              <a:rPr lang="fr-FR" sz="900" i="1" dirty="0" err="1">
                <a:solidFill>
                  <a:schemeClr val="tx1">
                    <a:lumMod val="95000"/>
                    <a:lumOff val="5000"/>
                  </a:schemeClr>
                </a:solidFill>
              </a:rPr>
              <a:t>terms</a:t>
            </a:r>
            <a:r>
              <a:rPr lang="fr-FR" sz="900" i="1" dirty="0">
                <a:solidFill>
                  <a:schemeClr val="tx1">
                    <a:lumMod val="95000"/>
                    <a:lumOff val="5000"/>
                  </a:schemeClr>
                </a:solidFill>
              </a:rPr>
              <a:t> and </a:t>
            </a:r>
            <a:r>
              <a:rPr lang="fr-FR" sz="900" i="1" dirty="0" err="1">
                <a:solidFill>
                  <a:schemeClr val="tx1">
                    <a:lumMod val="95000"/>
                    <a:lumOff val="5000"/>
                  </a:schemeClr>
                </a:solidFill>
              </a:rPr>
              <a:t>privacy</a:t>
            </a:r>
            <a:r>
              <a:rPr lang="fr-FR" sz="900" i="1" dirty="0">
                <a:solidFill>
                  <a:schemeClr val="tx1">
                    <a:lumMod val="95000"/>
                    <a:lumOff val="5000"/>
                  </a:schemeClr>
                </a:solidFill>
              </a:rPr>
              <a:t> notice, </a:t>
            </a:r>
            <a:r>
              <a:rPr lang="fr-FR" sz="900" i="1" dirty="0" err="1">
                <a:solidFill>
                  <a:schemeClr val="tx1">
                    <a:lumMod val="95000"/>
                    <a:lumOff val="5000"/>
                  </a:schemeClr>
                </a:solidFill>
              </a:rPr>
              <a:t>including</a:t>
            </a:r>
            <a:r>
              <a:rPr lang="fr-FR" sz="900" i="1" dirty="0">
                <a:solidFill>
                  <a:schemeClr val="tx1">
                    <a:lumMod val="95000"/>
                    <a:lumOff val="5000"/>
                  </a:schemeClr>
                </a:solidFill>
              </a:rPr>
              <a:t> </a:t>
            </a:r>
            <a:r>
              <a:rPr lang="fr-FR" sz="900" i="1" dirty="0" err="1">
                <a:solidFill>
                  <a:schemeClr val="tx1">
                    <a:lumMod val="95000"/>
                    <a:lumOff val="5000"/>
                  </a:schemeClr>
                </a:solidFill>
              </a:rPr>
              <a:t>our</a:t>
            </a:r>
            <a:r>
              <a:rPr lang="fr-FR" sz="900" i="1" dirty="0">
                <a:solidFill>
                  <a:schemeClr val="tx1">
                    <a:lumMod val="95000"/>
                    <a:lumOff val="5000"/>
                  </a:schemeClr>
                </a:solidFill>
              </a:rPr>
              <a:t> cooking </a:t>
            </a:r>
            <a:r>
              <a:rPr lang="fr-FR" sz="900" i="1" dirty="0" err="1">
                <a:solidFill>
                  <a:schemeClr val="tx1">
                    <a:lumMod val="95000"/>
                    <a:lumOff val="5000"/>
                  </a:schemeClr>
                </a:solidFill>
              </a:rPr>
              <a:t>policy</a:t>
            </a:r>
            <a:r>
              <a:rPr lang="fr-FR" sz="900" i="1" dirty="0">
                <a:solidFill>
                  <a:schemeClr val="tx1">
                    <a:lumMod val="95000"/>
                    <a:lumOff val="5000"/>
                  </a:schemeClr>
                </a:solidFill>
              </a:rPr>
              <a:t>.</a:t>
            </a:r>
          </a:p>
        </p:txBody>
      </p:sp>
      <p:sp>
        <p:nvSpPr>
          <p:cNvPr id="41" name="ZoneTexte 40">
            <a:extLst>
              <a:ext uri="{FF2B5EF4-FFF2-40B4-BE49-F238E27FC236}">
                <a16:creationId xmlns:a16="http://schemas.microsoft.com/office/drawing/2014/main" id="{2FF76A95-7E3A-B6CC-18DF-305D0ED8CD8B}"/>
              </a:ext>
            </a:extLst>
          </p:cNvPr>
          <p:cNvSpPr txBox="1"/>
          <p:nvPr/>
        </p:nvSpPr>
        <p:spPr>
          <a:xfrm>
            <a:off x="7995918" y="4963560"/>
            <a:ext cx="3162300" cy="230832"/>
          </a:xfrm>
          <a:prstGeom prst="rect">
            <a:avLst/>
          </a:prstGeom>
          <a:noFill/>
        </p:spPr>
        <p:txBody>
          <a:bodyPr wrap="square" rtlCol="0">
            <a:spAutoFit/>
          </a:bodyPr>
          <a:lstStyle/>
          <a:p>
            <a:r>
              <a:rPr lang="fr-FR" sz="900" i="1" dirty="0">
                <a:solidFill>
                  <a:schemeClr val="tx1">
                    <a:lumMod val="95000"/>
                    <a:lumOff val="5000"/>
                  </a:schemeClr>
                </a:solidFill>
              </a:rPr>
              <a:t>Yes, I </a:t>
            </a:r>
            <a:r>
              <a:rPr lang="fr-FR" sz="900" i="1" dirty="0" err="1">
                <a:solidFill>
                  <a:schemeClr val="tx1">
                    <a:lumMod val="95000"/>
                    <a:lumOff val="5000"/>
                  </a:schemeClr>
                </a:solidFill>
              </a:rPr>
              <a:t>would</a:t>
            </a:r>
            <a:r>
              <a:rPr lang="fr-FR" sz="900" i="1" dirty="0">
                <a:solidFill>
                  <a:schemeClr val="tx1">
                    <a:lumMod val="95000"/>
                    <a:lumOff val="5000"/>
                  </a:schemeClr>
                </a:solidFill>
              </a:rPr>
              <a:t> like to </a:t>
            </a:r>
            <a:r>
              <a:rPr lang="fr-FR" sz="900" i="1" dirty="0" err="1">
                <a:solidFill>
                  <a:schemeClr val="tx1">
                    <a:lumMod val="95000"/>
                    <a:lumOff val="5000"/>
                  </a:schemeClr>
                </a:solidFill>
              </a:rPr>
              <a:t>receive</a:t>
            </a:r>
            <a:r>
              <a:rPr lang="fr-FR" sz="900" i="1" dirty="0">
                <a:solidFill>
                  <a:schemeClr val="tx1">
                    <a:lumMod val="95000"/>
                    <a:lumOff val="5000"/>
                  </a:schemeClr>
                </a:solidFill>
              </a:rPr>
              <a:t> emails </a:t>
            </a:r>
            <a:r>
              <a:rPr lang="fr-FR" sz="900" i="1" dirty="0" err="1">
                <a:solidFill>
                  <a:schemeClr val="tx1">
                    <a:lumMod val="95000"/>
                    <a:lumOff val="5000"/>
                  </a:schemeClr>
                </a:solidFill>
              </a:rPr>
              <a:t>from</a:t>
            </a:r>
            <a:r>
              <a:rPr lang="fr-FR" sz="900" i="1" dirty="0">
                <a:solidFill>
                  <a:schemeClr val="tx1">
                    <a:lumMod val="95000"/>
                    <a:lumOff val="5000"/>
                  </a:schemeClr>
                </a:solidFill>
              </a:rPr>
              <a:t> PGI CUST</a:t>
            </a:r>
          </a:p>
        </p:txBody>
      </p:sp>
      <p:sp>
        <p:nvSpPr>
          <p:cNvPr id="42" name="Rectangle : coins arrondis 41">
            <a:extLst>
              <a:ext uri="{FF2B5EF4-FFF2-40B4-BE49-F238E27FC236}">
                <a16:creationId xmlns:a16="http://schemas.microsoft.com/office/drawing/2014/main" id="{2F7859B1-5EEB-FBBA-E6A0-370A4BCBCD18}"/>
              </a:ext>
            </a:extLst>
          </p:cNvPr>
          <p:cNvSpPr/>
          <p:nvPr/>
        </p:nvSpPr>
        <p:spPr>
          <a:xfrm>
            <a:off x="8135621" y="548160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Start Free Trial</a:t>
            </a:r>
          </a:p>
        </p:txBody>
      </p:sp>
      <p:sp>
        <p:nvSpPr>
          <p:cNvPr id="43" name="ZoneTexte 42">
            <a:extLst>
              <a:ext uri="{FF2B5EF4-FFF2-40B4-BE49-F238E27FC236}">
                <a16:creationId xmlns:a16="http://schemas.microsoft.com/office/drawing/2014/main" id="{AA568F70-47B2-5939-968A-AABD6F241830}"/>
              </a:ext>
            </a:extLst>
          </p:cNvPr>
          <p:cNvSpPr txBox="1"/>
          <p:nvPr/>
        </p:nvSpPr>
        <p:spPr>
          <a:xfrm>
            <a:off x="1757680" y="1410336"/>
            <a:ext cx="3525520" cy="584775"/>
          </a:xfrm>
          <a:prstGeom prst="rect">
            <a:avLst/>
          </a:prstGeom>
          <a:noFill/>
        </p:spPr>
        <p:txBody>
          <a:bodyPr wrap="square" rtlCol="0">
            <a:spAutoFit/>
          </a:bodyPr>
          <a:lstStyle/>
          <a:p>
            <a:r>
              <a:rPr lang="fr-FR" sz="3200" b="1" dirty="0">
                <a:solidFill>
                  <a:schemeClr val="bg1"/>
                </a:solidFill>
              </a:rPr>
              <a:t>PGI CUSTOM  1.0</a:t>
            </a:r>
          </a:p>
        </p:txBody>
      </p:sp>
      <p:sp>
        <p:nvSpPr>
          <p:cNvPr id="44" name="ZoneTexte 43">
            <a:extLst>
              <a:ext uri="{FF2B5EF4-FFF2-40B4-BE49-F238E27FC236}">
                <a16:creationId xmlns:a16="http://schemas.microsoft.com/office/drawing/2014/main" id="{2F386D63-1100-A298-5E79-DAD420C54AEA}"/>
              </a:ext>
            </a:extLst>
          </p:cNvPr>
          <p:cNvSpPr txBox="1"/>
          <p:nvPr/>
        </p:nvSpPr>
        <p:spPr>
          <a:xfrm>
            <a:off x="1757680" y="2037715"/>
            <a:ext cx="4815840" cy="954107"/>
          </a:xfrm>
          <a:prstGeom prst="rect">
            <a:avLst/>
          </a:prstGeom>
          <a:noFill/>
        </p:spPr>
        <p:txBody>
          <a:bodyPr wrap="square" rtlCol="0">
            <a:spAutoFit/>
          </a:bodyPr>
          <a:lstStyle/>
          <a:p>
            <a:r>
              <a:rPr lang="fr-FR" sz="2800" b="1" dirty="0" err="1">
                <a:solidFill>
                  <a:schemeClr val="bg1"/>
                </a:solidFill>
              </a:rPr>
              <a:t>Create</a:t>
            </a:r>
            <a:r>
              <a:rPr lang="fr-FR" sz="2800" b="1" dirty="0">
                <a:solidFill>
                  <a:schemeClr val="bg1"/>
                </a:solidFill>
              </a:rPr>
              <a:t> </a:t>
            </a:r>
            <a:r>
              <a:rPr lang="fr-FR" sz="2800" b="1" dirty="0" err="1">
                <a:solidFill>
                  <a:schemeClr val="bg1"/>
                </a:solidFill>
              </a:rPr>
              <a:t>somes</a:t>
            </a:r>
            <a:r>
              <a:rPr lang="fr-FR" sz="2800" b="1" dirty="0">
                <a:solidFill>
                  <a:schemeClr val="bg1"/>
                </a:solidFill>
              </a:rPr>
              <a:t> </a:t>
            </a:r>
            <a:r>
              <a:rPr lang="fr-FR" sz="2800" b="1" dirty="0" err="1">
                <a:solidFill>
                  <a:schemeClr val="bg1"/>
                </a:solidFill>
              </a:rPr>
              <a:t>customers</a:t>
            </a:r>
            <a:endParaRPr lang="fr-FR" sz="2800" b="1" dirty="0">
              <a:solidFill>
                <a:schemeClr val="bg1"/>
              </a:solidFill>
            </a:endParaRPr>
          </a:p>
          <a:p>
            <a:r>
              <a:rPr lang="fr-FR" sz="2800" b="1" dirty="0">
                <a:solidFill>
                  <a:schemeClr val="bg1"/>
                </a:solidFill>
              </a:rPr>
              <a:t>for </a:t>
            </a:r>
            <a:r>
              <a:rPr lang="fr-FR" sz="2800" b="1" dirty="0" err="1">
                <a:solidFill>
                  <a:schemeClr val="bg1"/>
                </a:solidFill>
              </a:rPr>
              <a:t>your</a:t>
            </a:r>
            <a:r>
              <a:rPr lang="fr-FR" sz="2800" b="1" dirty="0">
                <a:solidFill>
                  <a:schemeClr val="bg1"/>
                </a:solidFill>
              </a:rPr>
              <a:t> </a:t>
            </a:r>
            <a:r>
              <a:rPr lang="fr-FR" sz="2800" b="1" dirty="0" err="1">
                <a:solidFill>
                  <a:schemeClr val="bg1"/>
                </a:solidFill>
              </a:rPr>
              <a:t>enterprise</a:t>
            </a:r>
            <a:r>
              <a:rPr lang="fr-FR" sz="2800" b="1" dirty="0">
                <a:solidFill>
                  <a:schemeClr val="bg1"/>
                </a:solidFill>
              </a:rPr>
              <a:t> </a:t>
            </a:r>
            <a:r>
              <a:rPr lang="fr-FR" sz="2800" b="1" dirty="0" err="1">
                <a:solidFill>
                  <a:schemeClr val="bg1"/>
                </a:solidFill>
              </a:rPr>
              <a:t>easy</a:t>
            </a:r>
            <a:r>
              <a:rPr lang="fr-FR" sz="2800" b="1" dirty="0">
                <a:solidFill>
                  <a:schemeClr val="bg1"/>
                </a:solidFill>
              </a:rPr>
              <a:t>…</a:t>
            </a:r>
          </a:p>
        </p:txBody>
      </p:sp>
      <p:sp>
        <p:nvSpPr>
          <p:cNvPr id="45" name="Ellipse 44">
            <a:extLst>
              <a:ext uri="{FF2B5EF4-FFF2-40B4-BE49-F238E27FC236}">
                <a16:creationId xmlns:a16="http://schemas.microsoft.com/office/drawing/2014/main" id="{75504106-4783-9F29-6724-483AB09E4861}"/>
              </a:ext>
            </a:extLst>
          </p:cNvPr>
          <p:cNvSpPr/>
          <p:nvPr/>
        </p:nvSpPr>
        <p:spPr>
          <a:xfrm>
            <a:off x="1866900" y="316261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ZoneTexte 45">
            <a:extLst>
              <a:ext uri="{FF2B5EF4-FFF2-40B4-BE49-F238E27FC236}">
                <a16:creationId xmlns:a16="http://schemas.microsoft.com/office/drawing/2014/main" id="{3BDC964C-4967-CD4C-2B72-3A87C223129F}"/>
              </a:ext>
            </a:extLst>
          </p:cNvPr>
          <p:cNvSpPr txBox="1"/>
          <p:nvPr/>
        </p:nvSpPr>
        <p:spPr>
          <a:xfrm>
            <a:off x="2105025" y="3097014"/>
            <a:ext cx="3609975" cy="369332"/>
          </a:xfrm>
          <a:prstGeom prst="rect">
            <a:avLst/>
          </a:prstGeom>
          <a:noFill/>
        </p:spPr>
        <p:txBody>
          <a:bodyPr wrap="square" rtlCol="0">
            <a:spAutoFit/>
          </a:bodyPr>
          <a:lstStyle/>
          <a:p>
            <a:r>
              <a:rPr lang="fr-FR" b="1" dirty="0" err="1">
                <a:solidFill>
                  <a:schemeClr val="bg1"/>
                </a:solidFill>
              </a:rPr>
              <a:t>Integrate</a:t>
            </a:r>
            <a:r>
              <a:rPr lang="fr-FR" b="1" dirty="0">
                <a:solidFill>
                  <a:schemeClr val="bg1"/>
                </a:solidFill>
              </a:rPr>
              <a:t> AI gestion </a:t>
            </a:r>
            <a:r>
              <a:rPr lang="fr-FR" b="1" dirty="0" err="1">
                <a:solidFill>
                  <a:schemeClr val="bg1"/>
                </a:solidFill>
              </a:rPr>
              <a:t>customers</a:t>
            </a:r>
            <a:endParaRPr lang="fr-FR" b="1" dirty="0">
              <a:solidFill>
                <a:schemeClr val="bg1"/>
              </a:solidFill>
            </a:endParaRPr>
          </a:p>
        </p:txBody>
      </p:sp>
      <p:sp>
        <p:nvSpPr>
          <p:cNvPr id="47" name="Ellipse 46">
            <a:extLst>
              <a:ext uri="{FF2B5EF4-FFF2-40B4-BE49-F238E27FC236}">
                <a16:creationId xmlns:a16="http://schemas.microsoft.com/office/drawing/2014/main" id="{35289317-B1C0-97CE-E8C3-F1E970F9F571}"/>
              </a:ext>
            </a:extLst>
          </p:cNvPr>
          <p:cNvSpPr/>
          <p:nvPr/>
        </p:nvSpPr>
        <p:spPr>
          <a:xfrm>
            <a:off x="1866900" y="3624472"/>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8" name="ZoneTexte 47">
            <a:extLst>
              <a:ext uri="{FF2B5EF4-FFF2-40B4-BE49-F238E27FC236}">
                <a16:creationId xmlns:a16="http://schemas.microsoft.com/office/drawing/2014/main" id="{81AE1D7F-BAAD-4E15-AD46-2853E7EAC437}"/>
              </a:ext>
            </a:extLst>
          </p:cNvPr>
          <p:cNvSpPr txBox="1"/>
          <p:nvPr/>
        </p:nvSpPr>
        <p:spPr>
          <a:xfrm>
            <a:off x="2105025" y="3558868"/>
            <a:ext cx="3609975" cy="369332"/>
          </a:xfrm>
          <a:prstGeom prst="rect">
            <a:avLst/>
          </a:prstGeom>
          <a:noFill/>
        </p:spPr>
        <p:txBody>
          <a:bodyPr wrap="square" rtlCol="0">
            <a:spAutoFit/>
          </a:bodyPr>
          <a:lstStyle/>
          <a:p>
            <a:r>
              <a:rPr lang="fr-FR" b="1" dirty="0" err="1">
                <a:solidFill>
                  <a:schemeClr val="bg1"/>
                </a:solidFill>
              </a:rPr>
              <a:t>Crated</a:t>
            </a:r>
            <a:r>
              <a:rPr lang="fr-FR" b="1" dirty="0">
                <a:solidFill>
                  <a:schemeClr val="bg1"/>
                </a:solidFill>
              </a:rPr>
              <a:t> AI business documents</a:t>
            </a:r>
          </a:p>
        </p:txBody>
      </p:sp>
      <p:sp>
        <p:nvSpPr>
          <p:cNvPr id="49" name="Ellipse 48">
            <a:extLst>
              <a:ext uri="{FF2B5EF4-FFF2-40B4-BE49-F238E27FC236}">
                <a16:creationId xmlns:a16="http://schemas.microsoft.com/office/drawing/2014/main" id="{D9A5C080-E085-DC3D-03F3-F47323698056}"/>
              </a:ext>
            </a:extLst>
          </p:cNvPr>
          <p:cNvSpPr/>
          <p:nvPr/>
        </p:nvSpPr>
        <p:spPr>
          <a:xfrm>
            <a:off x="1866900" y="409509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0" name="ZoneTexte 49">
            <a:extLst>
              <a:ext uri="{FF2B5EF4-FFF2-40B4-BE49-F238E27FC236}">
                <a16:creationId xmlns:a16="http://schemas.microsoft.com/office/drawing/2014/main" id="{92D31FD0-B90B-220D-ACC5-16E65A8B30A6}"/>
              </a:ext>
            </a:extLst>
          </p:cNvPr>
          <p:cNvSpPr txBox="1"/>
          <p:nvPr/>
        </p:nvSpPr>
        <p:spPr>
          <a:xfrm>
            <a:off x="2105025" y="4029494"/>
            <a:ext cx="3609975" cy="646331"/>
          </a:xfrm>
          <a:prstGeom prst="rect">
            <a:avLst/>
          </a:prstGeom>
          <a:noFill/>
        </p:spPr>
        <p:txBody>
          <a:bodyPr wrap="square" rtlCol="0">
            <a:spAutoFit/>
          </a:bodyPr>
          <a:lstStyle/>
          <a:p>
            <a:r>
              <a:rPr lang="fr-FR" b="1" dirty="0">
                <a:solidFill>
                  <a:schemeClr val="bg1"/>
                </a:solidFill>
              </a:rPr>
              <a:t>Use </a:t>
            </a:r>
            <a:r>
              <a:rPr lang="fr-FR" b="1" dirty="0" err="1">
                <a:solidFill>
                  <a:schemeClr val="bg1"/>
                </a:solidFill>
              </a:rPr>
              <a:t>with</a:t>
            </a:r>
            <a:r>
              <a:rPr lang="fr-FR" b="1" dirty="0">
                <a:solidFill>
                  <a:schemeClr val="bg1"/>
                </a:solidFill>
              </a:rPr>
              <a:t> support and </a:t>
            </a:r>
            <a:r>
              <a:rPr lang="fr-FR" b="1" dirty="0" err="1">
                <a:solidFill>
                  <a:schemeClr val="bg1"/>
                </a:solidFill>
              </a:rPr>
              <a:t>save</a:t>
            </a:r>
            <a:r>
              <a:rPr lang="fr-FR" b="1" dirty="0">
                <a:solidFill>
                  <a:schemeClr val="bg1"/>
                </a:solidFill>
              </a:rPr>
              <a:t> data base</a:t>
            </a:r>
          </a:p>
        </p:txBody>
      </p:sp>
      <p:sp>
        <p:nvSpPr>
          <p:cNvPr id="51" name="Rectangle 50">
            <a:extLst>
              <a:ext uri="{FF2B5EF4-FFF2-40B4-BE49-F238E27FC236}">
                <a16:creationId xmlns:a16="http://schemas.microsoft.com/office/drawing/2014/main" id="{3E0D11A7-834D-7A62-7935-8C624D6447B5}"/>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P1</a:t>
            </a:r>
          </a:p>
        </p:txBody>
      </p:sp>
      <p:sp>
        <p:nvSpPr>
          <p:cNvPr id="52" name="Espace réservé du pied de page 51">
            <a:extLst>
              <a:ext uri="{FF2B5EF4-FFF2-40B4-BE49-F238E27FC236}">
                <a16:creationId xmlns:a16="http://schemas.microsoft.com/office/drawing/2014/main" id="{FF6A022B-C41C-E07B-6293-6E94663FD419}"/>
              </a:ext>
            </a:extLst>
          </p:cNvPr>
          <p:cNvSpPr>
            <a:spLocks noGrp="1"/>
          </p:cNvSpPr>
          <p:nvPr>
            <p:ph type="ftr" sz="quarter" idx="11"/>
          </p:nvPr>
        </p:nvSpPr>
        <p:spPr/>
        <p:txBody>
          <a:bodyPr/>
          <a:lstStyle/>
          <a:p>
            <a:r>
              <a:rPr lang="fr-FR"/>
              <a:t>Evaluaiton avec un micro projet HTML-CSS</a:t>
            </a:r>
          </a:p>
        </p:txBody>
      </p:sp>
      <p:sp>
        <p:nvSpPr>
          <p:cNvPr id="53" name="Espace réservé du numéro de diapositive 52">
            <a:extLst>
              <a:ext uri="{FF2B5EF4-FFF2-40B4-BE49-F238E27FC236}">
                <a16:creationId xmlns:a16="http://schemas.microsoft.com/office/drawing/2014/main" id="{F826441D-4A90-EC11-C905-7936868E9F1D}"/>
              </a:ext>
            </a:extLst>
          </p:cNvPr>
          <p:cNvSpPr>
            <a:spLocks noGrp="1"/>
          </p:cNvSpPr>
          <p:nvPr>
            <p:ph type="sldNum" sz="quarter" idx="12"/>
          </p:nvPr>
        </p:nvSpPr>
        <p:spPr/>
        <p:txBody>
          <a:bodyPr/>
          <a:lstStyle/>
          <a:p>
            <a:fld id="{61A50371-3F2D-4FEF-B603-773838516A24}" type="slidenum">
              <a:rPr lang="fr-FR" smtClean="0"/>
              <a:t>7</a:t>
            </a:fld>
            <a:endParaRPr lang="fr-FR"/>
          </a:p>
        </p:txBody>
      </p:sp>
    </p:spTree>
    <p:extLst>
      <p:ext uri="{BB962C8B-B14F-4D97-AF65-F5344CB8AC3E}">
        <p14:creationId xmlns:p14="http://schemas.microsoft.com/office/powerpoint/2010/main" val="791795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CB29789-5B7D-2EE6-E26D-C0F625FAF44B}"/>
              </a:ext>
            </a:extLst>
          </p:cNvPr>
          <p:cNvPicPr>
            <a:picLocks noChangeAspect="1"/>
          </p:cNvPicPr>
          <p:nvPr/>
        </p:nvPicPr>
        <p:blipFill>
          <a:blip r:embed="rId2"/>
          <a:srcRect l="46954" t="6250" r="47187" b="85139"/>
          <a:stretch>
            <a:fillRect/>
          </a:stretch>
        </p:blipFill>
        <p:spPr>
          <a:xfrm>
            <a:off x="5472112" y="295269"/>
            <a:ext cx="1247776" cy="1031495"/>
          </a:xfrm>
          <a:prstGeom prst="rect">
            <a:avLst/>
          </a:prstGeom>
        </p:spPr>
      </p:pic>
      <p:sp>
        <p:nvSpPr>
          <p:cNvPr id="3" name="ZoneTexte 2">
            <a:extLst>
              <a:ext uri="{FF2B5EF4-FFF2-40B4-BE49-F238E27FC236}">
                <a16:creationId xmlns:a16="http://schemas.microsoft.com/office/drawing/2014/main" id="{BAE5A6C1-D3E3-E769-7ECA-742D5DA92F5A}"/>
              </a:ext>
            </a:extLst>
          </p:cNvPr>
          <p:cNvSpPr txBox="1"/>
          <p:nvPr/>
        </p:nvSpPr>
        <p:spPr>
          <a:xfrm>
            <a:off x="4353152" y="1326764"/>
            <a:ext cx="3762375" cy="523220"/>
          </a:xfrm>
          <a:prstGeom prst="rect">
            <a:avLst/>
          </a:prstGeom>
          <a:noFill/>
        </p:spPr>
        <p:txBody>
          <a:bodyPr wrap="square" rtlCol="0">
            <a:spAutoFit/>
          </a:bodyPr>
          <a:lstStyle/>
          <a:p>
            <a:pPr algn="ctr"/>
            <a:r>
              <a:rPr lang="fr-FR" sz="2800" b="1" dirty="0"/>
              <a:t>Les clients l’adorent</a:t>
            </a:r>
          </a:p>
        </p:txBody>
      </p:sp>
      <p:sp>
        <p:nvSpPr>
          <p:cNvPr id="4" name="ZoneTexte 3">
            <a:extLst>
              <a:ext uri="{FF2B5EF4-FFF2-40B4-BE49-F238E27FC236}">
                <a16:creationId xmlns:a16="http://schemas.microsoft.com/office/drawing/2014/main" id="{644FB58A-9B6C-EC3C-850E-36FB0D27F95A}"/>
              </a:ext>
            </a:extLst>
          </p:cNvPr>
          <p:cNvSpPr txBox="1"/>
          <p:nvPr/>
        </p:nvSpPr>
        <p:spPr>
          <a:xfrm>
            <a:off x="3500891" y="1849984"/>
            <a:ext cx="5092700" cy="523220"/>
          </a:xfrm>
          <a:prstGeom prst="rect">
            <a:avLst/>
          </a:prstGeom>
          <a:noFill/>
        </p:spPr>
        <p:txBody>
          <a:bodyPr wrap="square" rtlCol="0">
            <a:spAutoFit/>
          </a:bodyPr>
          <a:lstStyle/>
          <a:p>
            <a:pPr algn="ctr"/>
            <a:r>
              <a:rPr lang="fr-FR" sz="1400" dirty="0"/>
              <a:t>Découvrez ce que les professionnels du secteur disent de notre plateforme de création de leads</a:t>
            </a:r>
          </a:p>
        </p:txBody>
      </p:sp>
      <p:sp>
        <p:nvSpPr>
          <p:cNvPr id="5" name="ZoneTexte 4">
            <a:extLst>
              <a:ext uri="{FF2B5EF4-FFF2-40B4-BE49-F238E27FC236}">
                <a16:creationId xmlns:a16="http://schemas.microsoft.com/office/drawing/2014/main" id="{0F7AD7E1-7E26-DF96-7D07-F4E257980EE9}"/>
              </a:ext>
            </a:extLst>
          </p:cNvPr>
          <p:cNvSpPr txBox="1"/>
          <p:nvPr/>
        </p:nvSpPr>
        <p:spPr>
          <a:xfrm>
            <a:off x="872218" y="2685142"/>
            <a:ext cx="3193143" cy="2585323"/>
          </a:xfrm>
          <a:prstGeom prst="rect">
            <a:avLst/>
          </a:prstGeom>
          <a:noFill/>
        </p:spPr>
        <p:txBody>
          <a:bodyPr wrap="square" rtlCol="0">
            <a:spAutoFit/>
          </a:bodyPr>
          <a:lstStyle/>
          <a:p>
            <a:pPr algn="just"/>
            <a:r>
              <a:rPr lang="fr-FR" dirty="0"/>
              <a:t>« Merci à PGI CUST », après plusieurs essais d’autres PGI, j’ai désespéré, jusqu’à ce que je trouve PGI CUST, qui fait pratiquement tout le travail de leads à ma place.</a:t>
            </a:r>
          </a:p>
          <a:p>
            <a:pPr algn="just"/>
            <a:r>
              <a:rPr lang="fr-FR" dirty="0"/>
              <a:t>J’ai juste à me concentrer sur mes services.</a:t>
            </a:r>
          </a:p>
          <a:p>
            <a:pPr algn="just"/>
            <a:r>
              <a:rPr lang="fr-FR" dirty="0"/>
              <a:t>C’est ce que je recherchais… »</a:t>
            </a:r>
          </a:p>
        </p:txBody>
      </p:sp>
      <p:sp>
        <p:nvSpPr>
          <p:cNvPr id="6" name="ZoneTexte 5">
            <a:extLst>
              <a:ext uri="{FF2B5EF4-FFF2-40B4-BE49-F238E27FC236}">
                <a16:creationId xmlns:a16="http://schemas.microsoft.com/office/drawing/2014/main" id="{D2154C44-8816-4A76-B4AA-570A6C17CC37}"/>
              </a:ext>
            </a:extLst>
          </p:cNvPr>
          <p:cNvSpPr txBox="1"/>
          <p:nvPr/>
        </p:nvSpPr>
        <p:spPr>
          <a:xfrm>
            <a:off x="4496708" y="2685141"/>
            <a:ext cx="3193143" cy="3139321"/>
          </a:xfrm>
          <a:prstGeom prst="rect">
            <a:avLst/>
          </a:prstGeom>
          <a:noFill/>
        </p:spPr>
        <p:txBody>
          <a:bodyPr wrap="square" rtlCol="0">
            <a:spAutoFit/>
          </a:bodyPr>
          <a:lstStyle/>
          <a:p>
            <a:pPr algn="just"/>
            <a:r>
              <a:rPr lang="fr-FR" dirty="0"/>
              <a:t>« D’une facilité d’utilisation étonnante ! C’est une première. Au début on doute, car l’application est très abordable financièrement, ensuite on apprécie. Honnêtement je serais prête à y mettre plus d’argent pour des suppléments de services qu’il manque dans mon entreprise. »</a:t>
            </a:r>
          </a:p>
        </p:txBody>
      </p:sp>
      <p:sp>
        <p:nvSpPr>
          <p:cNvPr id="7" name="ZoneTexte 6">
            <a:extLst>
              <a:ext uri="{FF2B5EF4-FFF2-40B4-BE49-F238E27FC236}">
                <a16:creationId xmlns:a16="http://schemas.microsoft.com/office/drawing/2014/main" id="{C1CBD0C9-18A2-DBED-7DFA-E54040F618C2}"/>
              </a:ext>
            </a:extLst>
          </p:cNvPr>
          <p:cNvSpPr txBox="1"/>
          <p:nvPr/>
        </p:nvSpPr>
        <p:spPr>
          <a:xfrm>
            <a:off x="8121198" y="2668914"/>
            <a:ext cx="3193143" cy="2862322"/>
          </a:xfrm>
          <a:prstGeom prst="rect">
            <a:avLst/>
          </a:prstGeom>
          <a:noFill/>
        </p:spPr>
        <p:txBody>
          <a:bodyPr wrap="square" rtlCol="0">
            <a:spAutoFit/>
          </a:bodyPr>
          <a:lstStyle/>
          <a:p>
            <a:pPr algn="just"/>
            <a:r>
              <a:rPr lang="fr-FR" dirty="0"/>
              <a:t>« OK, vraiment OK. Je suis très satisfaite. L’équipe support est vraiment très pédagogue. Je viens de créer mon entreprise et je dispose déjà d’un outil abordable de professionnel. Grâce à PGI CUST, j’ai validé 100 leads en 2 mois contre 20 avec mon ancienne application de gestion intégré.</a:t>
            </a:r>
          </a:p>
        </p:txBody>
      </p:sp>
      <p:pic>
        <p:nvPicPr>
          <p:cNvPr id="8" name="Image 7">
            <a:extLst>
              <a:ext uri="{FF2B5EF4-FFF2-40B4-BE49-F238E27FC236}">
                <a16:creationId xmlns:a16="http://schemas.microsoft.com/office/drawing/2014/main" id="{C74456C6-6135-4966-C15A-65EA417791F4}"/>
              </a:ext>
            </a:extLst>
          </p:cNvPr>
          <p:cNvPicPr>
            <a:picLocks noChangeAspect="1"/>
          </p:cNvPicPr>
          <p:nvPr/>
        </p:nvPicPr>
        <p:blipFill>
          <a:blip r:embed="rId2"/>
          <a:srcRect l="40357" t="71323" r="40833" b="21058"/>
          <a:stretch>
            <a:fillRect/>
          </a:stretch>
        </p:blipFill>
        <p:spPr>
          <a:xfrm>
            <a:off x="4496708" y="5940582"/>
            <a:ext cx="2998085" cy="683109"/>
          </a:xfrm>
          <a:prstGeom prst="rect">
            <a:avLst/>
          </a:prstGeom>
        </p:spPr>
      </p:pic>
      <p:pic>
        <p:nvPicPr>
          <p:cNvPr id="9" name="Image 8">
            <a:extLst>
              <a:ext uri="{FF2B5EF4-FFF2-40B4-BE49-F238E27FC236}">
                <a16:creationId xmlns:a16="http://schemas.microsoft.com/office/drawing/2014/main" id="{EECF3A3F-4BDE-E8A4-B4F2-9D2F71BDD5C2}"/>
              </a:ext>
            </a:extLst>
          </p:cNvPr>
          <p:cNvPicPr>
            <a:picLocks noChangeAspect="1"/>
          </p:cNvPicPr>
          <p:nvPr/>
        </p:nvPicPr>
        <p:blipFill>
          <a:blip r:embed="rId3"/>
          <a:stretch>
            <a:fillRect/>
          </a:stretch>
        </p:blipFill>
        <p:spPr>
          <a:xfrm>
            <a:off x="338597" y="111608"/>
            <a:ext cx="1356853" cy="453356"/>
          </a:xfrm>
          <a:prstGeom prst="rect">
            <a:avLst/>
          </a:prstGeom>
        </p:spPr>
      </p:pic>
      <p:sp>
        <p:nvSpPr>
          <p:cNvPr id="10" name="Rectangle 9">
            <a:extLst>
              <a:ext uri="{FF2B5EF4-FFF2-40B4-BE49-F238E27FC236}">
                <a16:creationId xmlns:a16="http://schemas.microsoft.com/office/drawing/2014/main" id="{04AC4C5D-D16F-D689-6960-DDF65D78692A}"/>
              </a:ext>
            </a:extLst>
          </p:cNvPr>
          <p:cNvSpPr/>
          <p:nvPr/>
        </p:nvSpPr>
        <p:spPr>
          <a:xfrm>
            <a:off x="338597" y="564964"/>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11" name="Rectangle : coins arrondis 10">
            <a:extLst>
              <a:ext uri="{FF2B5EF4-FFF2-40B4-BE49-F238E27FC236}">
                <a16:creationId xmlns:a16="http://schemas.microsoft.com/office/drawing/2014/main" id="{177529F0-DAD4-BB80-0716-F0CAAE7915C7}"/>
              </a:ext>
            </a:extLst>
          </p:cNvPr>
          <p:cNvSpPr/>
          <p:nvPr/>
        </p:nvSpPr>
        <p:spPr>
          <a:xfrm>
            <a:off x="4496707" y="6075439"/>
            <a:ext cx="3193143" cy="48729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b="1" dirty="0"/>
              <a:t>Commencer votre essai gratuit</a:t>
            </a:r>
          </a:p>
        </p:txBody>
      </p:sp>
      <p:sp>
        <p:nvSpPr>
          <p:cNvPr id="12" name="Espace réservé du pied de page 11">
            <a:extLst>
              <a:ext uri="{FF2B5EF4-FFF2-40B4-BE49-F238E27FC236}">
                <a16:creationId xmlns:a16="http://schemas.microsoft.com/office/drawing/2014/main" id="{062D7B40-DF51-9C46-0A46-481CC7683DFE}"/>
              </a:ext>
            </a:extLst>
          </p:cNvPr>
          <p:cNvSpPr>
            <a:spLocks noGrp="1"/>
          </p:cNvSpPr>
          <p:nvPr>
            <p:ph type="ftr" sz="quarter" idx="11"/>
          </p:nvPr>
        </p:nvSpPr>
        <p:spPr/>
        <p:txBody>
          <a:bodyPr/>
          <a:lstStyle/>
          <a:p>
            <a:r>
              <a:rPr lang="fr-FR"/>
              <a:t>Evaluaiton avec un micro projet HTML-CSS</a:t>
            </a:r>
          </a:p>
        </p:txBody>
      </p:sp>
      <p:sp>
        <p:nvSpPr>
          <p:cNvPr id="13" name="Espace réservé du numéro de diapositive 12">
            <a:extLst>
              <a:ext uri="{FF2B5EF4-FFF2-40B4-BE49-F238E27FC236}">
                <a16:creationId xmlns:a16="http://schemas.microsoft.com/office/drawing/2014/main" id="{69AB3D2F-45C8-C114-46E4-8AE4331408D1}"/>
              </a:ext>
            </a:extLst>
          </p:cNvPr>
          <p:cNvSpPr>
            <a:spLocks noGrp="1"/>
          </p:cNvSpPr>
          <p:nvPr>
            <p:ph type="sldNum" sz="quarter" idx="12"/>
          </p:nvPr>
        </p:nvSpPr>
        <p:spPr/>
        <p:txBody>
          <a:bodyPr/>
          <a:lstStyle/>
          <a:p>
            <a:fld id="{61A50371-3F2D-4FEF-B603-773838516A24}" type="slidenum">
              <a:rPr lang="fr-FR" smtClean="0"/>
              <a:t>8</a:t>
            </a:fld>
            <a:endParaRPr lang="fr-FR"/>
          </a:p>
        </p:txBody>
      </p:sp>
    </p:spTree>
    <p:extLst>
      <p:ext uri="{BB962C8B-B14F-4D97-AF65-F5344CB8AC3E}">
        <p14:creationId xmlns:p14="http://schemas.microsoft.com/office/powerpoint/2010/main" val="1403693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1D10D75-A171-DEAE-985D-728C5B157A52}"/>
              </a:ext>
            </a:extLst>
          </p:cNvPr>
          <p:cNvPicPr>
            <a:picLocks noChangeAspect="1"/>
          </p:cNvPicPr>
          <p:nvPr/>
        </p:nvPicPr>
        <p:blipFill>
          <a:blip r:embed="rId2"/>
          <a:srcRect l="34251" t="25630" r="35333" b="46000"/>
          <a:stretch>
            <a:fillRect/>
          </a:stretch>
        </p:blipFill>
        <p:spPr>
          <a:xfrm>
            <a:off x="3488471" y="1123610"/>
            <a:ext cx="5530402" cy="2901567"/>
          </a:xfrm>
          <a:prstGeom prst="rect">
            <a:avLst/>
          </a:prstGeom>
        </p:spPr>
      </p:pic>
      <p:sp>
        <p:nvSpPr>
          <p:cNvPr id="6" name="ZoneTexte 5">
            <a:extLst>
              <a:ext uri="{FF2B5EF4-FFF2-40B4-BE49-F238E27FC236}">
                <a16:creationId xmlns:a16="http://schemas.microsoft.com/office/drawing/2014/main" id="{8077718A-3489-47C3-5A11-265557BF4A66}"/>
              </a:ext>
            </a:extLst>
          </p:cNvPr>
          <p:cNvSpPr txBox="1"/>
          <p:nvPr/>
        </p:nvSpPr>
        <p:spPr>
          <a:xfrm>
            <a:off x="5307741" y="4025177"/>
            <a:ext cx="1891865" cy="584775"/>
          </a:xfrm>
          <a:prstGeom prst="rect">
            <a:avLst/>
          </a:prstGeom>
          <a:noFill/>
        </p:spPr>
        <p:txBody>
          <a:bodyPr wrap="none" rtlCol="0">
            <a:spAutoFit/>
          </a:bodyPr>
          <a:lstStyle/>
          <a:p>
            <a:r>
              <a:rPr lang="fr-FR" sz="3200" b="1" dirty="0" err="1"/>
              <a:t>Success</a:t>
            </a:r>
            <a:r>
              <a:rPr lang="fr-FR" sz="3200" b="1" dirty="0"/>
              <a:t>!</a:t>
            </a:r>
          </a:p>
        </p:txBody>
      </p:sp>
      <p:sp>
        <p:nvSpPr>
          <p:cNvPr id="7" name="ZoneTexte 6">
            <a:extLst>
              <a:ext uri="{FF2B5EF4-FFF2-40B4-BE49-F238E27FC236}">
                <a16:creationId xmlns:a16="http://schemas.microsoft.com/office/drawing/2014/main" id="{2BF6AFEA-AF17-9ED0-BAC8-8CA87F997253}"/>
              </a:ext>
            </a:extLst>
          </p:cNvPr>
          <p:cNvSpPr txBox="1"/>
          <p:nvPr/>
        </p:nvSpPr>
        <p:spPr>
          <a:xfrm>
            <a:off x="3643823" y="4609952"/>
            <a:ext cx="5219699" cy="646331"/>
          </a:xfrm>
          <a:prstGeom prst="rect">
            <a:avLst/>
          </a:prstGeom>
          <a:noFill/>
        </p:spPr>
        <p:txBody>
          <a:bodyPr wrap="none" rtlCol="0">
            <a:spAutoFit/>
          </a:bodyPr>
          <a:lstStyle/>
          <a:p>
            <a:pPr algn="ctr"/>
            <a:r>
              <a:rPr lang="fr-FR" dirty="0" err="1"/>
              <a:t>You’re</a:t>
            </a:r>
            <a:r>
              <a:rPr lang="fr-FR" dirty="0"/>
              <a:t> all set. Check </a:t>
            </a:r>
            <a:r>
              <a:rPr lang="fr-FR" dirty="0" err="1"/>
              <a:t>your</a:t>
            </a:r>
            <a:r>
              <a:rPr lang="fr-FR" dirty="0"/>
              <a:t> email to </a:t>
            </a:r>
            <a:r>
              <a:rPr lang="fr-FR" dirty="0" err="1"/>
              <a:t>get</a:t>
            </a:r>
            <a:r>
              <a:rPr lang="fr-FR" dirty="0"/>
              <a:t> </a:t>
            </a:r>
            <a:r>
              <a:rPr lang="fr-FR" dirty="0" err="1"/>
              <a:t>starded</a:t>
            </a:r>
            <a:r>
              <a:rPr lang="fr-FR" dirty="0"/>
              <a:t> </a:t>
            </a:r>
            <a:r>
              <a:rPr lang="fr-FR" dirty="0" err="1"/>
              <a:t>with</a:t>
            </a:r>
            <a:endParaRPr lang="fr-FR" dirty="0"/>
          </a:p>
          <a:p>
            <a:pPr algn="ctr"/>
            <a:r>
              <a:rPr lang="fr-FR" dirty="0" err="1"/>
              <a:t>Your</a:t>
            </a:r>
            <a:r>
              <a:rPr lang="fr-FR" dirty="0"/>
              <a:t> free 30-day trial/</a:t>
            </a:r>
          </a:p>
        </p:txBody>
      </p:sp>
      <p:sp>
        <p:nvSpPr>
          <p:cNvPr id="8" name="Rectangle 7">
            <a:extLst>
              <a:ext uri="{FF2B5EF4-FFF2-40B4-BE49-F238E27FC236}">
                <a16:creationId xmlns:a16="http://schemas.microsoft.com/office/drawing/2014/main" id="{A652DEC7-6CE9-B5D5-1883-0D25F1DD4ADB}"/>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9" name="Espace réservé du pied de page 8">
            <a:extLst>
              <a:ext uri="{FF2B5EF4-FFF2-40B4-BE49-F238E27FC236}">
                <a16:creationId xmlns:a16="http://schemas.microsoft.com/office/drawing/2014/main" id="{E8473EE1-E4BB-E29D-CFA2-AC80AF025A5A}"/>
              </a:ext>
            </a:extLst>
          </p:cNvPr>
          <p:cNvSpPr>
            <a:spLocks noGrp="1"/>
          </p:cNvSpPr>
          <p:nvPr>
            <p:ph type="ftr" sz="quarter" idx="11"/>
          </p:nvPr>
        </p:nvSpPr>
        <p:spPr/>
        <p:txBody>
          <a:bodyPr/>
          <a:lstStyle/>
          <a:p>
            <a:r>
              <a:rPr lang="fr-FR"/>
              <a:t>Evaluaiton avec un micro projet HTML-CSS</a:t>
            </a:r>
          </a:p>
        </p:txBody>
      </p:sp>
      <p:sp>
        <p:nvSpPr>
          <p:cNvPr id="10" name="Espace réservé du numéro de diapositive 9">
            <a:extLst>
              <a:ext uri="{FF2B5EF4-FFF2-40B4-BE49-F238E27FC236}">
                <a16:creationId xmlns:a16="http://schemas.microsoft.com/office/drawing/2014/main" id="{74CE2304-9C83-77E8-BB20-C2047CDD6C74}"/>
              </a:ext>
            </a:extLst>
          </p:cNvPr>
          <p:cNvSpPr>
            <a:spLocks noGrp="1"/>
          </p:cNvSpPr>
          <p:nvPr>
            <p:ph type="sldNum" sz="quarter" idx="12"/>
          </p:nvPr>
        </p:nvSpPr>
        <p:spPr/>
        <p:txBody>
          <a:bodyPr/>
          <a:lstStyle/>
          <a:p>
            <a:fld id="{61A50371-3F2D-4FEF-B603-773838516A24}" type="slidenum">
              <a:rPr lang="fr-FR" smtClean="0"/>
              <a:t>9</a:t>
            </a:fld>
            <a:endParaRPr lang="fr-FR"/>
          </a:p>
        </p:txBody>
      </p:sp>
    </p:spTree>
    <p:extLst>
      <p:ext uri="{BB962C8B-B14F-4D97-AF65-F5344CB8AC3E}">
        <p14:creationId xmlns:p14="http://schemas.microsoft.com/office/powerpoint/2010/main" val="3421391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66D2F9F-2653-1F11-798E-CAF9E88DE93B}"/>
              </a:ext>
            </a:extLst>
          </p:cNvPr>
          <p:cNvPicPr>
            <a:picLocks noChangeAspect="1"/>
          </p:cNvPicPr>
          <p:nvPr/>
        </p:nvPicPr>
        <p:blipFill>
          <a:blip r:embed="rId2">
            <a:clrChange>
              <a:clrFrom>
                <a:srgbClr val="F8F8F8"/>
              </a:clrFrom>
              <a:clrTo>
                <a:srgbClr val="F8F8F8">
                  <a:alpha val="0"/>
                </a:srgbClr>
              </a:clrTo>
            </a:clrChange>
          </a:blip>
          <a:srcRect l="22656" t="52519" r="68510" b="33851"/>
          <a:stretch>
            <a:fillRect/>
          </a:stretch>
        </p:blipFill>
        <p:spPr>
          <a:xfrm>
            <a:off x="2056848" y="2420620"/>
            <a:ext cx="1662264" cy="1442720"/>
          </a:xfrm>
          <a:prstGeom prst="rect">
            <a:avLst/>
          </a:prstGeom>
        </p:spPr>
      </p:pic>
      <p:pic>
        <p:nvPicPr>
          <p:cNvPr id="4" name="Image 3">
            <a:extLst>
              <a:ext uri="{FF2B5EF4-FFF2-40B4-BE49-F238E27FC236}">
                <a16:creationId xmlns:a16="http://schemas.microsoft.com/office/drawing/2014/main" id="{F94AFAD2-AD59-DEC5-E69C-3E64D7831B20}"/>
              </a:ext>
            </a:extLst>
          </p:cNvPr>
          <p:cNvPicPr>
            <a:picLocks noChangeAspect="1"/>
          </p:cNvPicPr>
          <p:nvPr/>
        </p:nvPicPr>
        <p:blipFill>
          <a:blip r:embed="rId2">
            <a:clrChange>
              <a:clrFrom>
                <a:srgbClr val="F8F8F8"/>
              </a:clrFrom>
              <a:clrTo>
                <a:srgbClr val="F8F8F8">
                  <a:alpha val="0"/>
                </a:srgbClr>
              </a:clrTo>
            </a:clrChange>
          </a:blip>
          <a:srcRect l="44156" t="52815" r="44261" b="32370"/>
          <a:stretch>
            <a:fillRect/>
          </a:stretch>
        </p:blipFill>
        <p:spPr>
          <a:xfrm>
            <a:off x="4761396" y="2544043"/>
            <a:ext cx="1662264" cy="1195873"/>
          </a:xfrm>
          <a:prstGeom prst="rect">
            <a:avLst/>
          </a:prstGeom>
        </p:spPr>
      </p:pic>
      <p:pic>
        <p:nvPicPr>
          <p:cNvPr id="5" name="Image 4">
            <a:extLst>
              <a:ext uri="{FF2B5EF4-FFF2-40B4-BE49-F238E27FC236}">
                <a16:creationId xmlns:a16="http://schemas.microsoft.com/office/drawing/2014/main" id="{1A4DFF7A-57DA-01AC-8CC6-5D142962CEE1}"/>
              </a:ext>
            </a:extLst>
          </p:cNvPr>
          <p:cNvPicPr>
            <a:picLocks noChangeAspect="1"/>
          </p:cNvPicPr>
          <p:nvPr/>
        </p:nvPicPr>
        <p:blipFill>
          <a:blip r:embed="rId2">
            <a:clrChange>
              <a:clrFrom>
                <a:srgbClr val="F8F8F8"/>
              </a:clrFrom>
              <a:clrTo>
                <a:srgbClr val="F8F8F8">
                  <a:alpha val="0"/>
                </a:srgbClr>
              </a:clrTo>
            </a:clrChange>
          </a:blip>
          <a:srcRect l="68990" t="55185" r="24010" b="33407"/>
          <a:stretch>
            <a:fillRect/>
          </a:stretch>
        </p:blipFill>
        <p:spPr>
          <a:xfrm>
            <a:off x="7465944" y="2544043"/>
            <a:ext cx="1511852" cy="1385864"/>
          </a:xfrm>
          <a:prstGeom prst="rect">
            <a:avLst/>
          </a:prstGeom>
        </p:spPr>
      </p:pic>
      <p:sp>
        <p:nvSpPr>
          <p:cNvPr id="7" name="ZoneTexte 6">
            <a:extLst>
              <a:ext uri="{FF2B5EF4-FFF2-40B4-BE49-F238E27FC236}">
                <a16:creationId xmlns:a16="http://schemas.microsoft.com/office/drawing/2014/main" id="{77A23042-3534-75DA-24FD-C093E3430524}"/>
              </a:ext>
            </a:extLst>
          </p:cNvPr>
          <p:cNvSpPr txBox="1"/>
          <p:nvPr/>
        </p:nvSpPr>
        <p:spPr>
          <a:xfrm>
            <a:off x="1943100" y="3863340"/>
            <a:ext cx="1662264" cy="276999"/>
          </a:xfrm>
          <a:prstGeom prst="rect">
            <a:avLst/>
          </a:prstGeom>
          <a:noFill/>
        </p:spPr>
        <p:txBody>
          <a:bodyPr wrap="square" rtlCol="0">
            <a:spAutoFit/>
          </a:bodyPr>
          <a:lstStyle/>
          <a:p>
            <a:pPr algn="ctr"/>
            <a:r>
              <a:rPr lang="fr-FR" sz="1200" b="1" dirty="0"/>
              <a:t>User guides</a:t>
            </a:r>
          </a:p>
        </p:txBody>
      </p:sp>
      <p:sp>
        <p:nvSpPr>
          <p:cNvPr id="8" name="ZoneTexte 7">
            <a:extLst>
              <a:ext uri="{FF2B5EF4-FFF2-40B4-BE49-F238E27FC236}">
                <a16:creationId xmlns:a16="http://schemas.microsoft.com/office/drawing/2014/main" id="{772CB76C-D50C-0C34-1F15-E594AC00CC8E}"/>
              </a:ext>
            </a:extLst>
          </p:cNvPr>
          <p:cNvSpPr txBox="1"/>
          <p:nvPr/>
        </p:nvSpPr>
        <p:spPr>
          <a:xfrm>
            <a:off x="3904255" y="3863339"/>
            <a:ext cx="3149600" cy="261610"/>
          </a:xfrm>
          <a:prstGeom prst="rect">
            <a:avLst/>
          </a:prstGeom>
          <a:noFill/>
        </p:spPr>
        <p:txBody>
          <a:bodyPr wrap="square" rtlCol="0">
            <a:spAutoFit/>
          </a:bodyPr>
          <a:lstStyle/>
          <a:p>
            <a:pPr algn="ctr"/>
            <a:r>
              <a:rPr lang="fr-FR" sz="1100" b="1" dirty="0" err="1"/>
              <a:t>Learn</a:t>
            </a:r>
            <a:r>
              <a:rPr lang="fr-FR" sz="1100" b="1" dirty="0"/>
              <a:t> more about the PGI CUST AI </a:t>
            </a:r>
            <a:r>
              <a:rPr lang="fr-FR" sz="1100" b="1" dirty="0" err="1"/>
              <a:t>advantage</a:t>
            </a:r>
            <a:endParaRPr lang="fr-FR" sz="1100" b="1" dirty="0"/>
          </a:p>
        </p:txBody>
      </p:sp>
      <p:sp>
        <p:nvSpPr>
          <p:cNvPr id="9" name="ZoneTexte 8">
            <a:extLst>
              <a:ext uri="{FF2B5EF4-FFF2-40B4-BE49-F238E27FC236}">
                <a16:creationId xmlns:a16="http://schemas.microsoft.com/office/drawing/2014/main" id="{007FA786-2FA7-28F6-2AA9-D92A3BA45F44}"/>
              </a:ext>
            </a:extLst>
          </p:cNvPr>
          <p:cNvSpPr txBox="1"/>
          <p:nvPr/>
        </p:nvSpPr>
        <p:spPr>
          <a:xfrm>
            <a:off x="7096208" y="3863340"/>
            <a:ext cx="2334812" cy="276999"/>
          </a:xfrm>
          <a:prstGeom prst="rect">
            <a:avLst/>
          </a:prstGeom>
          <a:noFill/>
        </p:spPr>
        <p:txBody>
          <a:bodyPr wrap="square" rtlCol="0">
            <a:spAutoFit/>
          </a:bodyPr>
          <a:lstStyle/>
          <a:p>
            <a:pPr algn="ctr"/>
            <a:r>
              <a:rPr lang="fr-FR" sz="1200" b="1" dirty="0" err="1"/>
              <a:t>Proven</a:t>
            </a:r>
            <a:r>
              <a:rPr lang="fr-FR" sz="1200" b="1" dirty="0"/>
              <a:t> </a:t>
            </a:r>
            <a:r>
              <a:rPr lang="fr-FR" sz="1200" b="1" dirty="0" err="1"/>
              <a:t>customer</a:t>
            </a:r>
            <a:r>
              <a:rPr lang="fr-FR" sz="1200" b="1" dirty="0"/>
              <a:t> </a:t>
            </a:r>
            <a:r>
              <a:rPr lang="fr-FR" sz="1200" b="1" dirty="0" err="1"/>
              <a:t>success</a:t>
            </a:r>
            <a:endParaRPr lang="fr-FR" sz="1200" b="1" dirty="0"/>
          </a:p>
        </p:txBody>
      </p:sp>
      <p:sp>
        <p:nvSpPr>
          <p:cNvPr id="10" name="ZoneTexte 9">
            <a:extLst>
              <a:ext uri="{FF2B5EF4-FFF2-40B4-BE49-F238E27FC236}">
                <a16:creationId xmlns:a16="http://schemas.microsoft.com/office/drawing/2014/main" id="{9408EEF4-7295-FC1A-8FB1-AEA0611F4DF5}"/>
              </a:ext>
            </a:extLst>
          </p:cNvPr>
          <p:cNvSpPr txBox="1"/>
          <p:nvPr/>
        </p:nvSpPr>
        <p:spPr>
          <a:xfrm>
            <a:off x="1428751" y="4140339"/>
            <a:ext cx="2475504" cy="507831"/>
          </a:xfrm>
          <a:prstGeom prst="rect">
            <a:avLst/>
          </a:prstGeom>
          <a:noFill/>
        </p:spPr>
        <p:txBody>
          <a:bodyPr wrap="square" rtlCol="0">
            <a:spAutoFit/>
          </a:bodyPr>
          <a:lstStyle/>
          <a:p>
            <a:pPr algn="ctr"/>
            <a:r>
              <a:rPr lang="fr-FR" sz="900" dirty="0" err="1"/>
              <a:t>Learn</a:t>
            </a:r>
            <a:r>
              <a:rPr lang="fr-FR" sz="900" dirty="0"/>
              <a:t> how manage PGI CUST apps, </a:t>
            </a:r>
            <a:r>
              <a:rPr lang="fr-FR" sz="900" dirty="0" err="1"/>
              <a:t>create</a:t>
            </a:r>
            <a:r>
              <a:rPr lang="fr-FR" sz="900" dirty="0"/>
              <a:t> </a:t>
            </a:r>
            <a:r>
              <a:rPr lang="fr-FR" sz="900" dirty="0" err="1"/>
              <a:t>customers</a:t>
            </a:r>
            <a:r>
              <a:rPr lang="fr-FR" sz="900" dirty="0"/>
              <a:t>, </a:t>
            </a:r>
            <a:r>
              <a:rPr lang="fr-FR" sz="900" dirty="0" err="1"/>
              <a:t>collaborate</a:t>
            </a:r>
            <a:r>
              <a:rPr lang="fr-FR" sz="900" dirty="0"/>
              <a:t> </a:t>
            </a:r>
            <a:r>
              <a:rPr lang="fr-FR" sz="900" dirty="0" err="1"/>
              <a:t>with</a:t>
            </a:r>
            <a:r>
              <a:rPr lang="fr-FR" sz="900" dirty="0"/>
              <a:t> A.I, and </a:t>
            </a:r>
            <a:r>
              <a:rPr lang="fr-FR" sz="900" dirty="0" err="1"/>
              <a:t>validate</a:t>
            </a:r>
            <a:r>
              <a:rPr lang="fr-FR" sz="900" dirty="0"/>
              <a:t> </a:t>
            </a:r>
            <a:r>
              <a:rPr lang="fr-FR" sz="900" dirty="0" err="1"/>
              <a:t>somes</a:t>
            </a:r>
            <a:r>
              <a:rPr lang="fr-FR" sz="900" dirty="0"/>
              <a:t> leads</a:t>
            </a:r>
          </a:p>
        </p:txBody>
      </p:sp>
      <p:sp>
        <p:nvSpPr>
          <p:cNvPr id="11" name="ZoneTexte 10">
            <a:extLst>
              <a:ext uri="{FF2B5EF4-FFF2-40B4-BE49-F238E27FC236}">
                <a16:creationId xmlns:a16="http://schemas.microsoft.com/office/drawing/2014/main" id="{A401DD47-236F-78B0-98C1-E41257377C21}"/>
              </a:ext>
            </a:extLst>
          </p:cNvPr>
          <p:cNvSpPr txBox="1"/>
          <p:nvPr/>
        </p:nvSpPr>
        <p:spPr>
          <a:xfrm>
            <a:off x="4169206" y="4209588"/>
            <a:ext cx="2779311" cy="369332"/>
          </a:xfrm>
          <a:prstGeom prst="rect">
            <a:avLst/>
          </a:prstGeom>
          <a:noFill/>
        </p:spPr>
        <p:txBody>
          <a:bodyPr wrap="square" rtlCol="0">
            <a:spAutoFit/>
          </a:bodyPr>
          <a:lstStyle/>
          <a:p>
            <a:pPr algn="ctr"/>
            <a:r>
              <a:rPr lang="fr-FR" sz="900" dirty="0"/>
              <a:t>Compose </a:t>
            </a:r>
            <a:r>
              <a:rPr lang="fr-FR" sz="900" dirty="0" err="1"/>
              <a:t>compelling</a:t>
            </a:r>
            <a:r>
              <a:rPr lang="fr-FR" sz="900" dirty="0"/>
              <a:t> lead and copy prospect,</a:t>
            </a:r>
          </a:p>
          <a:p>
            <a:pPr algn="ctr"/>
            <a:r>
              <a:rPr lang="fr-FR" sz="900" dirty="0" err="1"/>
              <a:t>Generate</a:t>
            </a:r>
            <a:r>
              <a:rPr lang="fr-FR" sz="900" dirty="0"/>
              <a:t> </a:t>
            </a:r>
            <a:r>
              <a:rPr lang="fr-FR" sz="900" dirty="0" err="1"/>
              <a:t>customers</a:t>
            </a:r>
            <a:r>
              <a:rPr lang="fr-FR" sz="900" dirty="0"/>
              <a:t> and leads, and more business</a:t>
            </a:r>
          </a:p>
        </p:txBody>
      </p:sp>
      <p:sp>
        <p:nvSpPr>
          <p:cNvPr id="12" name="ZoneTexte 11">
            <a:extLst>
              <a:ext uri="{FF2B5EF4-FFF2-40B4-BE49-F238E27FC236}">
                <a16:creationId xmlns:a16="http://schemas.microsoft.com/office/drawing/2014/main" id="{00A7B003-2148-C5EF-292E-1D2FFCDFFA4A}"/>
              </a:ext>
            </a:extLst>
          </p:cNvPr>
          <p:cNvSpPr txBox="1"/>
          <p:nvPr/>
        </p:nvSpPr>
        <p:spPr>
          <a:xfrm>
            <a:off x="7104762" y="4150488"/>
            <a:ext cx="2636138" cy="369332"/>
          </a:xfrm>
          <a:prstGeom prst="rect">
            <a:avLst/>
          </a:prstGeom>
          <a:noFill/>
        </p:spPr>
        <p:txBody>
          <a:bodyPr wrap="square" rtlCol="0">
            <a:spAutoFit/>
          </a:bodyPr>
          <a:lstStyle/>
          <a:p>
            <a:pPr algn="ctr"/>
            <a:r>
              <a:rPr lang="fr-FR" sz="900" dirty="0"/>
              <a:t>How the irish Rugby Football </a:t>
            </a:r>
            <a:r>
              <a:rPr lang="fr-FR" sz="900" dirty="0" err="1"/>
              <a:t>Unon</a:t>
            </a:r>
            <a:r>
              <a:rPr lang="fr-FR" sz="900" dirty="0"/>
              <a:t> has </a:t>
            </a:r>
            <a:r>
              <a:rPr lang="fr-FR" sz="900" dirty="0" err="1"/>
              <a:t>expanded</a:t>
            </a:r>
            <a:endParaRPr lang="fr-FR" sz="900" dirty="0"/>
          </a:p>
          <a:p>
            <a:pPr algn="ctr"/>
            <a:r>
              <a:rPr lang="fr-FR" sz="900" dirty="0" err="1"/>
              <a:t>Their</a:t>
            </a:r>
            <a:r>
              <a:rPr lang="fr-FR" sz="900" dirty="0"/>
              <a:t> use of PGI CUST for more efficient</a:t>
            </a:r>
          </a:p>
        </p:txBody>
      </p:sp>
      <p:sp>
        <p:nvSpPr>
          <p:cNvPr id="14" name="ZoneTexte 13">
            <a:extLst>
              <a:ext uri="{FF2B5EF4-FFF2-40B4-BE49-F238E27FC236}">
                <a16:creationId xmlns:a16="http://schemas.microsoft.com/office/drawing/2014/main" id="{2F008D00-2544-C0DA-DF56-EC806EA47ED8}"/>
              </a:ext>
            </a:extLst>
          </p:cNvPr>
          <p:cNvSpPr txBox="1"/>
          <p:nvPr/>
        </p:nvSpPr>
        <p:spPr>
          <a:xfrm>
            <a:off x="914400" y="767964"/>
            <a:ext cx="9931400" cy="954107"/>
          </a:xfrm>
          <a:prstGeom prst="rect">
            <a:avLst/>
          </a:prstGeom>
          <a:noFill/>
        </p:spPr>
        <p:txBody>
          <a:bodyPr wrap="square" rtlCol="0">
            <a:spAutoFit/>
          </a:bodyPr>
          <a:lstStyle/>
          <a:p>
            <a:pPr algn="ctr"/>
            <a:r>
              <a:rPr lang="fr-FR" sz="2800" b="1" dirty="0"/>
              <a:t>Not sur </a:t>
            </a:r>
            <a:r>
              <a:rPr lang="fr-FR" sz="2800" b="1" dirty="0" err="1"/>
              <a:t>where</a:t>
            </a:r>
            <a:r>
              <a:rPr lang="fr-FR" sz="2800" b="1" dirty="0"/>
              <a:t> to start ?</a:t>
            </a:r>
          </a:p>
          <a:p>
            <a:pPr algn="ctr"/>
            <a:r>
              <a:rPr lang="fr-FR" sz="2800" b="1" dirty="0" err="1"/>
              <a:t>We’ve</a:t>
            </a:r>
            <a:r>
              <a:rPr lang="fr-FR" sz="2800" b="1" dirty="0"/>
              <a:t> </a:t>
            </a:r>
            <a:r>
              <a:rPr lang="fr-FR" sz="2800" b="1" dirty="0" err="1"/>
              <a:t>got</a:t>
            </a:r>
            <a:r>
              <a:rPr lang="fr-FR" sz="2800" b="1" dirty="0"/>
              <a:t> </a:t>
            </a:r>
            <a:r>
              <a:rPr lang="fr-FR" sz="2800" b="1" dirty="0" err="1"/>
              <a:t>you</a:t>
            </a:r>
            <a:r>
              <a:rPr lang="fr-FR" sz="2800" b="1" dirty="0"/>
              <a:t> </a:t>
            </a:r>
            <a:r>
              <a:rPr lang="fr-FR" sz="2800" b="1" dirty="0" err="1"/>
              <a:t>covered</a:t>
            </a:r>
            <a:r>
              <a:rPr lang="fr-FR" sz="2800" b="1" dirty="0"/>
              <a:t>. </a:t>
            </a:r>
            <a:r>
              <a:rPr lang="fr-FR" sz="2800" b="1" dirty="0" err="1"/>
              <a:t>Here</a:t>
            </a:r>
            <a:r>
              <a:rPr lang="fr-FR" sz="2800" b="1" dirty="0"/>
              <a:t> are </a:t>
            </a:r>
            <a:r>
              <a:rPr lang="fr-FR" sz="2800" b="1" dirty="0" err="1"/>
              <a:t>some</a:t>
            </a:r>
            <a:r>
              <a:rPr lang="fr-FR" sz="2800" b="1" dirty="0"/>
              <a:t> </a:t>
            </a:r>
            <a:r>
              <a:rPr lang="fr-FR" sz="2800" b="1" dirty="0" err="1"/>
              <a:t>helful</a:t>
            </a:r>
            <a:r>
              <a:rPr lang="fr-FR" sz="2800" b="1" dirty="0"/>
              <a:t> </a:t>
            </a:r>
            <a:r>
              <a:rPr lang="fr-FR" sz="2800" b="1" dirty="0" err="1"/>
              <a:t>resources</a:t>
            </a:r>
            <a:r>
              <a:rPr lang="fr-FR" sz="2800" b="1" dirty="0"/>
              <a:t> :</a:t>
            </a:r>
          </a:p>
        </p:txBody>
      </p:sp>
      <p:sp>
        <p:nvSpPr>
          <p:cNvPr id="15" name="Rectangle 14">
            <a:extLst>
              <a:ext uri="{FF2B5EF4-FFF2-40B4-BE49-F238E27FC236}">
                <a16:creationId xmlns:a16="http://schemas.microsoft.com/office/drawing/2014/main" id="{97F5DA84-8092-3209-6304-C6E61ADBB3BA}"/>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16" name="Espace réservé du pied de page 15">
            <a:extLst>
              <a:ext uri="{FF2B5EF4-FFF2-40B4-BE49-F238E27FC236}">
                <a16:creationId xmlns:a16="http://schemas.microsoft.com/office/drawing/2014/main" id="{18D387D9-FEE2-7B5A-6EE7-907872DB99A6}"/>
              </a:ext>
            </a:extLst>
          </p:cNvPr>
          <p:cNvSpPr>
            <a:spLocks noGrp="1"/>
          </p:cNvSpPr>
          <p:nvPr>
            <p:ph type="ftr" sz="quarter" idx="11"/>
          </p:nvPr>
        </p:nvSpPr>
        <p:spPr/>
        <p:txBody>
          <a:bodyPr/>
          <a:lstStyle/>
          <a:p>
            <a:r>
              <a:rPr lang="fr-FR"/>
              <a:t>Evaluaiton avec un micro projet HTML-CSS</a:t>
            </a:r>
          </a:p>
        </p:txBody>
      </p:sp>
      <p:sp>
        <p:nvSpPr>
          <p:cNvPr id="17" name="Espace réservé du numéro de diapositive 16">
            <a:extLst>
              <a:ext uri="{FF2B5EF4-FFF2-40B4-BE49-F238E27FC236}">
                <a16:creationId xmlns:a16="http://schemas.microsoft.com/office/drawing/2014/main" id="{3B06D33B-09CB-2D64-2DF8-0E2DB81FA181}"/>
              </a:ext>
            </a:extLst>
          </p:cNvPr>
          <p:cNvSpPr>
            <a:spLocks noGrp="1"/>
          </p:cNvSpPr>
          <p:nvPr>
            <p:ph type="sldNum" sz="quarter" idx="12"/>
          </p:nvPr>
        </p:nvSpPr>
        <p:spPr/>
        <p:txBody>
          <a:bodyPr/>
          <a:lstStyle/>
          <a:p>
            <a:fld id="{61A50371-3F2D-4FEF-B603-773838516A24}" type="slidenum">
              <a:rPr lang="fr-FR" smtClean="0"/>
              <a:t>10</a:t>
            </a:fld>
            <a:endParaRPr lang="fr-FR"/>
          </a:p>
        </p:txBody>
      </p:sp>
    </p:spTree>
    <p:extLst>
      <p:ext uri="{BB962C8B-B14F-4D97-AF65-F5344CB8AC3E}">
        <p14:creationId xmlns:p14="http://schemas.microsoft.com/office/powerpoint/2010/main" val="3657552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51E52-F201-1ADF-2527-69B050F8DB00}"/>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B17825F-20A5-9373-09F3-65E46464F802}"/>
              </a:ext>
            </a:extLst>
          </p:cNvPr>
          <p:cNvPicPr>
            <a:picLocks noChangeAspect="1"/>
          </p:cNvPicPr>
          <p:nvPr/>
        </p:nvPicPr>
        <p:blipFill>
          <a:blip r:embed="rId2"/>
          <a:srcRect t="8889" r="39896" b="5000"/>
          <a:stretch>
            <a:fillRect/>
          </a:stretch>
        </p:blipFill>
        <p:spPr>
          <a:xfrm>
            <a:off x="0" y="0"/>
            <a:ext cx="7327900" cy="6858000"/>
          </a:xfrm>
          <a:prstGeom prst="rect">
            <a:avLst/>
          </a:prstGeom>
        </p:spPr>
      </p:pic>
      <p:sp>
        <p:nvSpPr>
          <p:cNvPr id="2" name="Rectangle : coins arrondis 1">
            <a:extLst>
              <a:ext uri="{FF2B5EF4-FFF2-40B4-BE49-F238E27FC236}">
                <a16:creationId xmlns:a16="http://schemas.microsoft.com/office/drawing/2014/main" id="{627EDE6E-E0ED-4BBD-098F-45F69B608A1D}"/>
              </a:ext>
            </a:extLst>
          </p:cNvPr>
          <p:cNvSpPr/>
          <p:nvPr/>
        </p:nvSpPr>
        <p:spPr>
          <a:xfrm>
            <a:off x="7978140" y="1082041"/>
            <a:ext cx="3771900" cy="37033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Rectangle 3">
            <a:extLst>
              <a:ext uri="{FF2B5EF4-FFF2-40B4-BE49-F238E27FC236}">
                <a16:creationId xmlns:a16="http://schemas.microsoft.com/office/drawing/2014/main" id="{D9CA6278-EF81-20D6-FB69-30A56801F968}"/>
              </a:ext>
            </a:extLst>
          </p:cNvPr>
          <p:cNvSpPr/>
          <p:nvPr/>
        </p:nvSpPr>
        <p:spPr>
          <a:xfrm>
            <a:off x="8082915" y="285273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err="1">
                <a:solidFill>
                  <a:schemeClr val="bg2">
                    <a:lumMod val="50000"/>
                  </a:schemeClr>
                </a:solidFill>
              </a:rPr>
              <a:t>Your</a:t>
            </a:r>
            <a:r>
              <a:rPr lang="fr-FR" sz="1100" dirty="0">
                <a:solidFill>
                  <a:schemeClr val="bg2">
                    <a:lumMod val="50000"/>
                  </a:schemeClr>
                </a:solidFill>
              </a:rPr>
              <a:t> Email</a:t>
            </a:r>
          </a:p>
        </p:txBody>
      </p:sp>
      <p:sp>
        <p:nvSpPr>
          <p:cNvPr id="5" name="Rectangle 4">
            <a:extLst>
              <a:ext uri="{FF2B5EF4-FFF2-40B4-BE49-F238E27FC236}">
                <a16:creationId xmlns:a16="http://schemas.microsoft.com/office/drawing/2014/main" id="{97544EBC-A4B9-7151-EC31-739F15DBF347}"/>
              </a:ext>
            </a:extLst>
          </p:cNvPr>
          <p:cNvSpPr/>
          <p:nvPr/>
        </p:nvSpPr>
        <p:spPr>
          <a:xfrm>
            <a:off x="8082914" y="330993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18" name="Rectangle : coins arrondis 17">
            <a:extLst>
              <a:ext uri="{FF2B5EF4-FFF2-40B4-BE49-F238E27FC236}">
                <a16:creationId xmlns:a16="http://schemas.microsoft.com/office/drawing/2014/main" id="{138715D0-E1F8-C236-DC30-C29C6ECB238B}"/>
              </a:ext>
            </a:extLst>
          </p:cNvPr>
          <p:cNvSpPr/>
          <p:nvPr/>
        </p:nvSpPr>
        <p:spPr>
          <a:xfrm>
            <a:off x="8449854" y="3861910"/>
            <a:ext cx="2374900" cy="361950"/>
          </a:xfrm>
          <a:prstGeom prst="roundRect">
            <a:avLst/>
          </a:prstGeom>
          <a:solidFill>
            <a:srgbClr val="52B4E6"/>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Se connecter</a:t>
            </a:r>
          </a:p>
        </p:txBody>
      </p:sp>
      <p:sp>
        <p:nvSpPr>
          <p:cNvPr id="19" name="ZoneTexte 18">
            <a:extLst>
              <a:ext uri="{FF2B5EF4-FFF2-40B4-BE49-F238E27FC236}">
                <a16:creationId xmlns:a16="http://schemas.microsoft.com/office/drawing/2014/main" id="{BDA8589E-1829-99FD-77E3-544333DAD7E6}"/>
              </a:ext>
            </a:extLst>
          </p:cNvPr>
          <p:cNvSpPr txBox="1"/>
          <p:nvPr/>
        </p:nvSpPr>
        <p:spPr>
          <a:xfrm>
            <a:off x="7978140" y="2147080"/>
            <a:ext cx="1731884" cy="400110"/>
          </a:xfrm>
          <a:prstGeom prst="rect">
            <a:avLst/>
          </a:prstGeom>
          <a:noFill/>
        </p:spPr>
        <p:txBody>
          <a:bodyPr wrap="none" rtlCol="0">
            <a:spAutoFit/>
          </a:bodyPr>
          <a:lstStyle/>
          <a:p>
            <a:r>
              <a:rPr lang="fr-FR" sz="2000" b="1" dirty="0"/>
              <a:t>Se connecter</a:t>
            </a:r>
          </a:p>
        </p:txBody>
      </p:sp>
      <p:sp>
        <p:nvSpPr>
          <p:cNvPr id="20" name="ZoneTexte 19">
            <a:extLst>
              <a:ext uri="{FF2B5EF4-FFF2-40B4-BE49-F238E27FC236}">
                <a16:creationId xmlns:a16="http://schemas.microsoft.com/office/drawing/2014/main" id="{4CC46D4C-2AB9-8D65-D3FE-DB572E0DC3B1}"/>
              </a:ext>
            </a:extLst>
          </p:cNvPr>
          <p:cNvSpPr txBox="1"/>
          <p:nvPr/>
        </p:nvSpPr>
        <p:spPr>
          <a:xfrm>
            <a:off x="7978140" y="4317885"/>
            <a:ext cx="1569660" cy="261610"/>
          </a:xfrm>
          <a:prstGeom prst="rect">
            <a:avLst/>
          </a:prstGeom>
          <a:noFill/>
        </p:spPr>
        <p:txBody>
          <a:bodyPr wrap="none" rtlCol="0">
            <a:spAutoFit/>
          </a:bodyPr>
          <a:lstStyle/>
          <a:p>
            <a:r>
              <a:rPr lang="fr-FR" sz="1100" b="1" dirty="0">
                <a:solidFill>
                  <a:srgbClr val="52B4E6"/>
                </a:solidFill>
              </a:rPr>
              <a:t>Mot de passe oublié ?</a:t>
            </a:r>
          </a:p>
        </p:txBody>
      </p:sp>
      <p:pic>
        <p:nvPicPr>
          <p:cNvPr id="21" name="Image 20">
            <a:extLst>
              <a:ext uri="{FF2B5EF4-FFF2-40B4-BE49-F238E27FC236}">
                <a16:creationId xmlns:a16="http://schemas.microsoft.com/office/drawing/2014/main" id="{681ABD0C-EB07-E634-E67D-AE80C6902674}"/>
              </a:ext>
            </a:extLst>
          </p:cNvPr>
          <p:cNvPicPr>
            <a:picLocks noChangeAspect="1"/>
          </p:cNvPicPr>
          <p:nvPr/>
        </p:nvPicPr>
        <p:blipFill>
          <a:blip r:embed="rId3"/>
          <a:stretch>
            <a:fillRect/>
          </a:stretch>
        </p:blipFill>
        <p:spPr>
          <a:xfrm>
            <a:off x="8577722" y="1006957"/>
            <a:ext cx="2572735" cy="859611"/>
          </a:xfrm>
          <a:prstGeom prst="rect">
            <a:avLst/>
          </a:prstGeom>
        </p:spPr>
      </p:pic>
      <p:sp>
        <p:nvSpPr>
          <p:cNvPr id="22" name="Rectangle 21">
            <a:extLst>
              <a:ext uri="{FF2B5EF4-FFF2-40B4-BE49-F238E27FC236}">
                <a16:creationId xmlns:a16="http://schemas.microsoft.com/office/drawing/2014/main" id="{33B619C1-49DD-4F30-FE8B-203459C6243A}"/>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P3</a:t>
            </a:r>
          </a:p>
        </p:txBody>
      </p:sp>
      <p:sp>
        <p:nvSpPr>
          <p:cNvPr id="23" name="Espace réservé du pied de page 22">
            <a:extLst>
              <a:ext uri="{FF2B5EF4-FFF2-40B4-BE49-F238E27FC236}">
                <a16:creationId xmlns:a16="http://schemas.microsoft.com/office/drawing/2014/main" id="{EA49701F-3C6D-0282-F44F-4446CEA43C2C}"/>
              </a:ext>
            </a:extLst>
          </p:cNvPr>
          <p:cNvSpPr>
            <a:spLocks noGrp="1"/>
          </p:cNvSpPr>
          <p:nvPr>
            <p:ph type="ftr" sz="quarter" idx="11"/>
          </p:nvPr>
        </p:nvSpPr>
        <p:spPr/>
        <p:txBody>
          <a:bodyPr/>
          <a:lstStyle/>
          <a:p>
            <a:r>
              <a:rPr lang="fr-FR"/>
              <a:t>Evaluaiton avec un micro projet HTML-CSS</a:t>
            </a:r>
          </a:p>
        </p:txBody>
      </p:sp>
      <p:sp>
        <p:nvSpPr>
          <p:cNvPr id="24" name="Espace réservé du numéro de diapositive 23">
            <a:extLst>
              <a:ext uri="{FF2B5EF4-FFF2-40B4-BE49-F238E27FC236}">
                <a16:creationId xmlns:a16="http://schemas.microsoft.com/office/drawing/2014/main" id="{8FAEC4CB-4681-F8BD-401A-F5CC8BF8DE01}"/>
              </a:ext>
            </a:extLst>
          </p:cNvPr>
          <p:cNvSpPr>
            <a:spLocks noGrp="1"/>
          </p:cNvSpPr>
          <p:nvPr>
            <p:ph type="sldNum" sz="quarter" idx="12"/>
          </p:nvPr>
        </p:nvSpPr>
        <p:spPr/>
        <p:txBody>
          <a:bodyPr/>
          <a:lstStyle/>
          <a:p>
            <a:fld id="{61A50371-3F2D-4FEF-B603-773838516A24}" type="slidenum">
              <a:rPr lang="fr-FR" smtClean="0"/>
              <a:t>11</a:t>
            </a:fld>
            <a:endParaRPr lang="fr-FR"/>
          </a:p>
        </p:txBody>
      </p:sp>
    </p:spTree>
    <p:extLst>
      <p:ext uri="{BB962C8B-B14F-4D97-AF65-F5344CB8AC3E}">
        <p14:creationId xmlns:p14="http://schemas.microsoft.com/office/powerpoint/2010/main" val="3596595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CD5AF51-FEAC-240A-D8ED-9D772F1D3BB0}"/>
              </a:ext>
            </a:extLst>
          </p:cNvPr>
          <p:cNvPicPr>
            <a:picLocks noChangeAspect="1"/>
          </p:cNvPicPr>
          <p:nvPr/>
        </p:nvPicPr>
        <p:blipFill>
          <a:blip r:embed="rId2">
            <a:clrChange>
              <a:clrFrom>
                <a:srgbClr val="FFFFFF"/>
              </a:clrFrom>
              <a:clrTo>
                <a:srgbClr val="FFFFFF">
                  <a:alpha val="0"/>
                </a:srgbClr>
              </a:clrTo>
            </a:clrChange>
          </a:blip>
          <a:srcRect l="38307" t="55537" r="60174" b="42067"/>
          <a:stretch>
            <a:fillRect/>
          </a:stretch>
        </p:blipFill>
        <p:spPr>
          <a:xfrm>
            <a:off x="4388757" y="3977152"/>
            <a:ext cx="299720" cy="265953"/>
          </a:xfrm>
          <a:prstGeom prst="rect">
            <a:avLst/>
          </a:prstGeom>
        </p:spPr>
      </p:pic>
      <p:sp>
        <p:nvSpPr>
          <p:cNvPr id="4" name="ZoneTexte 3">
            <a:extLst>
              <a:ext uri="{FF2B5EF4-FFF2-40B4-BE49-F238E27FC236}">
                <a16:creationId xmlns:a16="http://schemas.microsoft.com/office/drawing/2014/main" id="{56DE5758-B68C-A440-054F-2B09194F6490}"/>
              </a:ext>
            </a:extLst>
          </p:cNvPr>
          <p:cNvSpPr txBox="1"/>
          <p:nvPr/>
        </p:nvSpPr>
        <p:spPr>
          <a:xfrm>
            <a:off x="4388757" y="1934780"/>
            <a:ext cx="3702050" cy="830997"/>
          </a:xfrm>
          <a:prstGeom prst="rect">
            <a:avLst/>
          </a:prstGeom>
          <a:noFill/>
        </p:spPr>
        <p:txBody>
          <a:bodyPr wrap="square" rtlCol="0">
            <a:spAutoFit/>
          </a:bodyPr>
          <a:lstStyle/>
          <a:p>
            <a:pPr algn="ctr"/>
            <a:r>
              <a:rPr lang="fr-FR" sz="2400" dirty="0"/>
              <a:t>Sélectionnez une région pour continuer</a:t>
            </a:r>
          </a:p>
        </p:txBody>
      </p:sp>
      <p:sp>
        <p:nvSpPr>
          <p:cNvPr id="6" name="ZoneTexte 5">
            <a:extLst>
              <a:ext uri="{FF2B5EF4-FFF2-40B4-BE49-F238E27FC236}">
                <a16:creationId xmlns:a16="http://schemas.microsoft.com/office/drawing/2014/main" id="{BE0649A5-DB83-8FAB-D973-1A5BE4F398F6}"/>
              </a:ext>
            </a:extLst>
          </p:cNvPr>
          <p:cNvSpPr txBox="1"/>
          <p:nvPr/>
        </p:nvSpPr>
        <p:spPr>
          <a:xfrm>
            <a:off x="4388757" y="2765777"/>
            <a:ext cx="3702050" cy="646331"/>
          </a:xfrm>
          <a:prstGeom prst="rect">
            <a:avLst/>
          </a:prstGeom>
          <a:noFill/>
        </p:spPr>
        <p:txBody>
          <a:bodyPr wrap="square" rtlCol="0">
            <a:spAutoFit/>
          </a:bodyPr>
          <a:lstStyle/>
          <a:p>
            <a:pPr algn="ctr"/>
            <a:r>
              <a:rPr lang="fr-FR" sz="1200" dirty="0"/>
              <a:t>Il semble que vous ayez souscrit à des abonnements dans plusieurs régions. Veuillez sélectionner une région pour continuer à utiliser PGI CUST</a:t>
            </a:r>
          </a:p>
        </p:txBody>
      </p:sp>
      <p:pic>
        <p:nvPicPr>
          <p:cNvPr id="7" name="Image 6">
            <a:extLst>
              <a:ext uri="{FF2B5EF4-FFF2-40B4-BE49-F238E27FC236}">
                <a16:creationId xmlns:a16="http://schemas.microsoft.com/office/drawing/2014/main" id="{E3CE0451-3326-67E0-BBF7-EB792F0B536F}"/>
              </a:ext>
            </a:extLst>
          </p:cNvPr>
          <p:cNvPicPr>
            <a:picLocks noChangeAspect="1"/>
          </p:cNvPicPr>
          <p:nvPr/>
        </p:nvPicPr>
        <p:blipFill>
          <a:blip r:embed="rId2">
            <a:clrChange>
              <a:clrFrom>
                <a:srgbClr val="FFFFFF"/>
              </a:clrFrom>
              <a:clrTo>
                <a:srgbClr val="FFFFFF">
                  <a:alpha val="0"/>
                </a:srgbClr>
              </a:clrTo>
            </a:clrChange>
          </a:blip>
          <a:srcRect l="38307" t="62704" r="60174" b="34638"/>
          <a:stretch>
            <a:fillRect/>
          </a:stretch>
        </p:blipFill>
        <p:spPr>
          <a:xfrm>
            <a:off x="4388757" y="4316554"/>
            <a:ext cx="299720" cy="295001"/>
          </a:xfrm>
          <a:prstGeom prst="rect">
            <a:avLst/>
          </a:prstGeom>
        </p:spPr>
      </p:pic>
      <p:sp>
        <p:nvSpPr>
          <p:cNvPr id="8" name="ZoneTexte 7">
            <a:extLst>
              <a:ext uri="{FF2B5EF4-FFF2-40B4-BE49-F238E27FC236}">
                <a16:creationId xmlns:a16="http://schemas.microsoft.com/office/drawing/2014/main" id="{BC192FCA-561A-0790-AFE5-16C705476E65}"/>
              </a:ext>
            </a:extLst>
          </p:cNvPr>
          <p:cNvSpPr txBox="1"/>
          <p:nvPr/>
        </p:nvSpPr>
        <p:spPr>
          <a:xfrm>
            <a:off x="4688477" y="3977152"/>
            <a:ext cx="2103120" cy="276999"/>
          </a:xfrm>
          <a:prstGeom prst="rect">
            <a:avLst/>
          </a:prstGeom>
          <a:noFill/>
        </p:spPr>
        <p:txBody>
          <a:bodyPr wrap="square" rtlCol="0">
            <a:spAutoFit/>
          </a:bodyPr>
          <a:lstStyle/>
          <a:p>
            <a:r>
              <a:rPr lang="fr-FR" sz="1200" dirty="0"/>
              <a:t>EU – PGI CUST Trial Team</a:t>
            </a:r>
          </a:p>
        </p:txBody>
      </p:sp>
      <p:sp>
        <p:nvSpPr>
          <p:cNvPr id="9" name="ZoneTexte 8">
            <a:extLst>
              <a:ext uri="{FF2B5EF4-FFF2-40B4-BE49-F238E27FC236}">
                <a16:creationId xmlns:a16="http://schemas.microsoft.com/office/drawing/2014/main" id="{92331DEA-A787-5494-3124-B469BB45ADDE}"/>
              </a:ext>
            </a:extLst>
          </p:cNvPr>
          <p:cNvSpPr txBox="1"/>
          <p:nvPr/>
        </p:nvSpPr>
        <p:spPr>
          <a:xfrm>
            <a:off x="4688477" y="4334556"/>
            <a:ext cx="2103120" cy="276999"/>
          </a:xfrm>
          <a:prstGeom prst="rect">
            <a:avLst/>
          </a:prstGeom>
          <a:noFill/>
        </p:spPr>
        <p:txBody>
          <a:bodyPr wrap="square" rtlCol="0">
            <a:spAutoFit/>
          </a:bodyPr>
          <a:lstStyle/>
          <a:p>
            <a:r>
              <a:rPr lang="fr-FR" sz="1200" dirty="0"/>
              <a:t>US – PGI CUST Trial Team</a:t>
            </a:r>
          </a:p>
        </p:txBody>
      </p:sp>
      <p:sp>
        <p:nvSpPr>
          <p:cNvPr id="10" name="Rectangle : coins arrondis 9">
            <a:extLst>
              <a:ext uri="{FF2B5EF4-FFF2-40B4-BE49-F238E27FC236}">
                <a16:creationId xmlns:a16="http://schemas.microsoft.com/office/drawing/2014/main" id="{57F4BC21-72E2-8E6B-7321-F3B63D4126B3}"/>
              </a:ext>
            </a:extLst>
          </p:cNvPr>
          <p:cNvSpPr/>
          <p:nvPr/>
        </p:nvSpPr>
        <p:spPr>
          <a:xfrm>
            <a:off x="3628571" y="1585686"/>
            <a:ext cx="5181600" cy="3686628"/>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 name="Image 10">
            <a:extLst>
              <a:ext uri="{FF2B5EF4-FFF2-40B4-BE49-F238E27FC236}">
                <a16:creationId xmlns:a16="http://schemas.microsoft.com/office/drawing/2014/main" id="{3B8DAFD8-0046-C2D6-F2A7-46F0E46E0BFD}"/>
              </a:ext>
            </a:extLst>
          </p:cNvPr>
          <p:cNvPicPr>
            <a:picLocks noChangeAspect="1"/>
          </p:cNvPicPr>
          <p:nvPr/>
        </p:nvPicPr>
        <p:blipFill>
          <a:blip r:embed="rId3"/>
          <a:stretch>
            <a:fillRect/>
          </a:stretch>
        </p:blipFill>
        <p:spPr>
          <a:xfrm>
            <a:off x="338597" y="111608"/>
            <a:ext cx="1356853" cy="453356"/>
          </a:xfrm>
          <a:prstGeom prst="rect">
            <a:avLst/>
          </a:prstGeom>
        </p:spPr>
      </p:pic>
      <p:sp>
        <p:nvSpPr>
          <p:cNvPr id="12" name="Rectangle 11">
            <a:extLst>
              <a:ext uri="{FF2B5EF4-FFF2-40B4-BE49-F238E27FC236}">
                <a16:creationId xmlns:a16="http://schemas.microsoft.com/office/drawing/2014/main" id="{756A1A0E-CBD4-D76F-4206-C43BB52B32C6}"/>
              </a:ext>
            </a:extLst>
          </p:cNvPr>
          <p:cNvSpPr/>
          <p:nvPr/>
        </p:nvSpPr>
        <p:spPr>
          <a:xfrm>
            <a:off x="338597" y="7620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P4</a:t>
            </a:r>
          </a:p>
        </p:txBody>
      </p:sp>
      <p:sp>
        <p:nvSpPr>
          <p:cNvPr id="13" name="Espace réservé du pied de page 12">
            <a:extLst>
              <a:ext uri="{FF2B5EF4-FFF2-40B4-BE49-F238E27FC236}">
                <a16:creationId xmlns:a16="http://schemas.microsoft.com/office/drawing/2014/main" id="{748C2A88-A4D0-3DEC-79B6-27BDA0C2F7FC}"/>
              </a:ext>
            </a:extLst>
          </p:cNvPr>
          <p:cNvSpPr>
            <a:spLocks noGrp="1"/>
          </p:cNvSpPr>
          <p:nvPr>
            <p:ph type="ftr" sz="quarter" idx="11"/>
          </p:nvPr>
        </p:nvSpPr>
        <p:spPr/>
        <p:txBody>
          <a:bodyPr/>
          <a:lstStyle/>
          <a:p>
            <a:r>
              <a:rPr lang="fr-FR"/>
              <a:t>Evaluaiton avec un micro projet HTML-CSS</a:t>
            </a:r>
          </a:p>
        </p:txBody>
      </p:sp>
      <p:sp>
        <p:nvSpPr>
          <p:cNvPr id="14" name="Espace réservé du numéro de diapositive 13">
            <a:extLst>
              <a:ext uri="{FF2B5EF4-FFF2-40B4-BE49-F238E27FC236}">
                <a16:creationId xmlns:a16="http://schemas.microsoft.com/office/drawing/2014/main" id="{36B36C8F-BE1C-2F09-656D-D11AE4C9D846}"/>
              </a:ext>
            </a:extLst>
          </p:cNvPr>
          <p:cNvSpPr>
            <a:spLocks noGrp="1"/>
          </p:cNvSpPr>
          <p:nvPr>
            <p:ph type="sldNum" sz="quarter" idx="12"/>
          </p:nvPr>
        </p:nvSpPr>
        <p:spPr/>
        <p:txBody>
          <a:bodyPr/>
          <a:lstStyle/>
          <a:p>
            <a:fld id="{61A50371-3F2D-4FEF-B603-773838516A24}" type="slidenum">
              <a:rPr lang="fr-FR" smtClean="0"/>
              <a:t>12</a:t>
            </a:fld>
            <a:endParaRPr lang="fr-FR"/>
          </a:p>
        </p:txBody>
      </p:sp>
    </p:spTree>
    <p:extLst>
      <p:ext uri="{BB962C8B-B14F-4D97-AF65-F5344CB8AC3E}">
        <p14:creationId xmlns:p14="http://schemas.microsoft.com/office/powerpoint/2010/main" val="3539396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E99051E-8DDB-B738-CED1-BDB2AB2EF43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6051" y="856265"/>
            <a:ext cx="12119898" cy="5145470"/>
          </a:xfrm>
          <a:prstGeom prst="rect">
            <a:avLst/>
          </a:prstGeom>
        </p:spPr>
      </p:pic>
      <p:sp>
        <p:nvSpPr>
          <p:cNvPr id="16" name="Rectangle : coins arrondis 15">
            <a:extLst>
              <a:ext uri="{FF2B5EF4-FFF2-40B4-BE49-F238E27FC236}">
                <a16:creationId xmlns:a16="http://schemas.microsoft.com/office/drawing/2014/main" id="{A9B4C917-D5B1-5A84-5360-ECBE00970624}"/>
              </a:ext>
            </a:extLst>
          </p:cNvPr>
          <p:cNvSpPr/>
          <p:nvPr/>
        </p:nvSpPr>
        <p:spPr>
          <a:xfrm>
            <a:off x="3628571" y="1585686"/>
            <a:ext cx="5181600" cy="3686628"/>
          </a:xfrm>
          <a:prstGeom prst="round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F4962808-8BDF-6D52-7C33-07EA99B93986}"/>
              </a:ext>
            </a:extLst>
          </p:cNvPr>
          <p:cNvSpPr txBox="1"/>
          <p:nvPr/>
        </p:nvSpPr>
        <p:spPr>
          <a:xfrm>
            <a:off x="4185103" y="1991930"/>
            <a:ext cx="3821793" cy="400110"/>
          </a:xfrm>
          <a:prstGeom prst="rect">
            <a:avLst/>
          </a:prstGeom>
          <a:noFill/>
        </p:spPr>
        <p:txBody>
          <a:bodyPr wrap="square" rtlCol="0">
            <a:spAutoFit/>
          </a:bodyPr>
          <a:lstStyle/>
          <a:p>
            <a:pPr algn="ctr"/>
            <a:r>
              <a:rPr lang="fr-FR" sz="2000" b="1" dirty="0" err="1"/>
              <a:t>What</a:t>
            </a:r>
            <a:r>
              <a:rPr lang="fr-FR" sz="2000" b="1" dirty="0"/>
              <a:t> best </a:t>
            </a:r>
            <a:r>
              <a:rPr lang="fr-FR" sz="2000" b="1" dirty="0" err="1"/>
              <a:t>describes</a:t>
            </a:r>
            <a:r>
              <a:rPr lang="fr-FR" sz="2000" b="1" dirty="0"/>
              <a:t> </a:t>
            </a:r>
            <a:r>
              <a:rPr lang="fr-FR" sz="2000" b="1" dirty="0" err="1"/>
              <a:t>your</a:t>
            </a:r>
            <a:r>
              <a:rPr lang="fr-FR" sz="2000" b="1" dirty="0"/>
              <a:t> rôle ?</a:t>
            </a:r>
          </a:p>
        </p:txBody>
      </p:sp>
      <p:sp>
        <p:nvSpPr>
          <p:cNvPr id="7" name="Ellipse 6">
            <a:extLst>
              <a:ext uri="{FF2B5EF4-FFF2-40B4-BE49-F238E27FC236}">
                <a16:creationId xmlns:a16="http://schemas.microsoft.com/office/drawing/2014/main" id="{679F8BFC-25D8-9074-25BA-870AD5C8DC20}"/>
              </a:ext>
            </a:extLst>
          </p:cNvPr>
          <p:cNvSpPr/>
          <p:nvPr/>
        </p:nvSpPr>
        <p:spPr>
          <a:xfrm>
            <a:off x="4309293" y="2596683"/>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9" name="ZoneTexte 8">
            <a:extLst>
              <a:ext uri="{FF2B5EF4-FFF2-40B4-BE49-F238E27FC236}">
                <a16:creationId xmlns:a16="http://schemas.microsoft.com/office/drawing/2014/main" id="{0973C517-9F82-2356-93C9-5AA9FAA883CE}"/>
              </a:ext>
            </a:extLst>
          </p:cNvPr>
          <p:cNvSpPr txBox="1"/>
          <p:nvPr/>
        </p:nvSpPr>
        <p:spPr>
          <a:xfrm>
            <a:off x="4547418" y="2515691"/>
            <a:ext cx="3288030" cy="400110"/>
          </a:xfrm>
          <a:prstGeom prst="rect">
            <a:avLst/>
          </a:prstGeom>
          <a:noFill/>
        </p:spPr>
        <p:txBody>
          <a:bodyPr wrap="square" rtlCol="0">
            <a:spAutoFit/>
          </a:bodyPr>
          <a:lstStyle/>
          <a:p>
            <a:r>
              <a:rPr lang="fr-FR" sz="1000" dirty="0"/>
              <a:t>I </a:t>
            </a:r>
            <a:r>
              <a:rPr lang="fr-FR" sz="1000" dirty="0" err="1"/>
              <a:t>evaluate</a:t>
            </a:r>
            <a:r>
              <a:rPr lang="fr-FR" sz="1000" dirty="0"/>
              <a:t> </a:t>
            </a:r>
            <a:r>
              <a:rPr lang="fr-FR" sz="1000" dirty="0" err="1"/>
              <a:t>tooling</a:t>
            </a:r>
            <a:r>
              <a:rPr lang="fr-FR" sz="1000" dirty="0"/>
              <a:t> and </a:t>
            </a:r>
            <a:r>
              <a:rPr lang="fr-FR" sz="1000" dirty="0" err="1"/>
              <a:t>technology</a:t>
            </a:r>
            <a:r>
              <a:rPr lang="fr-FR" sz="1000" dirty="0"/>
              <a:t> or </a:t>
            </a:r>
            <a:r>
              <a:rPr lang="fr-FR" sz="1000" dirty="0" err="1"/>
              <a:t>am</a:t>
            </a:r>
            <a:r>
              <a:rPr lang="fr-FR" sz="1000" dirty="0"/>
              <a:t> the </a:t>
            </a:r>
            <a:r>
              <a:rPr lang="fr-FR" sz="1000" dirty="0" err="1"/>
              <a:t>decision</a:t>
            </a:r>
            <a:r>
              <a:rPr lang="fr-FR" sz="1000" dirty="0"/>
              <a:t>-maker for </a:t>
            </a:r>
            <a:r>
              <a:rPr lang="fr-FR" sz="1000" dirty="0" err="1"/>
              <a:t>this</a:t>
            </a:r>
            <a:r>
              <a:rPr lang="fr-FR" sz="1000" dirty="0"/>
              <a:t> </a:t>
            </a:r>
            <a:r>
              <a:rPr lang="fr-FR" sz="1000" dirty="0" err="1"/>
              <a:t>tool</a:t>
            </a:r>
            <a:endParaRPr lang="fr-FR" sz="1000" dirty="0"/>
          </a:p>
        </p:txBody>
      </p:sp>
      <p:sp>
        <p:nvSpPr>
          <p:cNvPr id="10" name="Ellipse 9">
            <a:extLst>
              <a:ext uri="{FF2B5EF4-FFF2-40B4-BE49-F238E27FC236}">
                <a16:creationId xmlns:a16="http://schemas.microsoft.com/office/drawing/2014/main" id="{C465AA51-C9F1-8B4B-6844-D473B77852C4}"/>
              </a:ext>
            </a:extLst>
          </p:cNvPr>
          <p:cNvSpPr/>
          <p:nvPr/>
        </p:nvSpPr>
        <p:spPr>
          <a:xfrm>
            <a:off x="4309293" y="3052258"/>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1" name="ZoneTexte 10">
            <a:extLst>
              <a:ext uri="{FF2B5EF4-FFF2-40B4-BE49-F238E27FC236}">
                <a16:creationId xmlns:a16="http://schemas.microsoft.com/office/drawing/2014/main" id="{34883CB3-51CA-1504-9DF8-B099822791E9}"/>
              </a:ext>
            </a:extLst>
          </p:cNvPr>
          <p:cNvSpPr txBox="1"/>
          <p:nvPr/>
        </p:nvSpPr>
        <p:spPr>
          <a:xfrm>
            <a:off x="4547418" y="2971266"/>
            <a:ext cx="3288030" cy="400110"/>
          </a:xfrm>
          <a:prstGeom prst="rect">
            <a:avLst/>
          </a:prstGeom>
          <a:noFill/>
        </p:spPr>
        <p:txBody>
          <a:bodyPr wrap="square" rtlCol="0">
            <a:spAutoFit/>
          </a:bodyPr>
          <a:lstStyle/>
          <a:p>
            <a:r>
              <a:rPr lang="fr-FR" sz="1000" dirty="0"/>
              <a:t>I </a:t>
            </a:r>
            <a:r>
              <a:rPr lang="fr-FR" sz="1000" dirty="0" err="1"/>
              <a:t>am</a:t>
            </a:r>
            <a:r>
              <a:rPr lang="fr-FR" sz="1000" dirty="0"/>
              <a:t> a </a:t>
            </a:r>
            <a:r>
              <a:rPr lang="fr-FR" sz="1000" dirty="0" err="1"/>
              <a:t>student</a:t>
            </a:r>
            <a:r>
              <a:rPr lang="fr-FR" sz="1000" dirty="0"/>
              <a:t> or </a:t>
            </a:r>
            <a:r>
              <a:rPr lang="fr-FR" sz="1000" dirty="0" err="1"/>
              <a:t>recent</a:t>
            </a:r>
            <a:r>
              <a:rPr lang="fr-FR" sz="1000" dirty="0"/>
              <a:t> </a:t>
            </a:r>
            <a:r>
              <a:rPr lang="fr-FR" sz="1000" dirty="0" err="1"/>
              <a:t>grad</a:t>
            </a:r>
            <a:r>
              <a:rPr lang="fr-FR" sz="1000" dirty="0"/>
              <a:t> </a:t>
            </a:r>
            <a:r>
              <a:rPr lang="fr-FR" sz="1000" dirty="0" err="1"/>
              <a:t>interested</a:t>
            </a:r>
            <a:r>
              <a:rPr lang="fr-FR" sz="1000" dirty="0"/>
              <a:t> in </a:t>
            </a:r>
            <a:r>
              <a:rPr lang="fr-FR" sz="1000" dirty="0" err="1"/>
              <a:t>creating</a:t>
            </a:r>
            <a:r>
              <a:rPr lang="fr-FR" sz="1000" dirty="0"/>
              <a:t> courses</a:t>
            </a:r>
          </a:p>
        </p:txBody>
      </p:sp>
      <p:sp>
        <p:nvSpPr>
          <p:cNvPr id="12" name="Ellipse 11">
            <a:extLst>
              <a:ext uri="{FF2B5EF4-FFF2-40B4-BE49-F238E27FC236}">
                <a16:creationId xmlns:a16="http://schemas.microsoft.com/office/drawing/2014/main" id="{B575E0AE-510F-08E9-0661-FC9552D54748}"/>
              </a:ext>
            </a:extLst>
          </p:cNvPr>
          <p:cNvSpPr/>
          <p:nvPr/>
        </p:nvSpPr>
        <p:spPr>
          <a:xfrm>
            <a:off x="4309293" y="3507832"/>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3" name="ZoneTexte 12">
            <a:extLst>
              <a:ext uri="{FF2B5EF4-FFF2-40B4-BE49-F238E27FC236}">
                <a16:creationId xmlns:a16="http://schemas.microsoft.com/office/drawing/2014/main" id="{5A040792-E62D-647F-D8EB-3294006ADA02}"/>
              </a:ext>
            </a:extLst>
          </p:cNvPr>
          <p:cNvSpPr txBox="1"/>
          <p:nvPr/>
        </p:nvSpPr>
        <p:spPr>
          <a:xfrm>
            <a:off x="4547418" y="3426840"/>
            <a:ext cx="3288030" cy="400110"/>
          </a:xfrm>
          <a:prstGeom prst="rect">
            <a:avLst/>
          </a:prstGeom>
          <a:noFill/>
        </p:spPr>
        <p:txBody>
          <a:bodyPr wrap="square" rtlCol="0">
            <a:spAutoFit/>
          </a:bodyPr>
          <a:lstStyle/>
          <a:p>
            <a:r>
              <a:rPr lang="fr-FR" sz="1000" dirty="0"/>
              <a:t>I </a:t>
            </a:r>
            <a:r>
              <a:rPr lang="fr-FR" sz="1000" dirty="0" err="1"/>
              <a:t>am</a:t>
            </a:r>
            <a:r>
              <a:rPr lang="fr-FR" sz="1000" dirty="0"/>
              <a:t> a consultant or </a:t>
            </a:r>
            <a:r>
              <a:rPr lang="fr-FR" sz="1000" dirty="0" err="1"/>
              <a:t>freelancer</a:t>
            </a:r>
            <a:r>
              <a:rPr lang="fr-FR" sz="1000" dirty="0"/>
              <a:t> </a:t>
            </a:r>
            <a:r>
              <a:rPr lang="fr-FR" sz="1000" dirty="0" err="1"/>
              <a:t>who</a:t>
            </a:r>
            <a:r>
              <a:rPr lang="fr-FR" sz="1000" dirty="0"/>
              <a:t> </a:t>
            </a:r>
            <a:r>
              <a:rPr lang="fr-FR" sz="1000" dirty="0" err="1"/>
              <a:t>creates</a:t>
            </a:r>
            <a:r>
              <a:rPr lang="fr-FR" sz="1000" dirty="0"/>
              <a:t> leads for </a:t>
            </a:r>
            <a:r>
              <a:rPr lang="fr-FR" sz="1000" dirty="0" err="1"/>
              <a:t>companies</a:t>
            </a:r>
            <a:endParaRPr lang="fr-FR" sz="1000" dirty="0"/>
          </a:p>
        </p:txBody>
      </p:sp>
      <p:sp>
        <p:nvSpPr>
          <p:cNvPr id="14" name="Ellipse 13">
            <a:extLst>
              <a:ext uri="{FF2B5EF4-FFF2-40B4-BE49-F238E27FC236}">
                <a16:creationId xmlns:a16="http://schemas.microsoft.com/office/drawing/2014/main" id="{48F43081-3501-FD3C-FD50-2B55D736C7C8}"/>
              </a:ext>
            </a:extLst>
          </p:cNvPr>
          <p:cNvSpPr/>
          <p:nvPr/>
        </p:nvSpPr>
        <p:spPr>
          <a:xfrm>
            <a:off x="4309293" y="3988934"/>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5" name="ZoneTexte 14">
            <a:extLst>
              <a:ext uri="{FF2B5EF4-FFF2-40B4-BE49-F238E27FC236}">
                <a16:creationId xmlns:a16="http://schemas.microsoft.com/office/drawing/2014/main" id="{5FC53F2E-5F9E-5B6B-D860-DC7920F9C051}"/>
              </a:ext>
            </a:extLst>
          </p:cNvPr>
          <p:cNvSpPr txBox="1"/>
          <p:nvPr/>
        </p:nvSpPr>
        <p:spPr>
          <a:xfrm>
            <a:off x="4547418" y="4027720"/>
            <a:ext cx="3288030" cy="246221"/>
          </a:xfrm>
          <a:prstGeom prst="rect">
            <a:avLst/>
          </a:prstGeom>
          <a:noFill/>
        </p:spPr>
        <p:txBody>
          <a:bodyPr wrap="square" rtlCol="0">
            <a:spAutoFit/>
          </a:bodyPr>
          <a:lstStyle/>
          <a:p>
            <a:r>
              <a:rPr lang="fr-FR" sz="1000" dirty="0" err="1"/>
              <a:t>Other</a:t>
            </a:r>
            <a:endParaRPr lang="fr-FR" sz="1000" dirty="0"/>
          </a:p>
        </p:txBody>
      </p:sp>
      <p:sp>
        <p:nvSpPr>
          <p:cNvPr id="17" name="Rectangle : coins arrondis 16">
            <a:extLst>
              <a:ext uri="{FF2B5EF4-FFF2-40B4-BE49-F238E27FC236}">
                <a16:creationId xmlns:a16="http://schemas.microsoft.com/office/drawing/2014/main" id="{7A4A5963-214F-4C01-3269-CCEC8273D7DA}"/>
              </a:ext>
            </a:extLst>
          </p:cNvPr>
          <p:cNvSpPr/>
          <p:nvPr/>
        </p:nvSpPr>
        <p:spPr>
          <a:xfrm>
            <a:off x="5003983" y="459215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Continuer</a:t>
            </a:r>
          </a:p>
        </p:txBody>
      </p:sp>
      <p:pic>
        <p:nvPicPr>
          <p:cNvPr id="18" name="Image 17">
            <a:extLst>
              <a:ext uri="{FF2B5EF4-FFF2-40B4-BE49-F238E27FC236}">
                <a16:creationId xmlns:a16="http://schemas.microsoft.com/office/drawing/2014/main" id="{141C3171-A88A-BDE4-FB70-34F2C407334A}"/>
              </a:ext>
            </a:extLst>
          </p:cNvPr>
          <p:cNvPicPr>
            <a:picLocks noChangeAspect="1"/>
          </p:cNvPicPr>
          <p:nvPr/>
        </p:nvPicPr>
        <p:blipFill>
          <a:blip r:embed="rId3"/>
          <a:stretch>
            <a:fillRect/>
          </a:stretch>
        </p:blipFill>
        <p:spPr>
          <a:xfrm>
            <a:off x="338597" y="111608"/>
            <a:ext cx="1356853" cy="453356"/>
          </a:xfrm>
          <a:prstGeom prst="rect">
            <a:avLst/>
          </a:prstGeom>
        </p:spPr>
      </p:pic>
      <p:sp>
        <p:nvSpPr>
          <p:cNvPr id="19" name="Rectangle 18">
            <a:extLst>
              <a:ext uri="{FF2B5EF4-FFF2-40B4-BE49-F238E27FC236}">
                <a16:creationId xmlns:a16="http://schemas.microsoft.com/office/drawing/2014/main" id="{A5F6DA1F-5F70-2E0B-BF8F-2A7E7592155B}"/>
              </a:ext>
            </a:extLst>
          </p:cNvPr>
          <p:cNvSpPr/>
          <p:nvPr/>
        </p:nvSpPr>
        <p:spPr>
          <a:xfrm>
            <a:off x="338597" y="603852"/>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P5</a:t>
            </a:r>
          </a:p>
        </p:txBody>
      </p:sp>
      <p:sp>
        <p:nvSpPr>
          <p:cNvPr id="20" name="Espace réservé du pied de page 19">
            <a:extLst>
              <a:ext uri="{FF2B5EF4-FFF2-40B4-BE49-F238E27FC236}">
                <a16:creationId xmlns:a16="http://schemas.microsoft.com/office/drawing/2014/main" id="{AF0A6D88-1659-A9C9-2C8A-F28C2066923C}"/>
              </a:ext>
            </a:extLst>
          </p:cNvPr>
          <p:cNvSpPr>
            <a:spLocks noGrp="1"/>
          </p:cNvSpPr>
          <p:nvPr>
            <p:ph type="ftr" sz="quarter" idx="11"/>
          </p:nvPr>
        </p:nvSpPr>
        <p:spPr/>
        <p:txBody>
          <a:bodyPr/>
          <a:lstStyle/>
          <a:p>
            <a:r>
              <a:rPr lang="fr-FR"/>
              <a:t>Evaluaiton avec un micro projet HTML-CSS</a:t>
            </a:r>
          </a:p>
        </p:txBody>
      </p:sp>
      <p:sp>
        <p:nvSpPr>
          <p:cNvPr id="21" name="Espace réservé du numéro de diapositive 20">
            <a:extLst>
              <a:ext uri="{FF2B5EF4-FFF2-40B4-BE49-F238E27FC236}">
                <a16:creationId xmlns:a16="http://schemas.microsoft.com/office/drawing/2014/main" id="{B0439AC6-2CBA-1535-6EBD-E79FCD1561A3}"/>
              </a:ext>
            </a:extLst>
          </p:cNvPr>
          <p:cNvSpPr>
            <a:spLocks noGrp="1"/>
          </p:cNvSpPr>
          <p:nvPr>
            <p:ph type="sldNum" sz="quarter" idx="12"/>
          </p:nvPr>
        </p:nvSpPr>
        <p:spPr/>
        <p:txBody>
          <a:bodyPr/>
          <a:lstStyle/>
          <a:p>
            <a:fld id="{61A50371-3F2D-4FEF-B603-773838516A24}" type="slidenum">
              <a:rPr lang="fr-FR" smtClean="0"/>
              <a:t>13</a:t>
            </a:fld>
            <a:endParaRPr lang="fr-FR"/>
          </a:p>
        </p:txBody>
      </p:sp>
    </p:spTree>
    <p:extLst>
      <p:ext uri="{BB962C8B-B14F-4D97-AF65-F5344CB8AC3E}">
        <p14:creationId xmlns:p14="http://schemas.microsoft.com/office/powerpoint/2010/main" val="2754790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E9ADA75-1092-E0A8-8FA2-5CBAFD944C31}"/>
              </a:ext>
            </a:extLst>
          </p:cNvPr>
          <p:cNvPicPr>
            <a:picLocks noChangeAspect="1"/>
          </p:cNvPicPr>
          <p:nvPr/>
        </p:nvPicPr>
        <p:blipFill>
          <a:blip r:embed="rId2"/>
          <a:srcRect l="1071" t="24762" r="27023" b="10476"/>
          <a:stretch>
            <a:fillRect/>
          </a:stretch>
        </p:blipFill>
        <p:spPr>
          <a:xfrm>
            <a:off x="1402098" y="1538514"/>
            <a:ext cx="9425558" cy="4775202"/>
          </a:xfrm>
          <a:prstGeom prst="rect">
            <a:avLst/>
          </a:prstGeom>
        </p:spPr>
      </p:pic>
      <p:pic>
        <p:nvPicPr>
          <p:cNvPr id="4" name="Image 3">
            <a:extLst>
              <a:ext uri="{FF2B5EF4-FFF2-40B4-BE49-F238E27FC236}">
                <a16:creationId xmlns:a16="http://schemas.microsoft.com/office/drawing/2014/main" id="{02625DE2-EFF2-2933-F606-2B584DC84E38}"/>
              </a:ext>
            </a:extLst>
          </p:cNvPr>
          <p:cNvPicPr>
            <a:picLocks noChangeAspect="1"/>
          </p:cNvPicPr>
          <p:nvPr/>
        </p:nvPicPr>
        <p:blipFill>
          <a:blip r:embed="rId3"/>
          <a:stretch>
            <a:fillRect/>
          </a:stretch>
        </p:blipFill>
        <p:spPr>
          <a:xfrm>
            <a:off x="338597" y="111608"/>
            <a:ext cx="1356853" cy="453356"/>
          </a:xfrm>
          <a:prstGeom prst="rect">
            <a:avLst/>
          </a:prstGeom>
        </p:spPr>
      </p:pic>
      <p:sp>
        <p:nvSpPr>
          <p:cNvPr id="5" name="ZoneTexte 4">
            <a:extLst>
              <a:ext uri="{FF2B5EF4-FFF2-40B4-BE49-F238E27FC236}">
                <a16:creationId xmlns:a16="http://schemas.microsoft.com/office/drawing/2014/main" id="{FFCB091D-BC30-6355-4D44-C6A59E4DC9DD}"/>
              </a:ext>
            </a:extLst>
          </p:cNvPr>
          <p:cNvSpPr txBox="1"/>
          <p:nvPr/>
        </p:nvSpPr>
        <p:spPr>
          <a:xfrm>
            <a:off x="274752" y="592899"/>
            <a:ext cx="6547077" cy="461665"/>
          </a:xfrm>
          <a:prstGeom prst="rect">
            <a:avLst/>
          </a:prstGeom>
          <a:noFill/>
        </p:spPr>
        <p:txBody>
          <a:bodyPr wrap="square" rtlCol="0">
            <a:spAutoFit/>
          </a:bodyPr>
          <a:lstStyle/>
          <a:p>
            <a:r>
              <a:rPr lang="fr-FR" sz="2400" b="1" dirty="0"/>
              <a:t>Hi Stéphane ! </a:t>
            </a:r>
            <a:r>
              <a:rPr lang="fr-FR" sz="2400" b="1" dirty="0" err="1"/>
              <a:t>welcome</a:t>
            </a:r>
            <a:r>
              <a:rPr lang="fr-FR" sz="2400" b="1" dirty="0"/>
              <a:t> to </a:t>
            </a:r>
            <a:r>
              <a:rPr lang="fr-FR" sz="2400" b="1" dirty="0" err="1"/>
              <a:t>PgI</a:t>
            </a:r>
            <a:r>
              <a:rPr lang="fr-FR" sz="2400" b="1" dirty="0"/>
              <a:t> </a:t>
            </a:r>
            <a:r>
              <a:rPr lang="fr-FR" sz="2400" b="1" dirty="0" err="1"/>
              <a:t>CuST</a:t>
            </a:r>
            <a:endParaRPr lang="fr-FR" sz="2400" b="1" dirty="0"/>
          </a:p>
        </p:txBody>
      </p:sp>
      <p:sp>
        <p:nvSpPr>
          <p:cNvPr id="6" name="ZoneTexte 5">
            <a:extLst>
              <a:ext uri="{FF2B5EF4-FFF2-40B4-BE49-F238E27FC236}">
                <a16:creationId xmlns:a16="http://schemas.microsoft.com/office/drawing/2014/main" id="{65D4865E-AACC-69A6-4AC0-CF4CEF42A0B5}"/>
              </a:ext>
            </a:extLst>
          </p:cNvPr>
          <p:cNvSpPr txBox="1"/>
          <p:nvPr/>
        </p:nvSpPr>
        <p:spPr>
          <a:xfrm>
            <a:off x="274752" y="973899"/>
            <a:ext cx="6547077" cy="276999"/>
          </a:xfrm>
          <a:prstGeom prst="rect">
            <a:avLst/>
          </a:prstGeom>
          <a:noFill/>
        </p:spPr>
        <p:txBody>
          <a:bodyPr wrap="square" rtlCol="0">
            <a:spAutoFit/>
          </a:bodyPr>
          <a:lstStyle/>
          <a:p>
            <a:r>
              <a:rPr lang="fr-FR" sz="1200" b="1" dirty="0" err="1"/>
              <a:t>Get</a:t>
            </a:r>
            <a:r>
              <a:rPr lang="fr-FR" sz="1200" b="1" dirty="0"/>
              <a:t> </a:t>
            </a:r>
            <a:r>
              <a:rPr lang="fr-FR" sz="1200" b="1" dirty="0" err="1"/>
              <a:t>started</a:t>
            </a:r>
            <a:r>
              <a:rPr lang="fr-FR" sz="1200" b="1" dirty="0"/>
              <a:t> </a:t>
            </a:r>
            <a:r>
              <a:rPr lang="fr-FR" sz="1200" b="1" dirty="0" err="1"/>
              <a:t>with</a:t>
            </a:r>
            <a:r>
              <a:rPr lang="fr-FR" sz="1200" b="1" dirty="0"/>
              <a:t> </a:t>
            </a:r>
            <a:r>
              <a:rPr lang="fr-FR" sz="1200" b="1" dirty="0" err="1"/>
              <a:t>Pgi</a:t>
            </a:r>
            <a:r>
              <a:rPr lang="fr-FR" sz="1200" b="1" dirty="0"/>
              <a:t> and courses for use AI.</a:t>
            </a:r>
          </a:p>
        </p:txBody>
      </p:sp>
      <p:sp>
        <p:nvSpPr>
          <p:cNvPr id="7" name="Rectangle 6">
            <a:extLst>
              <a:ext uri="{FF2B5EF4-FFF2-40B4-BE49-F238E27FC236}">
                <a16:creationId xmlns:a16="http://schemas.microsoft.com/office/drawing/2014/main" id="{47F35740-339D-AE2C-023C-236F003CDD1A}"/>
              </a:ext>
            </a:extLst>
          </p:cNvPr>
          <p:cNvSpPr/>
          <p:nvPr/>
        </p:nvSpPr>
        <p:spPr>
          <a:xfrm>
            <a:off x="3476625" y="75857"/>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P6</a:t>
            </a:r>
          </a:p>
        </p:txBody>
      </p:sp>
      <p:sp>
        <p:nvSpPr>
          <p:cNvPr id="8" name="Espace réservé du pied de page 7">
            <a:extLst>
              <a:ext uri="{FF2B5EF4-FFF2-40B4-BE49-F238E27FC236}">
                <a16:creationId xmlns:a16="http://schemas.microsoft.com/office/drawing/2014/main" id="{4A85C1E8-2BEB-86B4-B5F6-53611AD77930}"/>
              </a:ext>
            </a:extLst>
          </p:cNvPr>
          <p:cNvSpPr>
            <a:spLocks noGrp="1"/>
          </p:cNvSpPr>
          <p:nvPr>
            <p:ph type="ftr" sz="quarter" idx="11"/>
          </p:nvPr>
        </p:nvSpPr>
        <p:spPr/>
        <p:txBody>
          <a:bodyPr/>
          <a:lstStyle/>
          <a:p>
            <a:r>
              <a:rPr lang="fr-FR"/>
              <a:t>Evaluaiton avec un micro projet HTML-CSS</a:t>
            </a:r>
          </a:p>
        </p:txBody>
      </p:sp>
      <p:sp>
        <p:nvSpPr>
          <p:cNvPr id="9" name="Espace réservé du numéro de diapositive 8">
            <a:extLst>
              <a:ext uri="{FF2B5EF4-FFF2-40B4-BE49-F238E27FC236}">
                <a16:creationId xmlns:a16="http://schemas.microsoft.com/office/drawing/2014/main" id="{2510339A-F90F-69C3-339B-102E807BA15E}"/>
              </a:ext>
            </a:extLst>
          </p:cNvPr>
          <p:cNvSpPr>
            <a:spLocks noGrp="1"/>
          </p:cNvSpPr>
          <p:nvPr>
            <p:ph type="sldNum" sz="quarter" idx="12"/>
          </p:nvPr>
        </p:nvSpPr>
        <p:spPr/>
        <p:txBody>
          <a:bodyPr/>
          <a:lstStyle/>
          <a:p>
            <a:fld id="{61A50371-3F2D-4FEF-B603-773838516A24}" type="slidenum">
              <a:rPr lang="fr-FR" smtClean="0"/>
              <a:t>14</a:t>
            </a:fld>
            <a:endParaRPr lang="fr-FR"/>
          </a:p>
        </p:txBody>
      </p:sp>
    </p:spTree>
    <p:extLst>
      <p:ext uri="{BB962C8B-B14F-4D97-AF65-F5344CB8AC3E}">
        <p14:creationId xmlns:p14="http://schemas.microsoft.com/office/powerpoint/2010/main" val="3596403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30A2F-D2DF-E662-A282-F200341C96EA}"/>
              </a:ext>
            </a:extLst>
          </p:cNvPr>
          <p:cNvSpPr>
            <a:spLocks noGrp="1"/>
          </p:cNvSpPr>
          <p:nvPr>
            <p:ph type="title"/>
          </p:nvPr>
        </p:nvSpPr>
        <p:spPr/>
        <p:txBody>
          <a:bodyPr/>
          <a:lstStyle/>
          <a:p>
            <a:r>
              <a:rPr lang="fr-FR" dirty="0"/>
              <a:t>Niveau 2</a:t>
            </a:r>
          </a:p>
        </p:txBody>
      </p:sp>
      <p:sp>
        <p:nvSpPr>
          <p:cNvPr id="3" name="Espace réservé du texte 2">
            <a:extLst>
              <a:ext uri="{FF2B5EF4-FFF2-40B4-BE49-F238E27FC236}">
                <a16:creationId xmlns:a16="http://schemas.microsoft.com/office/drawing/2014/main" id="{D403B50D-8D59-45BB-ADC3-AC3B39054DD8}"/>
              </a:ext>
            </a:extLst>
          </p:cNvPr>
          <p:cNvSpPr>
            <a:spLocks noGrp="1"/>
          </p:cNvSpPr>
          <p:nvPr>
            <p:ph type="body" idx="1"/>
          </p:nvPr>
        </p:nvSpPr>
        <p:spPr/>
        <p:txBody>
          <a:bodyPr/>
          <a:lstStyle/>
          <a:p>
            <a:r>
              <a:rPr lang="fr-FR" dirty="0"/>
              <a:t>Formulaires et variables $_POST, $_GET</a:t>
            </a:r>
          </a:p>
        </p:txBody>
      </p:sp>
      <p:sp>
        <p:nvSpPr>
          <p:cNvPr id="4" name="Rectangle : coins arrondis 3">
            <a:extLst>
              <a:ext uri="{FF2B5EF4-FFF2-40B4-BE49-F238E27FC236}">
                <a16:creationId xmlns:a16="http://schemas.microsoft.com/office/drawing/2014/main" id="{0B94BA9C-660E-F227-7D71-96A4DD31E2B7}"/>
              </a:ext>
            </a:extLst>
          </p:cNvPr>
          <p:cNvSpPr/>
          <p:nvPr/>
        </p:nvSpPr>
        <p:spPr>
          <a:xfrm>
            <a:off x="552450" y="228600"/>
            <a:ext cx="4819650" cy="6858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La collecte de données dans l’entreprise</a:t>
            </a:r>
          </a:p>
        </p:txBody>
      </p:sp>
      <p:sp>
        <p:nvSpPr>
          <p:cNvPr id="5" name="Espace réservé du pied de page 4">
            <a:extLst>
              <a:ext uri="{FF2B5EF4-FFF2-40B4-BE49-F238E27FC236}">
                <a16:creationId xmlns:a16="http://schemas.microsoft.com/office/drawing/2014/main" id="{9700A86D-3B68-953B-57EB-3118F855874D}"/>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063AC07D-55D1-C7CC-7ACB-3658EFAFCF96}"/>
              </a:ext>
            </a:extLst>
          </p:cNvPr>
          <p:cNvSpPr>
            <a:spLocks noGrp="1"/>
          </p:cNvSpPr>
          <p:nvPr>
            <p:ph type="sldNum" sz="quarter" idx="12"/>
          </p:nvPr>
        </p:nvSpPr>
        <p:spPr/>
        <p:txBody>
          <a:bodyPr/>
          <a:lstStyle/>
          <a:p>
            <a:fld id="{61A50371-3F2D-4FEF-B603-773838516A24}" type="slidenum">
              <a:rPr lang="fr-FR" smtClean="0"/>
              <a:t>15</a:t>
            </a:fld>
            <a:endParaRPr lang="fr-FR"/>
          </a:p>
        </p:txBody>
      </p:sp>
    </p:spTree>
    <p:extLst>
      <p:ext uri="{BB962C8B-B14F-4D97-AF65-F5344CB8AC3E}">
        <p14:creationId xmlns:p14="http://schemas.microsoft.com/office/powerpoint/2010/main" val="3499464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C3F32-F2F9-D729-7F9C-27DA8622DF6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E69FA11-C091-1DE5-D9DF-200A38D59EA6}"/>
              </a:ext>
            </a:extLst>
          </p:cNvPr>
          <p:cNvSpPr/>
          <p:nvPr/>
        </p:nvSpPr>
        <p:spPr>
          <a:xfrm>
            <a:off x="0" y="0"/>
            <a:ext cx="12192000" cy="6858000"/>
          </a:xfrm>
          <a:prstGeom prst="rect">
            <a:avLst/>
          </a:prstGeom>
          <a:gradFill>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3" name="Graphique 2">
            <a:extLst>
              <a:ext uri="{FF2B5EF4-FFF2-40B4-BE49-F238E27FC236}">
                <a16:creationId xmlns:a16="http://schemas.microsoft.com/office/drawing/2014/main" id="{A6FD1A73-2B81-F903-8C53-4582FC5D9C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4071" y="0"/>
            <a:ext cx="10903857" cy="6858000"/>
          </a:xfrm>
          <a:prstGeom prst="rect">
            <a:avLst/>
          </a:prstGeom>
        </p:spPr>
      </p:pic>
      <p:sp>
        <p:nvSpPr>
          <p:cNvPr id="27" name="Rectangle : coins arrondis 26">
            <a:extLst>
              <a:ext uri="{FF2B5EF4-FFF2-40B4-BE49-F238E27FC236}">
                <a16:creationId xmlns:a16="http://schemas.microsoft.com/office/drawing/2014/main" id="{822BE5CE-44B2-76FE-29C9-7DA0741F47B7}"/>
              </a:ext>
            </a:extLst>
          </p:cNvPr>
          <p:cNvSpPr/>
          <p:nvPr/>
        </p:nvSpPr>
        <p:spPr>
          <a:xfrm>
            <a:off x="7612380" y="355602"/>
            <a:ext cx="3771900" cy="59340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Rectangle 27">
            <a:extLst>
              <a:ext uri="{FF2B5EF4-FFF2-40B4-BE49-F238E27FC236}">
                <a16:creationId xmlns:a16="http://schemas.microsoft.com/office/drawing/2014/main" id="{0BAFFDE6-5334-F3E2-C0EE-7C1CC571E634}"/>
              </a:ext>
            </a:extLst>
          </p:cNvPr>
          <p:cNvSpPr/>
          <p:nvPr/>
        </p:nvSpPr>
        <p:spPr>
          <a:xfrm>
            <a:off x="7808595" y="104711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Work Email</a:t>
            </a:r>
          </a:p>
        </p:txBody>
      </p:sp>
      <p:sp>
        <p:nvSpPr>
          <p:cNvPr id="29" name="Rectangle 28">
            <a:extLst>
              <a:ext uri="{FF2B5EF4-FFF2-40B4-BE49-F238E27FC236}">
                <a16:creationId xmlns:a16="http://schemas.microsoft.com/office/drawing/2014/main" id="{BFB2AB0D-339D-7EBE-DB08-45BA7088E500}"/>
              </a:ext>
            </a:extLst>
          </p:cNvPr>
          <p:cNvSpPr/>
          <p:nvPr/>
        </p:nvSpPr>
        <p:spPr>
          <a:xfrm>
            <a:off x="7808594" y="150431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30" name="Rectangle 29">
            <a:extLst>
              <a:ext uri="{FF2B5EF4-FFF2-40B4-BE49-F238E27FC236}">
                <a16:creationId xmlns:a16="http://schemas.microsoft.com/office/drawing/2014/main" id="{54DC6361-FB85-28FA-DFF4-F1613DB85A86}"/>
              </a:ext>
            </a:extLst>
          </p:cNvPr>
          <p:cNvSpPr/>
          <p:nvPr/>
        </p:nvSpPr>
        <p:spPr>
          <a:xfrm>
            <a:off x="7808595" y="203771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First Name</a:t>
            </a:r>
          </a:p>
        </p:txBody>
      </p:sp>
      <p:sp>
        <p:nvSpPr>
          <p:cNvPr id="31" name="Rectangle 30">
            <a:extLst>
              <a:ext uri="{FF2B5EF4-FFF2-40B4-BE49-F238E27FC236}">
                <a16:creationId xmlns:a16="http://schemas.microsoft.com/office/drawing/2014/main" id="{024A76C0-C212-C46D-E608-0A3195E0CE82}"/>
              </a:ext>
            </a:extLst>
          </p:cNvPr>
          <p:cNvSpPr/>
          <p:nvPr/>
        </p:nvSpPr>
        <p:spPr>
          <a:xfrm>
            <a:off x="9402898" y="203771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Last Name</a:t>
            </a:r>
          </a:p>
        </p:txBody>
      </p:sp>
      <p:sp>
        <p:nvSpPr>
          <p:cNvPr id="32" name="Rectangle 31">
            <a:extLst>
              <a:ext uri="{FF2B5EF4-FFF2-40B4-BE49-F238E27FC236}">
                <a16:creationId xmlns:a16="http://schemas.microsoft.com/office/drawing/2014/main" id="{4F329DDF-82BF-D6A2-70DF-EC59329527D8}"/>
              </a:ext>
            </a:extLst>
          </p:cNvPr>
          <p:cNvSpPr/>
          <p:nvPr/>
        </p:nvSpPr>
        <p:spPr>
          <a:xfrm>
            <a:off x="7808595" y="255206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Organizations</a:t>
            </a:r>
          </a:p>
        </p:txBody>
      </p:sp>
      <p:sp>
        <p:nvSpPr>
          <p:cNvPr id="33" name="Rectangle 32">
            <a:extLst>
              <a:ext uri="{FF2B5EF4-FFF2-40B4-BE49-F238E27FC236}">
                <a16:creationId xmlns:a16="http://schemas.microsoft.com/office/drawing/2014/main" id="{E74E6702-4919-9A1B-C1FA-15AE5B7BD338}"/>
              </a:ext>
            </a:extLst>
          </p:cNvPr>
          <p:cNvSpPr/>
          <p:nvPr/>
        </p:nvSpPr>
        <p:spPr>
          <a:xfrm>
            <a:off x="7768681" y="306641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Country</a:t>
            </a:r>
          </a:p>
        </p:txBody>
      </p:sp>
      <p:sp>
        <p:nvSpPr>
          <p:cNvPr id="34" name="Rectangle 33">
            <a:extLst>
              <a:ext uri="{FF2B5EF4-FFF2-40B4-BE49-F238E27FC236}">
                <a16:creationId xmlns:a16="http://schemas.microsoft.com/office/drawing/2014/main" id="{1386D920-5BC1-7F80-73E6-A0B2EE2A7DBB}"/>
              </a:ext>
            </a:extLst>
          </p:cNvPr>
          <p:cNvSpPr/>
          <p:nvPr/>
        </p:nvSpPr>
        <p:spPr>
          <a:xfrm>
            <a:off x="7768680" y="3628391"/>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err="1">
                <a:solidFill>
                  <a:schemeClr val="bg2">
                    <a:lumMod val="50000"/>
                  </a:schemeClr>
                </a:solidFill>
              </a:rPr>
              <a:t>Region</a:t>
            </a:r>
            <a:endParaRPr lang="fr-FR" sz="1100" dirty="0">
              <a:solidFill>
                <a:schemeClr val="bg2">
                  <a:lumMod val="50000"/>
                </a:schemeClr>
              </a:solidFill>
            </a:endParaRPr>
          </a:p>
        </p:txBody>
      </p:sp>
      <p:sp>
        <p:nvSpPr>
          <p:cNvPr id="35" name="Triangle isocèle 34">
            <a:extLst>
              <a:ext uri="{FF2B5EF4-FFF2-40B4-BE49-F238E27FC236}">
                <a16:creationId xmlns:a16="http://schemas.microsoft.com/office/drawing/2014/main" id="{A7C7886C-E5B6-503B-1D33-A1AD38372051}"/>
              </a:ext>
            </a:extLst>
          </p:cNvPr>
          <p:cNvSpPr/>
          <p:nvPr/>
        </p:nvSpPr>
        <p:spPr>
          <a:xfrm rot="10800000">
            <a:off x="10576378" y="3743641"/>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36" name="Triangle isocèle 35">
            <a:extLst>
              <a:ext uri="{FF2B5EF4-FFF2-40B4-BE49-F238E27FC236}">
                <a16:creationId xmlns:a16="http://schemas.microsoft.com/office/drawing/2014/main" id="{07FB4DE7-FC71-1C82-448B-1DBA9A36ED43}"/>
              </a:ext>
            </a:extLst>
          </p:cNvPr>
          <p:cNvSpPr/>
          <p:nvPr/>
        </p:nvSpPr>
        <p:spPr>
          <a:xfrm rot="10800000">
            <a:off x="10553336" y="3162619"/>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AA5A8FF4-858B-5679-66EB-F3E7B7FC0ED9}"/>
              </a:ext>
            </a:extLst>
          </p:cNvPr>
          <p:cNvSpPr/>
          <p:nvPr/>
        </p:nvSpPr>
        <p:spPr>
          <a:xfrm>
            <a:off x="7768679" y="412464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Phone </a:t>
            </a:r>
            <a:r>
              <a:rPr lang="fr-FR" sz="1100" dirty="0" err="1">
                <a:solidFill>
                  <a:schemeClr val="bg2">
                    <a:lumMod val="50000"/>
                  </a:schemeClr>
                </a:solidFill>
              </a:rPr>
              <a:t>Number</a:t>
            </a:r>
            <a:endParaRPr lang="fr-FR" sz="1100" dirty="0">
              <a:solidFill>
                <a:schemeClr val="bg2">
                  <a:lumMod val="50000"/>
                </a:schemeClr>
              </a:solidFill>
            </a:endParaRPr>
          </a:p>
        </p:txBody>
      </p:sp>
      <p:sp>
        <p:nvSpPr>
          <p:cNvPr id="38" name="Rectangle 37">
            <a:extLst>
              <a:ext uri="{FF2B5EF4-FFF2-40B4-BE49-F238E27FC236}">
                <a16:creationId xmlns:a16="http://schemas.microsoft.com/office/drawing/2014/main" id="{8400CAE1-00A3-9D59-39DA-67D291F6E1C3}"/>
              </a:ext>
            </a:extLst>
          </p:cNvPr>
          <p:cNvSpPr/>
          <p:nvPr/>
        </p:nvSpPr>
        <p:spPr>
          <a:xfrm>
            <a:off x="7768679" y="4620903"/>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39" name="Rectangle 38">
            <a:extLst>
              <a:ext uri="{FF2B5EF4-FFF2-40B4-BE49-F238E27FC236}">
                <a16:creationId xmlns:a16="http://schemas.microsoft.com/office/drawing/2014/main" id="{EF854F95-6CBC-BC16-27D6-C4348735E4EB}"/>
              </a:ext>
            </a:extLst>
          </p:cNvPr>
          <p:cNvSpPr/>
          <p:nvPr/>
        </p:nvSpPr>
        <p:spPr>
          <a:xfrm>
            <a:off x="7768679" y="5064766"/>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40" name="ZoneTexte 39">
            <a:extLst>
              <a:ext uri="{FF2B5EF4-FFF2-40B4-BE49-F238E27FC236}">
                <a16:creationId xmlns:a16="http://schemas.microsoft.com/office/drawing/2014/main" id="{DAFE64A6-E656-4DDC-F4BF-78FF3A766745}"/>
              </a:ext>
            </a:extLst>
          </p:cNvPr>
          <p:cNvSpPr txBox="1"/>
          <p:nvPr/>
        </p:nvSpPr>
        <p:spPr>
          <a:xfrm>
            <a:off x="7995918" y="4586252"/>
            <a:ext cx="3162300" cy="369332"/>
          </a:xfrm>
          <a:prstGeom prst="rect">
            <a:avLst/>
          </a:prstGeom>
          <a:noFill/>
        </p:spPr>
        <p:txBody>
          <a:bodyPr wrap="square" rtlCol="0">
            <a:spAutoFit/>
          </a:bodyPr>
          <a:lstStyle/>
          <a:p>
            <a:r>
              <a:rPr lang="fr-FR" sz="900" i="1" dirty="0">
                <a:solidFill>
                  <a:schemeClr val="tx1">
                    <a:lumMod val="95000"/>
                    <a:lumOff val="5000"/>
                  </a:schemeClr>
                </a:solidFill>
              </a:rPr>
              <a:t>By </a:t>
            </a:r>
            <a:r>
              <a:rPr lang="fr-FR" sz="900" i="1" dirty="0" err="1">
                <a:solidFill>
                  <a:schemeClr val="tx1">
                    <a:lumMod val="95000"/>
                    <a:lumOff val="5000"/>
                  </a:schemeClr>
                </a:solidFill>
              </a:rPr>
              <a:t>clicking</a:t>
            </a:r>
            <a:r>
              <a:rPr lang="fr-FR" sz="900" i="1" dirty="0">
                <a:solidFill>
                  <a:schemeClr val="tx1">
                    <a:lumMod val="95000"/>
                    <a:lumOff val="5000"/>
                  </a:schemeClr>
                </a:solidFill>
              </a:rPr>
              <a:t> </a:t>
            </a:r>
            <a:r>
              <a:rPr lang="fr-FR" sz="900" i="1" dirty="0" err="1">
                <a:solidFill>
                  <a:schemeClr val="tx1">
                    <a:lumMod val="95000"/>
                    <a:lumOff val="5000"/>
                  </a:schemeClr>
                </a:solidFill>
              </a:rPr>
              <a:t>you</a:t>
            </a:r>
            <a:r>
              <a:rPr lang="fr-FR" sz="900" i="1" dirty="0">
                <a:solidFill>
                  <a:schemeClr val="tx1">
                    <a:lumMod val="95000"/>
                    <a:lumOff val="5000"/>
                  </a:schemeClr>
                </a:solidFill>
              </a:rPr>
              <a:t> are </a:t>
            </a:r>
            <a:r>
              <a:rPr lang="fr-FR" sz="900" i="1" dirty="0" err="1">
                <a:solidFill>
                  <a:schemeClr val="tx1">
                    <a:lumMod val="95000"/>
                    <a:lumOff val="5000"/>
                  </a:schemeClr>
                </a:solidFill>
              </a:rPr>
              <a:t>agreeing</a:t>
            </a:r>
            <a:r>
              <a:rPr lang="fr-FR" sz="900" i="1" dirty="0">
                <a:solidFill>
                  <a:schemeClr val="tx1">
                    <a:lumMod val="95000"/>
                    <a:lumOff val="5000"/>
                  </a:schemeClr>
                </a:solidFill>
              </a:rPr>
              <a:t> to </a:t>
            </a:r>
            <a:r>
              <a:rPr lang="fr-FR" sz="900" i="1" dirty="0" err="1">
                <a:solidFill>
                  <a:schemeClr val="tx1">
                    <a:lumMod val="95000"/>
                    <a:lumOff val="5000"/>
                  </a:schemeClr>
                </a:solidFill>
              </a:rPr>
              <a:t>our</a:t>
            </a:r>
            <a:r>
              <a:rPr lang="fr-FR" sz="900" i="1" dirty="0">
                <a:solidFill>
                  <a:schemeClr val="tx1">
                    <a:lumMod val="95000"/>
                    <a:lumOff val="5000"/>
                  </a:schemeClr>
                </a:solidFill>
              </a:rPr>
              <a:t> applicable </a:t>
            </a:r>
            <a:r>
              <a:rPr lang="fr-FR" sz="900" i="1" dirty="0" err="1">
                <a:solidFill>
                  <a:schemeClr val="tx1">
                    <a:lumMod val="95000"/>
                    <a:lumOff val="5000"/>
                  </a:schemeClr>
                </a:solidFill>
              </a:rPr>
              <a:t>terms</a:t>
            </a:r>
            <a:r>
              <a:rPr lang="fr-FR" sz="900" i="1" dirty="0">
                <a:solidFill>
                  <a:schemeClr val="tx1">
                    <a:lumMod val="95000"/>
                    <a:lumOff val="5000"/>
                  </a:schemeClr>
                </a:solidFill>
              </a:rPr>
              <a:t> and </a:t>
            </a:r>
            <a:r>
              <a:rPr lang="fr-FR" sz="900" i="1" dirty="0" err="1">
                <a:solidFill>
                  <a:schemeClr val="tx1">
                    <a:lumMod val="95000"/>
                    <a:lumOff val="5000"/>
                  </a:schemeClr>
                </a:solidFill>
              </a:rPr>
              <a:t>privacy</a:t>
            </a:r>
            <a:r>
              <a:rPr lang="fr-FR" sz="900" i="1" dirty="0">
                <a:solidFill>
                  <a:schemeClr val="tx1">
                    <a:lumMod val="95000"/>
                    <a:lumOff val="5000"/>
                  </a:schemeClr>
                </a:solidFill>
              </a:rPr>
              <a:t> notice, </a:t>
            </a:r>
            <a:r>
              <a:rPr lang="fr-FR" sz="900" i="1" dirty="0" err="1">
                <a:solidFill>
                  <a:schemeClr val="tx1">
                    <a:lumMod val="95000"/>
                    <a:lumOff val="5000"/>
                  </a:schemeClr>
                </a:solidFill>
              </a:rPr>
              <a:t>including</a:t>
            </a:r>
            <a:r>
              <a:rPr lang="fr-FR" sz="900" i="1" dirty="0">
                <a:solidFill>
                  <a:schemeClr val="tx1">
                    <a:lumMod val="95000"/>
                    <a:lumOff val="5000"/>
                  </a:schemeClr>
                </a:solidFill>
              </a:rPr>
              <a:t> </a:t>
            </a:r>
            <a:r>
              <a:rPr lang="fr-FR" sz="900" i="1" dirty="0" err="1">
                <a:solidFill>
                  <a:schemeClr val="tx1">
                    <a:lumMod val="95000"/>
                    <a:lumOff val="5000"/>
                  </a:schemeClr>
                </a:solidFill>
              </a:rPr>
              <a:t>our</a:t>
            </a:r>
            <a:r>
              <a:rPr lang="fr-FR" sz="900" i="1" dirty="0">
                <a:solidFill>
                  <a:schemeClr val="tx1">
                    <a:lumMod val="95000"/>
                    <a:lumOff val="5000"/>
                  </a:schemeClr>
                </a:solidFill>
              </a:rPr>
              <a:t> cooking </a:t>
            </a:r>
            <a:r>
              <a:rPr lang="fr-FR" sz="900" i="1" dirty="0" err="1">
                <a:solidFill>
                  <a:schemeClr val="tx1">
                    <a:lumMod val="95000"/>
                    <a:lumOff val="5000"/>
                  </a:schemeClr>
                </a:solidFill>
              </a:rPr>
              <a:t>policy</a:t>
            </a:r>
            <a:r>
              <a:rPr lang="fr-FR" sz="900" i="1" dirty="0">
                <a:solidFill>
                  <a:schemeClr val="tx1">
                    <a:lumMod val="95000"/>
                    <a:lumOff val="5000"/>
                  </a:schemeClr>
                </a:solidFill>
              </a:rPr>
              <a:t>.</a:t>
            </a:r>
          </a:p>
        </p:txBody>
      </p:sp>
      <p:sp>
        <p:nvSpPr>
          <p:cNvPr id="41" name="ZoneTexte 40">
            <a:extLst>
              <a:ext uri="{FF2B5EF4-FFF2-40B4-BE49-F238E27FC236}">
                <a16:creationId xmlns:a16="http://schemas.microsoft.com/office/drawing/2014/main" id="{377E00BE-ECFE-F6C5-920F-E496676BBC75}"/>
              </a:ext>
            </a:extLst>
          </p:cNvPr>
          <p:cNvSpPr txBox="1"/>
          <p:nvPr/>
        </p:nvSpPr>
        <p:spPr>
          <a:xfrm>
            <a:off x="7995918" y="4963560"/>
            <a:ext cx="3162300" cy="230832"/>
          </a:xfrm>
          <a:prstGeom prst="rect">
            <a:avLst/>
          </a:prstGeom>
          <a:noFill/>
        </p:spPr>
        <p:txBody>
          <a:bodyPr wrap="square" rtlCol="0">
            <a:spAutoFit/>
          </a:bodyPr>
          <a:lstStyle/>
          <a:p>
            <a:r>
              <a:rPr lang="fr-FR" sz="900" i="1" dirty="0">
                <a:solidFill>
                  <a:schemeClr val="tx1">
                    <a:lumMod val="95000"/>
                    <a:lumOff val="5000"/>
                  </a:schemeClr>
                </a:solidFill>
              </a:rPr>
              <a:t>Yes, I </a:t>
            </a:r>
            <a:r>
              <a:rPr lang="fr-FR" sz="900" i="1" dirty="0" err="1">
                <a:solidFill>
                  <a:schemeClr val="tx1">
                    <a:lumMod val="95000"/>
                    <a:lumOff val="5000"/>
                  </a:schemeClr>
                </a:solidFill>
              </a:rPr>
              <a:t>would</a:t>
            </a:r>
            <a:r>
              <a:rPr lang="fr-FR" sz="900" i="1" dirty="0">
                <a:solidFill>
                  <a:schemeClr val="tx1">
                    <a:lumMod val="95000"/>
                    <a:lumOff val="5000"/>
                  </a:schemeClr>
                </a:solidFill>
              </a:rPr>
              <a:t> like to </a:t>
            </a:r>
            <a:r>
              <a:rPr lang="fr-FR" sz="900" i="1" dirty="0" err="1">
                <a:solidFill>
                  <a:schemeClr val="tx1">
                    <a:lumMod val="95000"/>
                    <a:lumOff val="5000"/>
                  </a:schemeClr>
                </a:solidFill>
              </a:rPr>
              <a:t>receive</a:t>
            </a:r>
            <a:r>
              <a:rPr lang="fr-FR" sz="900" i="1" dirty="0">
                <a:solidFill>
                  <a:schemeClr val="tx1">
                    <a:lumMod val="95000"/>
                    <a:lumOff val="5000"/>
                  </a:schemeClr>
                </a:solidFill>
              </a:rPr>
              <a:t> emails </a:t>
            </a:r>
            <a:r>
              <a:rPr lang="fr-FR" sz="900" i="1" dirty="0" err="1">
                <a:solidFill>
                  <a:schemeClr val="tx1">
                    <a:lumMod val="95000"/>
                    <a:lumOff val="5000"/>
                  </a:schemeClr>
                </a:solidFill>
              </a:rPr>
              <a:t>from</a:t>
            </a:r>
            <a:r>
              <a:rPr lang="fr-FR" sz="900" i="1" dirty="0">
                <a:solidFill>
                  <a:schemeClr val="tx1">
                    <a:lumMod val="95000"/>
                    <a:lumOff val="5000"/>
                  </a:schemeClr>
                </a:solidFill>
              </a:rPr>
              <a:t> PGI CUST</a:t>
            </a:r>
          </a:p>
        </p:txBody>
      </p:sp>
      <p:sp>
        <p:nvSpPr>
          <p:cNvPr id="42" name="Rectangle : coins arrondis 41">
            <a:extLst>
              <a:ext uri="{FF2B5EF4-FFF2-40B4-BE49-F238E27FC236}">
                <a16:creationId xmlns:a16="http://schemas.microsoft.com/office/drawing/2014/main" id="{30EDC313-45C0-43FB-D909-7ED6534B98C4}"/>
              </a:ext>
            </a:extLst>
          </p:cNvPr>
          <p:cNvSpPr/>
          <p:nvPr/>
        </p:nvSpPr>
        <p:spPr>
          <a:xfrm>
            <a:off x="8135621" y="548160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Start Free Trial</a:t>
            </a:r>
          </a:p>
        </p:txBody>
      </p:sp>
      <p:sp>
        <p:nvSpPr>
          <p:cNvPr id="43" name="ZoneTexte 42">
            <a:extLst>
              <a:ext uri="{FF2B5EF4-FFF2-40B4-BE49-F238E27FC236}">
                <a16:creationId xmlns:a16="http://schemas.microsoft.com/office/drawing/2014/main" id="{C5FB2717-53E0-5BC4-E966-8EDFE7EE3695}"/>
              </a:ext>
            </a:extLst>
          </p:cNvPr>
          <p:cNvSpPr txBox="1"/>
          <p:nvPr/>
        </p:nvSpPr>
        <p:spPr>
          <a:xfrm>
            <a:off x="1757680" y="1410336"/>
            <a:ext cx="3525520" cy="584775"/>
          </a:xfrm>
          <a:prstGeom prst="rect">
            <a:avLst/>
          </a:prstGeom>
          <a:noFill/>
        </p:spPr>
        <p:txBody>
          <a:bodyPr wrap="square" rtlCol="0">
            <a:spAutoFit/>
          </a:bodyPr>
          <a:lstStyle/>
          <a:p>
            <a:r>
              <a:rPr lang="fr-FR" sz="3200" b="1" dirty="0">
                <a:solidFill>
                  <a:schemeClr val="bg1"/>
                </a:solidFill>
              </a:rPr>
              <a:t>PGI CUSTOM  1.0</a:t>
            </a:r>
          </a:p>
        </p:txBody>
      </p:sp>
      <p:sp>
        <p:nvSpPr>
          <p:cNvPr id="44" name="ZoneTexte 43">
            <a:extLst>
              <a:ext uri="{FF2B5EF4-FFF2-40B4-BE49-F238E27FC236}">
                <a16:creationId xmlns:a16="http://schemas.microsoft.com/office/drawing/2014/main" id="{9EE499DF-BD15-1DE2-5B33-293B4DAB8104}"/>
              </a:ext>
            </a:extLst>
          </p:cNvPr>
          <p:cNvSpPr txBox="1"/>
          <p:nvPr/>
        </p:nvSpPr>
        <p:spPr>
          <a:xfrm>
            <a:off x="1757680" y="2037715"/>
            <a:ext cx="4815840" cy="954107"/>
          </a:xfrm>
          <a:prstGeom prst="rect">
            <a:avLst/>
          </a:prstGeom>
          <a:noFill/>
        </p:spPr>
        <p:txBody>
          <a:bodyPr wrap="square" rtlCol="0">
            <a:spAutoFit/>
          </a:bodyPr>
          <a:lstStyle/>
          <a:p>
            <a:r>
              <a:rPr lang="fr-FR" sz="2800" b="1" dirty="0" err="1">
                <a:solidFill>
                  <a:schemeClr val="bg1"/>
                </a:solidFill>
              </a:rPr>
              <a:t>Create</a:t>
            </a:r>
            <a:r>
              <a:rPr lang="fr-FR" sz="2800" b="1" dirty="0">
                <a:solidFill>
                  <a:schemeClr val="bg1"/>
                </a:solidFill>
              </a:rPr>
              <a:t> </a:t>
            </a:r>
            <a:r>
              <a:rPr lang="fr-FR" sz="2800" b="1" dirty="0" err="1">
                <a:solidFill>
                  <a:schemeClr val="bg1"/>
                </a:solidFill>
              </a:rPr>
              <a:t>somes</a:t>
            </a:r>
            <a:r>
              <a:rPr lang="fr-FR" sz="2800" b="1" dirty="0">
                <a:solidFill>
                  <a:schemeClr val="bg1"/>
                </a:solidFill>
              </a:rPr>
              <a:t> </a:t>
            </a:r>
            <a:r>
              <a:rPr lang="fr-FR" sz="2800" b="1" dirty="0" err="1">
                <a:solidFill>
                  <a:schemeClr val="bg1"/>
                </a:solidFill>
              </a:rPr>
              <a:t>customers</a:t>
            </a:r>
            <a:endParaRPr lang="fr-FR" sz="2800" b="1" dirty="0">
              <a:solidFill>
                <a:schemeClr val="bg1"/>
              </a:solidFill>
            </a:endParaRPr>
          </a:p>
          <a:p>
            <a:r>
              <a:rPr lang="fr-FR" sz="2800" b="1" dirty="0">
                <a:solidFill>
                  <a:schemeClr val="bg1"/>
                </a:solidFill>
              </a:rPr>
              <a:t>for </a:t>
            </a:r>
            <a:r>
              <a:rPr lang="fr-FR" sz="2800" b="1" dirty="0" err="1">
                <a:solidFill>
                  <a:schemeClr val="bg1"/>
                </a:solidFill>
              </a:rPr>
              <a:t>your</a:t>
            </a:r>
            <a:r>
              <a:rPr lang="fr-FR" sz="2800" b="1" dirty="0">
                <a:solidFill>
                  <a:schemeClr val="bg1"/>
                </a:solidFill>
              </a:rPr>
              <a:t> </a:t>
            </a:r>
            <a:r>
              <a:rPr lang="fr-FR" sz="2800" b="1" dirty="0" err="1">
                <a:solidFill>
                  <a:schemeClr val="bg1"/>
                </a:solidFill>
              </a:rPr>
              <a:t>enterprise</a:t>
            </a:r>
            <a:r>
              <a:rPr lang="fr-FR" sz="2800" b="1" dirty="0">
                <a:solidFill>
                  <a:schemeClr val="bg1"/>
                </a:solidFill>
              </a:rPr>
              <a:t> </a:t>
            </a:r>
            <a:r>
              <a:rPr lang="fr-FR" sz="2800" b="1" dirty="0" err="1">
                <a:solidFill>
                  <a:schemeClr val="bg1"/>
                </a:solidFill>
              </a:rPr>
              <a:t>easy</a:t>
            </a:r>
            <a:r>
              <a:rPr lang="fr-FR" sz="2800" b="1" dirty="0">
                <a:solidFill>
                  <a:schemeClr val="bg1"/>
                </a:solidFill>
              </a:rPr>
              <a:t>…</a:t>
            </a:r>
          </a:p>
        </p:txBody>
      </p:sp>
      <p:sp>
        <p:nvSpPr>
          <p:cNvPr id="45" name="Ellipse 44">
            <a:extLst>
              <a:ext uri="{FF2B5EF4-FFF2-40B4-BE49-F238E27FC236}">
                <a16:creationId xmlns:a16="http://schemas.microsoft.com/office/drawing/2014/main" id="{A4F93AAF-59E3-2123-4C10-05E2CD157B55}"/>
              </a:ext>
            </a:extLst>
          </p:cNvPr>
          <p:cNvSpPr/>
          <p:nvPr/>
        </p:nvSpPr>
        <p:spPr>
          <a:xfrm>
            <a:off x="1866900" y="316261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ZoneTexte 45">
            <a:extLst>
              <a:ext uri="{FF2B5EF4-FFF2-40B4-BE49-F238E27FC236}">
                <a16:creationId xmlns:a16="http://schemas.microsoft.com/office/drawing/2014/main" id="{3DB35AA3-0CF3-02B4-D816-948D78DF359B}"/>
              </a:ext>
            </a:extLst>
          </p:cNvPr>
          <p:cNvSpPr txBox="1"/>
          <p:nvPr/>
        </p:nvSpPr>
        <p:spPr>
          <a:xfrm>
            <a:off x="2105025" y="3097014"/>
            <a:ext cx="3609975" cy="369332"/>
          </a:xfrm>
          <a:prstGeom prst="rect">
            <a:avLst/>
          </a:prstGeom>
          <a:noFill/>
        </p:spPr>
        <p:txBody>
          <a:bodyPr wrap="square" rtlCol="0">
            <a:spAutoFit/>
          </a:bodyPr>
          <a:lstStyle/>
          <a:p>
            <a:r>
              <a:rPr lang="fr-FR" b="1" dirty="0" err="1">
                <a:solidFill>
                  <a:schemeClr val="bg1"/>
                </a:solidFill>
              </a:rPr>
              <a:t>Integrate</a:t>
            </a:r>
            <a:r>
              <a:rPr lang="fr-FR" b="1" dirty="0">
                <a:solidFill>
                  <a:schemeClr val="bg1"/>
                </a:solidFill>
              </a:rPr>
              <a:t> AI gestion </a:t>
            </a:r>
            <a:r>
              <a:rPr lang="fr-FR" b="1" dirty="0" err="1">
                <a:solidFill>
                  <a:schemeClr val="bg1"/>
                </a:solidFill>
              </a:rPr>
              <a:t>customers</a:t>
            </a:r>
            <a:endParaRPr lang="fr-FR" b="1" dirty="0">
              <a:solidFill>
                <a:schemeClr val="bg1"/>
              </a:solidFill>
            </a:endParaRPr>
          </a:p>
        </p:txBody>
      </p:sp>
      <p:sp>
        <p:nvSpPr>
          <p:cNvPr id="47" name="Ellipse 46">
            <a:extLst>
              <a:ext uri="{FF2B5EF4-FFF2-40B4-BE49-F238E27FC236}">
                <a16:creationId xmlns:a16="http://schemas.microsoft.com/office/drawing/2014/main" id="{CE54F4D2-9601-0B1D-22ED-57E0B5679DDA}"/>
              </a:ext>
            </a:extLst>
          </p:cNvPr>
          <p:cNvSpPr/>
          <p:nvPr/>
        </p:nvSpPr>
        <p:spPr>
          <a:xfrm>
            <a:off x="1866900" y="3624472"/>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8" name="ZoneTexte 47">
            <a:extLst>
              <a:ext uri="{FF2B5EF4-FFF2-40B4-BE49-F238E27FC236}">
                <a16:creationId xmlns:a16="http://schemas.microsoft.com/office/drawing/2014/main" id="{22FF6A61-B88D-630F-B012-3881FD4A07EF}"/>
              </a:ext>
            </a:extLst>
          </p:cNvPr>
          <p:cNvSpPr txBox="1"/>
          <p:nvPr/>
        </p:nvSpPr>
        <p:spPr>
          <a:xfrm>
            <a:off x="2105025" y="3558868"/>
            <a:ext cx="3609975" cy="369332"/>
          </a:xfrm>
          <a:prstGeom prst="rect">
            <a:avLst/>
          </a:prstGeom>
          <a:noFill/>
        </p:spPr>
        <p:txBody>
          <a:bodyPr wrap="square" rtlCol="0">
            <a:spAutoFit/>
          </a:bodyPr>
          <a:lstStyle/>
          <a:p>
            <a:r>
              <a:rPr lang="fr-FR" b="1" dirty="0" err="1">
                <a:solidFill>
                  <a:schemeClr val="bg1"/>
                </a:solidFill>
              </a:rPr>
              <a:t>Crated</a:t>
            </a:r>
            <a:r>
              <a:rPr lang="fr-FR" b="1" dirty="0">
                <a:solidFill>
                  <a:schemeClr val="bg1"/>
                </a:solidFill>
              </a:rPr>
              <a:t> AI business documents</a:t>
            </a:r>
          </a:p>
        </p:txBody>
      </p:sp>
      <p:sp>
        <p:nvSpPr>
          <p:cNvPr id="49" name="Ellipse 48">
            <a:extLst>
              <a:ext uri="{FF2B5EF4-FFF2-40B4-BE49-F238E27FC236}">
                <a16:creationId xmlns:a16="http://schemas.microsoft.com/office/drawing/2014/main" id="{E4D898FC-A61E-CD37-3F5F-21607478A54F}"/>
              </a:ext>
            </a:extLst>
          </p:cNvPr>
          <p:cNvSpPr/>
          <p:nvPr/>
        </p:nvSpPr>
        <p:spPr>
          <a:xfrm>
            <a:off x="1866900" y="409509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0" name="ZoneTexte 49">
            <a:extLst>
              <a:ext uri="{FF2B5EF4-FFF2-40B4-BE49-F238E27FC236}">
                <a16:creationId xmlns:a16="http://schemas.microsoft.com/office/drawing/2014/main" id="{EF498804-D3A5-307F-54B4-D171D8B20B54}"/>
              </a:ext>
            </a:extLst>
          </p:cNvPr>
          <p:cNvSpPr txBox="1"/>
          <p:nvPr/>
        </p:nvSpPr>
        <p:spPr>
          <a:xfrm>
            <a:off x="2105025" y="4029494"/>
            <a:ext cx="3609975" cy="646331"/>
          </a:xfrm>
          <a:prstGeom prst="rect">
            <a:avLst/>
          </a:prstGeom>
          <a:noFill/>
        </p:spPr>
        <p:txBody>
          <a:bodyPr wrap="square" rtlCol="0">
            <a:spAutoFit/>
          </a:bodyPr>
          <a:lstStyle/>
          <a:p>
            <a:r>
              <a:rPr lang="fr-FR" b="1" dirty="0">
                <a:solidFill>
                  <a:schemeClr val="bg1"/>
                </a:solidFill>
              </a:rPr>
              <a:t>Use </a:t>
            </a:r>
            <a:r>
              <a:rPr lang="fr-FR" b="1" dirty="0" err="1">
                <a:solidFill>
                  <a:schemeClr val="bg1"/>
                </a:solidFill>
              </a:rPr>
              <a:t>with</a:t>
            </a:r>
            <a:r>
              <a:rPr lang="fr-FR" b="1" dirty="0">
                <a:solidFill>
                  <a:schemeClr val="bg1"/>
                </a:solidFill>
              </a:rPr>
              <a:t> support and </a:t>
            </a:r>
            <a:r>
              <a:rPr lang="fr-FR" b="1" dirty="0" err="1">
                <a:solidFill>
                  <a:schemeClr val="bg1"/>
                </a:solidFill>
              </a:rPr>
              <a:t>save</a:t>
            </a:r>
            <a:r>
              <a:rPr lang="fr-FR" b="1" dirty="0">
                <a:solidFill>
                  <a:schemeClr val="bg1"/>
                </a:solidFill>
              </a:rPr>
              <a:t> data base</a:t>
            </a:r>
          </a:p>
        </p:txBody>
      </p:sp>
      <p:sp>
        <p:nvSpPr>
          <p:cNvPr id="51" name="Rectangle 50">
            <a:extLst>
              <a:ext uri="{FF2B5EF4-FFF2-40B4-BE49-F238E27FC236}">
                <a16:creationId xmlns:a16="http://schemas.microsoft.com/office/drawing/2014/main" id="{2CF9669C-5F72-7C3E-BCDF-E5539DA8C169}"/>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P1</a:t>
            </a:r>
          </a:p>
        </p:txBody>
      </p:sp>
      <p:sp>
        <p:nvSpPr>
          <p:cNvPr id="2" name="Rectangle 1">
            <a:extLst>
              <a:ext uri="{FF2B5EF4-FFF2-40B4-BE49-F238E27FC236}">
                <a16:creationId xmlns:a16="http://schemas.microsoft.com/office/drawing/2014/main" id="{3A70B0DA-86E8-7549-DD7A-DC987CD47373}"/>
              </a:ext>
            </a:extLst>
          </p:cNvPr>
          <p:cNvSpPr/>
          <p:nvPr/>
        </p:nvSpPr>
        <p:spPr>
          <a:xfrm>
            <a:off x="1866899" y="1047116"/>
            <a:ext cx="5434873" cy="46774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Sur ce formulaire, il est facile d’utiliser </a:t>
            </a:r>
            <a:r>
              <a:rPr lang="fr-FR" dirty="0" err="1"/>
              <a:t>form</a:t>
            </a:r>
            <a:r>
              <a:rPr lang="fr-FR" dirty="0"/>
              <a:t> action=« </a:t>
            </a:r>
            <a:r>
              <a:rPr lang="fr-FR" dirty="0" err="1"/>
              <a:t>pagesuivante.php</a:t>
            </a:r>
            <a:r>
              <a:rPr lang="fr-FR" dirty="0"/>
              <a:t> » </a:t>
            </a:r>
            <a:r>
              <a:rPr lang="fr-FR" dirty="0" err="1"/>
              <a:t>method</a:t>
            </a:r>
            <a:r>
              <a:rPr lang="fr-FR" dirty="0"/>
              <a:t>=post   par exemple,</a:t>
            </a:r>
          </a:p>
          <a:p>
            <a:pPr algn="just"/>
            <a:r>
              <a:rPr lang="fr-FR" dirty="0"/>
              <a:t>Cela permet lorsqu’on clic sur le bouton </a:t>
            </a:r>
            <a:r>
              <a:rPr lang="fr-FR" dirty="0" err="1"/>
              <a:t>submit</a:t>
            </a:r>
            <a:r>
              <a:rPr lang="fr-FR" dirty="0"/>
              <a:t> de récupérer les données du formulaire.</a:t>
            </a:r>
          </a:p>
          <a:p>
            <a:pPr algn="just"/>
            <a:r>
              <a:rPr lang="fr-FR" dirty="0"/>
              <a:t>Le formulaire bascule les données avec $_POST</a:t>
            </a:r>
          </a:p>
        </p:txBody>
      </p:sp>
      <p:sp>
        <p:nvSpPr>
          <p:cNvPr id="4" name="Espace réservé du pied de page 3">
            <a:extLst>
              <a:ext uri="{FF2B5EF4-FFF2-40B4-BE49-F238E27FC236}">
                <a16:creationId xmlns:a16="http://schemas.microsoft.com/office/drawing/2014/main" id="{0BBEE139-6F84-A7CF-B416-AA7477C0EB75}"/>
              </a:ext>
            </a:extLst>
          </p:cNvPr>
          <p:cNvSpPr>
            <a:spLocks noGrp="1"/>
          </p:cNvSpPr>
          <p:nvPr>
            <p:ph type="ftr" sz="quarter" idx="11"/>
          </p:nvPr>
        </p:nvSpPr>
        <p:spPr/>
        <p:txBody>
          <a:bodyPr/>
          <a:lstStyle/>
          <a:p>
            <a:r>
              <a:rPr lang="fr-FR"/>
              <a:t>Evaluaiton avec un micro projet HTML-CSS</a:t>
            </a:r>
          </a:p>
        </p:txBody>
      </p:sp>
      <p:sp>
        <p:nvSpPr>
          <p:cNvPr id="5" name="Espace réservé du numéro de diapositive 4">
            <a:extLst>
              <a:ext uri="{FF2B5EF4-FFF2-40B4-BE49-F238E27FC236}">
                <a16:creationId xmlns:a16="http://schemas.microsoft.com/office/drawing/2014/main" id="{F08E3F8B-0CFE-A3FC-A19C-B25B7A58D048}"/>
              </a:ext>
            </a:extLst>
          </p:cNvPr>
          <p:cNvSpPr>
            <a:spLocks noGrp="1"/>
          </p:cNvSpPr>
          <p:nvPr>
            <p:ph type="sldNum" sz="quarter" idx="12"/>
          </p:nvPr>
        </p:nvSpPr>
        <p:spPr/>
        <p:txBody>
          <a:bodyPr/>
          <a:lstStyle/>
          <a:p>
            <a:fld id="{61A50371-3F2D-4FEF-B603-773838516A24}" type="slidenum">
              <a:rPr lang="fr-FR" smtClean="0"/>
              <a:t>16</a:t>
            </a:fld>
            <a:endParaRPr lang="fr-FR"/>
          </a:p>
        </p:txBody>
      </p:sp>
    </p:spTree>
    <p:extLst>
      <p:ext uri="{BB962C8B-B14F-4D97-AF65-F5344CB8AC3E}">
        <p14:creationId xmlns:p14="http://schemas.microsoft.com/office/powerpoint/2010/main" val="3382560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9AC9-CC6B-D09C-E061-69757D8F8920}"/>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CB54300-CA8C-5459-72E0-EC7C68644485}"/>
              </a:ext>
            </a:extLst>
          </p:cNvPr>
          <p:cNvPicPr>
            <a:picLocks noChangeAspect="1"/>
          </p:cNvPicPr>
          <p:nvPr/>
        </p:nvPicPr>
        <p:blipFill>
          <a:blip r:embed="rId2"/>
          <a:srcRect l="46954" t="6250" r="47187" b="85139"/>
          <a:stretch>
            <a:fillRect/>
          </a:stretch>
        </p:blipFill>
        <p:spPr>
          <a:xfrm>
            <a:off x="5472112" y="295269"/>
            <a:ext cx="1247776" cy="1031495"/>
          </a:xfrm>
          <a:prstGeom prst="rect">
            <a:avLst/>
          </a:prstGeom>
        </p:spPr>
      </p:pic>
      <p:sp>
        <p:nvSpPr>
          <p:cNvPr id="3" name="ZoneTexte 2">
            <a:extLst>
              <a:ext uri="{FF2B5EF4-FFF2-40B4-BE49-F238E27FC236}">
                <a16:creationId xmlns:a16="http://schemas.microsoft.com/office/drawing/2014/main" id="{5F5B2E47-9026-D292-112B-58234839B4A2}"/>
              </a:ext>
            </a:extLst>
          </p:cNvPr>
          <p:cNvSpPr txBox="1"/>
          <p:nvPr/>
        </p:nvSpPr>
        <p:spPr>
          <a:xfrm>
            <a:off x="4353152" y="1326764"/>
            <a:ext cx="3762375" cy="523220"/>
          </a:xfrm>
          <a:prstGeom prst="rect">
            <a:avLst/>
          </a:prstGeom>
          <a:noFill/>
        </p:spPr>
        <p:txBody>
          <a:bodyPr wrap="square" rtlCol="0">
            <a:spAutoFit/>
          </a:bodyPr>
          <a:lstStyle/>
          <a:p>
            <a:pPr algn="ctr"/>
            <a:r>
              <a:rPr lang="fr-FR" sz="2800" b="1" dirty="0"/>
              <a:t>Les clients l’adorent</a:t>
            </a:r>
          </a:p>
        </p:txBody>
      </p:sp>
      <p:sp>
        <p:nvSpPr>
          <p:cNvPr id="4" name="ZoneTexte 3">
            <a:extLst>
              <a:ext uri="{FF2B5EF4-FFF2-40B4-BE49-F238E27FC236}">
                <a16:creationId xmlns:a16="http://schemas.microsoft.com/office/drawing/2014/main" id="{DE136703-EC33-3EF0-7AFB-9925119BA1CE}"/>
              </a:ext>
            </a:extLst>
          </p:cNvPr>
          <p:cNvSpPr txBox="1"/>
          <p:nvPr/>
        </p:nvSpPr>
        <p:spPr>
          <a:xfrm>
            <a:off x="3500891" y="1849984"/>
            <a:ext cx="5092700" cy="523220"/>
          </a:xfrm>
          <a:prstGeom prst="rect">
            <a:avLst/>
          </a:prstGeom>
          <a:noFill/>
        </p:spPr>
        <p:txBody>
          <a:bodyPr wrap="square" rtlCol="0">
            <a:spAutoFit/>
          </a:bodyPr>
          <a:lstStyle/>
          <a:p>
            <a:pPr algn="ctr"/>
            <a:r>
              <a:rPr lang="fr-FR" sz="1400" dirty="0"/>
              <a:t>Découvrez ce que les professionnels du secteur disent de notre plateforme de création de leads</a:t>
            </a:r>
          </a:p>
        </p:txBody>
      </p:sp>
      <p:sp>
        <p:nvSpPr>
          <p:cNvPr id="5" name="ZoneTexte 4">
            <a:extLst>
              <a:ext uri="{FF2B5EF4-FFF2-40B4-BE49-F238E27FC236}">
                <a16:creationId xmlns:a16="http://schemas.microsoft.com/office/drawing/2014/main" id="{2EB68C62-1C24-9BE7-953C-3A3BEDF05C3C}"/>
              </a:ext>
            </a:extLst>
          </p:cNvPr>
          <p:cNvSpPr txBox="1"/>
          <p:nvPr/>
        </p:nvSpPr>
        <p:spPr>
          <a:xfrm>
            <a:off x="872218" y="2685142"/>
            <a:ext cx="3193143" cy="2585323"/>
          </a:xfrm>
          <a:prstGeom prst="rect">
            <a:avLst/>
          </a:prstGeom>
          <a:noFill/>
        </p:spPr>
        <p:txBody>
          <a:bodyPr wrap="square" rtlCol="0">
            <a:spAutoFit/>
          </a:bodyPr>
          <a:lstStyle/>
          <a:p>
            <a:pPr algn="just"/>
            <a:r>
              <a:rPr lang="fr-FR" dirty="0"/>
              <a:t>« Merci à PGI CUST », après plusieurs essais d’autres PGI, j’ai désespéré, jusqu’à ce que je trouve PGI CUST, qui fait pratiquement tout le travail de leads à ma place.</a:t>
            </a:r>
          </a:p>
          <a:p>
            <a:pPr algn="just"/>
            <a:r>
              <a:rPr lang="fr-FR" dirty="0"/>
              <a:t>J’ai juste à me concentrer sur mes services.</a:t>
            </a:r>
          </a:p>
          <a:p>
            <a:pPr algn="just"/>
            <a:r>
              <a:rPr lang="fr-FR" dirty="0"/>
              <a:t>C’est ce que je recherchais… »</a:t>
            </a:r>
          </a:p>
        </p:txBody>
      </p:sp>
      <p:sp>
        <p:nvSpPr>
          <p:cNvPr id="6" name="ZoneTexte 5">
            <a:extLst>
              <a:ext uri="{FF2B5EF4-FFF2-40B4-BE49-F238E27FC236}">
                <a16:creationId xmlns:a16="http://schemas.microsoft.com/office/drawing/2014/main" id="{414E45A6-0294-F810-54B8-41C09C61DDF2}"/>
              </a:ext>
            </a:extLst>
          </p:cNvPr>
          <p:cNvSpPr txBox="1"/>
          <p:nvPr/>
        </p:nvSpPr>
        <p:spPr>
          <a:xfrm>
            <a:off x="4496708" y="2685141"/>
            <a:ext cx="3193143" cy="3139321"/>
          </a:xfrm>
          <a:prstGeom prst="rect">
            <a:avLst/>
          </a:prstGeom>
          <a:noFill/>
        </p:spPr>
        <p:txBody>
          <a:bodyPr wrap="square" rtlCol="0">
            <a:spAutoFit/>
          </a:bodyPr>
          <a:lstStyle/>
          <a:p>
            <a:pPr algn="just"/>
            <a:r>
              <a:rPr lang="fr-FR" dirty="0"/>
              <a:t>« D’une facilité d’utilisation étonnante ! C’est une première. Au début on doute, car l’application est très abordable financièrement, ensuite on apprécie. Honnêtement je serais prête à y mettre plus d’argent pour des suppléments de services qu’il manque dans mon entreprise. »</a:t>
            </a:r>
          </a:p>
        </p:txBody>
      </p:sp>
      <p:sp>
        <p:nvSpPr>
          <p:cNvPr id="7" name="ZoneTexte 6">
            <a:extLst>
              <a:ext uri="{FF2B5EF4-FFF2-40B4-BE49-F238E27FC236}">
                <a16:creationId xmlns:a16="http://schemas.microsoft.com/office/drawing/2014/main" id="{65E72129-68C9-E8F7-D072-A54FCD95D425}"/>
              </a:ext>
            </a:extLst>
          </p:cNvPr>
          <p:cNvSpPr txBox="1"/>
          <p:nvPr/>
        </p:nvSpPr>
        <p:spPr>
          <a:xfrm>
            <a:off x="8121198" y="2668914"/>
            <a:ext cx="3193143" cy="2862322"/>
          </a:xfrm>
          <a:prstGeom prst="rect">
            <a:avLst/>
          </a:prstGeom>
          <a:noFill/>
        </p:spPr>
        <p:txBody>
          <a:bodyPr wrap="square" rtlCol="0">
            <a:spAutoFit/>
          </a:bodyPr>
          <a:lstStyle/>
          <a:p>
            <a:pPr algn="just"/>
            <a:r>
              <a:rPr lang="fr-FR" dirty="0"/>
              <a:t>« OK, vraiment OK. Je suis très satisfaite. L’équipe support est vraiment très pédagogue. Je viens de créer mon entreprise et je dispose déjà d’un outil abordable de professionnel. Grâce à PGI CUST, j’ai validé 100 leads en 2 mois contre 20 avec mon ancienne application de gestion intégré.</a:t>
            </a:r>
          </a:p>
        </p:txBody>
      </p:sp>
      <p:pic>
        <p:nvPicPr>
          <p:cNvPr id="8" name="Image 7">
            <a:extLst>
              <a:ext uri="{FF2B5EF4-FFF2-40B4-BE49-F238E27FC236}">
                <a16:creationId xmlns:a16="http://schemas.microsoft.com/office/drawing/2014/main" id="{6A00068D-D67D-F674-B3C7-962A12B434B7}"/>
              </a:ext>
            </a:extLst>
          </p:cNvPr>
          <p:cNvPicPr>
            <a:picLocks noChangeAspect="1"/>
          </p:cNvPicPr>
          <p:nvPr/>
        </p:nvPicPr>
        <p:blipFill>
          <a:blip r:embed="rId2"/>
          <a:srcRect l="40357" t="71323" r="40833" b="21058"/>
          <a:stretch>
            <a:fillRect/>
          </a:stretch>
        </p:blipFill>
        <p:spPr>
          <a:xfrm>
            <a:off x="4496708" y="5940582"/>
            <a:ext cx="2998085" cy="683109"/>
          </a:xfrm>
          <a:prstGeom prst="rect">
            <a:avLst/>
          </a:prstGeom>
        </p:spPr>
      </p:pic>
      <p:pic>
        <p:nvPicPr>
          <p:cNvPr id="9" name="Image 8">
            <a:extLst>
              <a:ext uri="{FF2B5EF4-FFF2-40B4-BE49-F238E27FC236}">
                <a16:creationId xmlns:a16="http://schemas.microsoft.com/office/drawing/2014/main" id="{89BE85E7-A545-B0C7-DA41-3BB5C2C5C7F4}"/>
              </a:ext>
            </a:extLst>
          </p:cNvPr>
          <p:cNvPicPr>
            <a:picLocks noChangeAspect="1"/>
          </p:cNvPicPr>
          <p:nvPr/>
        </p:nvPicPr>
        <p:blipFill>
          <a:blip r:embed="rId3"/>
          <a:stretch>
            <a:fillRect/>
          </a:stretch>
        </p:blipFill>
        <p:spPr>
          <a:xfrm>
            <a:off x="338597" y="111608"/>
            <a:ext cx="1356853" cy="453356"/>
          </a:xfrm>
          <a:prstGeom prst="rect">
            <a:avLst/>
          </a:prstGeom>
        </p:spPr>
      </p:pic>
      <p:sp>
        <p:nvSpPr>
          <p:cNvPr id="10" name="Rectangle 9">
            <a:extLst>
              <a:ext uri="{FF2B5EF4-FFF2-40B4-BE49-F238E27FC236}">
                <a16:creationId xmlns:a16="http://schemas.microsoft.com/office/drawing/2014/main" id="{D6FF6592-E3F2-4CBB-AB49-BB84BE9967CC}"/>
              </a:ext>
            </a:extLst>
          </p:cNvPr>
          <p:cNvSpPr/>
          <p:nvPr/>
        </p:nvSpPr>
        <p:spPr>
          <a:xfrm>
            <a:off x="338597" y="564964"/>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11" name="Rectangle : coins arrondis 10">
            <a:extLst>
              <a:ext uri="{FF2B5EF4-FFF2-40B4-BE49-F238E27FC236}">
                <a16:creationId xmlns:a16="http://schemas.microsoft.com/office/drawing/2014/main" id="{997FC759-2976-AFA1-90DF-E3A655F30EAF}"/>
              </a:ext>
            </a:extLst>
          </p:cNvPr>
          <p:cNvSpPr/>
          <p:nvPr/>
        </p:nvSpPr>
        <p:spPr>
          <a:xfrm>
            <a:off x="4496707" y="6075439"/>
            <a:ext cx="3193143" cy="48729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b="1" dirty="0"/>
              <a:t>Commencer votre essai gratuit</a:t>
            </a:r>
          </a:p>
        </p:txBody>
      </p:sp>
      <p:sp>
        <p:nvSpPr>
          <p:cNvPr id="12" name="Rectangle 11">
            <a:extLst>
              <a:ext uri="{FF2B5EF4-FFF2-40B4-BE49-F238E27FC236}">
                <a16:creationId xmlns:a16="http://schemas.microsoft.com/office/drawing/2014/main" id="{44BE91C5-21AF-87CE-EC11-E53F4FE4932D}"/>
              </a:ext>
            </a:extLst>
          </p:cNvPr>
          <p:cNvSpPr/>
          <p:nvPr/>
        </p:nvSpPr>
        <p:spPr>
          <a:xfrm>
            <a:off x="783454" y="2467296"/>
            <a:ext cx="5434873" cy="30393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(facultatif) : Lorsqu’on clique sur le bouton « Commencer un essai gratuit », le téléchargement du programme PGI CUST démarre. Il s(agit d’un a href.</a:t>
            </a:r>
          </a:p>
          <a:p>
            <a:pPr marL="342900" indent="-342900" algn="just">
              <a:buAutoNum type="alphaLcPeriod"/>
            </a:pPr>
            <a:r>
              <a:rPr lang="fr-FR" dirty="0"/>
              <a:t>Créer un fichier TXT bidon, avec un contenu bidon.</a:t>
            </a:r>
          </a:p>
          <a:p>
            <a:pPr marL="342900" indent="-342900" algn="just">
              <a:buAutoNum type="alphaLcPeriod"/>
            </a:pPr>
            <a:r>
              <a:rPr lang="fr-FR" dirty="0"/>
              <a:t>Renommer ce fichier PGICUST.EXE</a:t>
            </a:r>
          </a:p>
          <a:p>
            <a:pPr marL="342900" indent="-342900" algn="just">
              <a:buAutoNum type="alphaLcPeriod"/>
            </a:pPr>
            <a:r>
              <a:rPr lang="fr-FR" dirty="0"/>
              <a:t>Placer ce fichier dans un le dossier « download » du site web.</a:t>
            </a:r>
          </a:p>
          <a:p>
            <a:pPr marL="342900" indent="-342900" algn="just">
              <a:buAutoNum type="alphaLcPeriod"/>
            </a:pPr>
            <a:r>
              <a:rPr lang="fr-FR" dirty="0"/>
              <a:t>Tester le lien de téléchargement…</a:t>
            </a:r>
          </a:p>
        </p:txBody>
      </p:sp>
      <p:sp>
        <p:nvSpPr>
          <p:cNvPr id="13" name="Espace réservé du pied de page 12">
            <a:extLst>
              <a:ext uri="{FF2B5EF4-FFF2-40B4-BE49-F238E27FC236}">
                <a16:creationId xmlns:a16="http://schemas.microsoft.com/office/drawing/2014/main" id="{6908EDB5-EF55-CE77-88F7-6A3ADDE1798A}"/>
              </a:ext>
            </a:extLst>
          </p:cNvPr>
          <p:cNvSpPr>
            <a:spLocks noGrp="1"/>
          </p:cNvSpPr>
          <p:nvPr>
            <p:ph type="ftr" sz="quarter" idx="11"/>
          </p:nvPr>
        </p:nvSpPr>
        <p:spPr/>
        <p:txBody>
          <a:bodyPr/>
          <a:lstStyle/>
          <a:p>
            <a:r>
              <a:rPr lang="fr-FR"/>
              <a:t>Evaluaiton avec un micro projet HTML-CSS</a:t>
            </a:r>
          </a:p>
        </p:txBody>
      </p:sp>
      <p:sp>
        <p:nvSpPr>
          <p:cNvPr id="14" name="Espace réservé du numéro de diapositive 13">
            <a:extLst>
              <a:ext uri="{FF2B5EF4-FFF2-40B4-BE49-F238E27FC236}">
                <a16:creationId xmlns:a16="http://schemas.microsoft.com/office/drawing/2014/main" id="{F268832F-1DA5-83AA-2C76-75AD8059C527}"/>
              </a:ext>
            </a:extLst>
          </p:cNvPr>
          <p:cNvSpPr>
            <a:spLocks noGrp="1"/>
          </p:cNvSpPr>
          <p:nvPr>
            <p:ph type="sldNum" sz="quarter" idx="12"/>
          </p:nvPr>
        </p:nvSpPr>
        <p:spPr/>
        <p:txBody>
          <a:bodyPr/>
          <a:lstStyle/>
          <a:p>
            <a:fld id="{61A50371-3F2D-4FEF-B603-773838516A24}" type="slidenum">
              <a:rPr lang="fr-FR" smtClean="0"/>
              <a:t>17</a:t>
            </a:fld>
            <a:endParaRPr lang="fr-FR"/>
          </a:p>
        </p:txBody>
      </p:sp>
    </p:spTree>
    <p:extLst>
      <p:ext uri="{BB962C8B-B14F-4D97-AF65-F5344CB8AC3E}">
        <p14:creationId xmlns:p14="http://schemas.microsoft.com/office/powerpoint/2010/main" val="2573578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E2179-8AF0-B080-DAEC-55D31A1AE45D}"/>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74192B1D-EBDA-E84C-1E05-04C7A2121660}"/>
              </a:ext>
            </a:extLst>
          </p:cNvPr>
          <p:cNvPicPr>
            <a:picLocks noChangeAspect="1"/>
          </p:cNvPicPr>
          <p:nvPr/>
        </p:nvPicPr>
        <p:blipFill>
          <a:blip r:embed="rId2"/>
          <a:srcRect l="34251" t="25630" r="35333" b="46000"/>
          <a:stretch>
            <a:fillRect/>
          </a:stretch>
        </p:blipFill>
        <p:spPr>
          <a:xfrm>
            <a:off x="3488471" y="1123610"/>
            <a:ext cx="5530402" cy="2901567"/>
          </a:xfrm>
          <a:prstGeom prst="rect">
            <a:avLst/>
          </a:prstGeom>
        </p:spPr>
      </p:pic>
      <p:sp>
        <p:nvSpPr>
          <p:cNvPr id="6" name="ZoneTexte 5">
            <a:extLst>
              <a:ext uri="{FF2B5EF4-FFF2-40B4-BE49-F238E27FC236}">
                <a16:creationId xmlns:a16="http://schemas.microsoft.com/office/drawing/2014/main" id="{56A36FAF-1C0F-46DB-835B-11F631FB6922}"/>
              </a:ext>
            </a:extLst>
          </p:cNvPr>
          <p:cNvSpPr txBox="1"/>
          <p:nvPr/>
        </p:nvSpPr>
        <p:spPr>
          <a:xfrm>
            <a:off x="5307741" y="4025177"/>
            <a:ext cx="1891865" cy="584775"/>
          </a:xfrm>
          <a:prstGeom prst="rect">
            <a:avLst/>
          </a:prstGeom>
          <a:noFill/>
        </p:spPr>
        <p:txBody>
          <a:bodyPr wrap="none" rtlCol="0">
            <a:spAutoFit/>
          </a:bodyPr>
          <a:lstStyle/>
          <a:p>
            <a:r>
              <a:rPr lang="fr-FR" sz="3200" b="1" dirty="0" err="1"/>
              <a:t>Success</a:t>
            </a:r>
            <a:r>
              <a:rPr lang="fr-FR" sz="3200" b="1" dirty="0"/>
              <a:t>!</a:t>
            </a:r>
          </a:p>
        </p:txBody>
      </p:sp>
      <p:sp>
        <p:nvSpPr>
          <p:cNvPr id="7" name="ZoneTexte 6">
            <a:extLst>
              <a:ext uri="{FF2B5EF4-FFF2-40B4-BE49-F238E27FC236}">
                <a16:creationId xmlns:a16="http://schemas.microsoft.com/office/drawing/2014/main" id="{20EA5825-E4E4-0948-ADC0-2B58FACAA94C}"/>
              </a:ext>
            </a:extLst>
          </p:cNvPr>
          <p:cNvSpPr txBox="1"/>
          <p:nvPr/>
        </p:nvSpPr>
        <p:spPr>
          <a:xfrm>
            <a:off x="3643823" y="4609952"/>
            <a:ext cx="5219699" cy="646331"/>
          </a:xfrm>
          <a:prstGeom prst="rect">
            <a:avLst/>
          </a:prstGeom>
          <a:noFill/>
        </p:spPr>
        <p:txBody>
          <a:bodyPr wrap="none" rtlCol="0">
            <a:spAutoFit/>
          </a:bodyPr>
          <a:lstStyle/>
          <a:p>
            <a:pPr algn="ctr"/>
            <a:r>
              <a:rPr lang="fr-FR" dirty="0" err="1"/>
              <a:t>You’re</a:t>
            </a:r>
            <a:r>
              <a:rPr lang="fr-FR" dirty="0"/>
              <a:t> all set. Check </a:t>
            </a:r>
            <a:r>
              <a:rPr lang="fr-FR" dirty="0" err="1"/>
              <a:t>your</a:t>
            </a:r>
            <a:r>
              <a:rPr lang="fr-FR" dirty="0"/>
              <a:t> email to </a:t>
            </a:r>
            <a:r>
              <a:rPr lang="fr-FR" dirty="0" err="1"/>
              <a:t>get</a:t>
            </a:r>
            <a:r>
              <a:rPr lang="fr-FR" dirty="0"/>
              <a:t> </a:t>
            </a:r>
            <a:r>
              <a:rPr lang="fr-FR" dirty="0" err="1"/>
              <a:t>starded</a:t>
            </a:r>
            <a:r>
              <a:rPr lang="fr-FR" dirty="0"/>
              <a:t> </a:t>
            </a:r>
            <a:r>
              <a:rPr lang="fr-FR" dirty="0" err="1"/>
              <a:t>with</a:t>
            </a:r>
            <a:endParaRPr lang="fr-FR" dirty="0"/>
          </a:p>
          <a:p>
            <a:pPr algn="ctr"/>
            <a:r>
              <a:rPr lang="fr-FR" dirty="0" err="1"/>
              <a:t>Your</a:t>
            </a:r>
            <a:r>
              <a:rPr lang="fr-FR" dirty="0"/>
              <a:t> free 30-day trial/</a:t>
            </a:r>
          </a:p>
        </p:txBody>
      </p:sp>
      <p:sp>
        <p:nvSpPr>
          <p:cNvPr id="8" name="Rectangle 7">
            <a:extLst>
              <a:ext uri="{FF2B5EF4-FFF2-40B4-BE49-F238E27FC236}">
                <a16:creationId xmlns:a16="http://schemas.microsoft.com/office/drawing/2014/main" id="{8D7E6977-EA4E-D26E-A18D-A914908D43CF}"/>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2" name="Espace réservé du pied de page 1">
            <a:extLst>
              <a:ext uri="{FF2B5EF4-FFF2-40B4-BE49-F238E27FC236}">
                <a16:creationId xmlns:a16="http://schemas.microsoft.com/office/drawing/2014/main" id="{6FE6A8E0-C246-AAA4-5AF3-8624A510D93F}"/>
              </a:ext>
            </a:extLst>
          </p:cNvPr>
          <p:cNvSpPr>
            <a:spLocks noGrp="1"/>
          </p:cNvSpPr>
          <p:nvPr>
            <p:ph type="ftr" sz="quarter" idx="11"/>
          </p:nvPr>
        </p:nvSpPr>
        <p:spPr/>
        <p:txBody>
          <a:bodyPr/>
          <a:lstStyle/>
          <a:p>
            <a:r>
              <a:rPr lang="fr-FR"/>
              <a:t>Evaluaiton avec un micro projet HTML-CSS</a:t>
            </a:r>
          </a:p>
        </p:txBody>
      </p:sp>
      <p:sp>
        <p:nvSpPr>
          <p:cNvPr id="3" name="Espace réservé du numéro de diapositive 2">
            <a:extLst>
              <a:ext uri="{FF2B5EF4-FFF2-40B4-BE49-F238E27FC236}">
                <a16:creationId xmlns:a16="http://schemas.microsoft.com/office/drawing/2014/main" id="{641757FE-801C-A333-9B39-10D619595EC8}"/>
              </a:ext>
            </a:extLst>
          </p:cNvPr>
          <p:cNvSpPr>
            <a:spLocks noGrp="1"/>
          </p:cNvSpPr>
          <p:nvPr>
            <p:ph type="sldNum" sz="quarter" idx="12"/>
          </p:nvPr>
        </p:nvSpPr>
        <p:spPr/>
        <p:txBody>
          <a:bodyPr/>
          <a:lstStyle/>
          <a:p>
            <a:fld id="{61A50371-3F2D-4FEF-B603-773838516A24}" type="slidenum">
              <a:rPr lang="fr-FR" smtClean="0"/>
              <a:t>18</a:t>
            </a:fld>
            <a:endParaRPr lang="fr-FR"/>
          </a:p>
        </p:txBody>
      </p:sp>
    </p:spTree>
    <p:extLst>
      <p:ext uri="{BB962C8B-B14F-4D97-AF65-F5344CB8AC3E}">
        <p14:creationId xmlns:p14="http://schemas.microsoft.com/office/powerpoint/2010/main" val="3632162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DC6E7-4776-C6AD-A71D-F2829539F8C8}"/>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A7F13D22-2088-9EAE-C6BB-12962D253284}"/>
              </a:ext>
            </a:extLst>
          </p:cNvPr>
          <p:cNvPicPr>
            <a:picLocks noChangeAspect="1"/>
          </p:cNvPicPr>
          <p:nvPr/>
        </p:nvPicPr>
        <p:blipFill>
          <a:blip r:embed="rId2">
            <a:clrChange>
              <a:clrFrom>
                <a:srgbClr val="F8F8F8"/>
              </a:clrFrom>
              <a:clrTo>
                <a:srgbClr val="F8F8F8">
                  <a:alpha val="0"/>
                </a:srgbClr>
              </a:clrTo>
            </a:clrChange>
          </a:blip>
          <a:srcRect l="22656" t="52519" r="68510" b="33851"/>
          <a:stretch>
            <a:fillRect/>
          </a:stretch>
        </p:blipFill>
        <p:spPr>
          <a:xfrm>
            <a:off x="2056848" y="2420620"/>
            <a:ext cx="1662264" cy="1442720"/>
          </a:xfrm>
          <a:prstGeom prst="rect">
            <a:avLst/>
          </a:prstGeom>
        </p:spPr>
      </p:pic>
      <p:pic>
        <p:nvPicPr>
          <p:cNvPr id="4" name="Image 3">
            <a:extLst>
              <a:ext uri="{FF2B5EF4-FFF2-40B4-BE49-F238E27FC236}">
                <a16:creationId xmlns:a16="http://schemas.microsoft.com/office/drawing/2014/main" id="{1E24483D-A3D9-2793-ABFE-BA5D9B4DDCBA}"/>
              </a:ext>
            </a:extLst>
          </p:cNvPr>
          <p:cNvPicPr>
            <a:picLocks noChangeAspect="1"/>
          </p:cNvPicPr>
          <p:nvPr/>
        </p:nvPicPr>
        <p:blipFill>
          <a:blip r:embed="rId2">
            <a:clrChange>
              <a:clrFrom>
                <a:srgbClr val="F8F8F8"/>
              </a:clrFrom>
              <a:clrTo>
                <a:srgbClr val="F8F8F8">
                  <a:alpha val="0"/>
                </a:srgbClr>
              </a:clrTo>
            </a:clrChange>
          </a:blip>
          <a:srcRect l="44156" t="52815" r="44261" b="32370"/>
          <a:stretch>
            <a:fillRect/>
          </a:stretch>
        </p:blipFill>
        <p:spPr>
          <a:xfrm>
            <a:off x="4761396" y="2544043"/>
            <a:ext cx="1662264" cy="1195873"/>
          </a:xfrm>
          <a:prstGeom prst="rect">
            <a:avLst/>
          </a:prstGeom>
        </p:spPr>
      </p:pic>
      <p:pic>
        <p:nvPicPr>
          <p:cNvPr id="5" name="Image 4">
            <a:extLst>
              <a:ext uri="{FF2B5EF4-FFF2-40B4-BE49-F238E27FC236}">
                <a16:creationId xmlns:a16="http://schemas.microsoft.com/office/drawing/2014/main" id="{6D94E080-691F-9C5C-56AC-2C78E9681D91}"/>
              </a:ext>
            </a:extLst>
          </p:cNvPr>
          <p:cNvPicPr>
            <a:picLocks noChangeAspect="1"/>
          </p:cNvPicPr>
          <p:nvPr/>
        </p:nvPicPr>
        <p:blipFill>
          <a:blip r:embed="rId2">
            <a:clrChange>
              <a:clrFrom>
                <a:srgbClr val="F8F8F8"/>
              </a:clrFrom>
              <a:clrTo>
                <a:srgbClr val="F8F8F8">
                  <a:alpha val="0"/>
                </a:srgbClr>
              </a:clrTo>
            </a:clrChange>
          </a:blip>
          <a:srcRect l="68990" t="55185" r="24010" b="33407"/>
          <a:stretch>
            <a:fillRect/>
          </a:stretch>
        </p:blipFill>
        <p:spPr>
          <a:xfrm>
            <a:off x="7465944" y="2544043"/>
            <a:ext cx="1511852" cy="1385864"/>
          </a:xfrm>
          <a:prstGeom prst="rect">
            <a:avLst/>
          </a:prstGeom>
        </p:spPr>
      </p:pic>
      <p:sp>
        <p:nvSpPr>
          <p:cNvPr id="7" name="ZoneTexte 6">
            <a:extLst>
              <a:ext uri="{FF2B5EF4-FFF2-40B4-BE49-F238E27FC236}">
                <a16:creationId xmlns:a16="http://schemas.microsoft.com/office/drawing/2014/main" id="{9B893F1C-5CA9-CEB0-5598-F58ACE387E9A}"/>
              </a:ext>
            </a:extLst>
          </p:cNvPr>
          <p:cNvSpPr txBox="1"/>
          <p:nvPr/>
        </p:nvSpPr>
        <p:spPr>
          <a:xfrm>
            <a:off x="1943100" y="3863340"/>
            <a:ext cx="1662264" cy="276999"/>
          </a:xfrm>
          <a:prstGeom prst="rect">
            <a:avLst/>
          </a:prstGeom>
          <a:noFill/>
        </p:spPr>
        <p:txBody>
          <a:bodyPr wrap="square" rtlCol="0">
            <a:spAutoFit/>
          </a:bodyPr>
          <a:lstStyle/>
          <a:p>
            <a:pPr algn="ctr"/>
            <a:r>
              <a:rPr lang="fr-FR" sz="1200" b="1" dirty="0"/>
              <a:t>User guides</a:t>
            </a:r>
          </a:p>
        </p:txBody>
      </p:sp>
      <p:sp>
        <p:nvSpPr>
          <p:cNvPr id="8" name="ZoneTexte 7">
            <a:extLst>
              <a:ext uri="{FF2B5EF4-FFF2-40B4-BE49-F238E27FC236}">
                <a16:creationId xmlns:a16="http://schemas.microsoft.com/office/drawing/2014/main" id="{EA083C7F-F907-C25C-6B70-775D3C757A4B}"/>
              </a:ext>
            </a:extLst>
          </p:cNvPr>
          <p:cNvSpPr txBox="1"/>
          <p:nvPr/>
        </p:nvSpPr>
        <p:spPr>
          <a:xfrm>
            <a:off x="3904255" y="3863339"/>
            <a:ext cx="3149600" cy="261610"/>
          </a:xfrm>
          <a:prstGeom prst="rect">
            <a:avLst/>
          </a:prstGeom>
          <a:noFill/>
        </p:spPr>
        <p:txBody>
          <a:bodyPr wrap="square" rtlCol="0">
            <a:spAutoFit/>
          </a:bodyPr>
          <a:lstStyle/>
          <a:p>
            <a:pPr algn="ctr"/>
            <a:r>
              <a:rPr lang="fr-FR" sz="1100" b="1" dirty="0" err="1"/>
              <a:t>Learn</a:t>
            </a:r>
            <a:r>
              <a:rPr lang="fr-FR" sz="1100" b="1" dirty="0"/>
              <a:t> more about the PGI CUST AI </a:t>
            </a:r>
            <a:r>
              <a:rPr lang="fr-FR" sz="1100" b="1" dirty="0" err="1"/>
              <a:t>advantage</a:t>
            </a:r>
            <a:endParaRPr lang="fr-FR" sz="1100" b="1" dirty="0"/>
          </a:p>
        </p:txBody>
      </p:sp>
      <p:sp>
        <p:nvSpPr>
          <p:cNvPr id="9" name="ZoneTexte 8">
            <a:extLst>
              <a:ext uri="{FF2B5EF4-FFF2-40B4-BE49-F238E27FC236}">
                <a16:creationId xmlns:a16="http://schemas.microsoft.com/office/drawing/2014/main" id="{7778975C-4A4C-80F2-73B5-4A05B2DB8258}"/>
              </a:ext>
            </a:extLst>
          </p:cNvPr>
          <p:cNvSpPr txBox="1"/>
          <p:nvPr/>
        </p:nvSpPr>
        <p:spPr>
          <a:xfrm>
            <a:off x="7096208" y="3863340"/>
            <a:ext cx="2334812" cy="276999"/>
          </a:xfrm>
          <a:prstGeom prst="rect">
            <a:avLst/>
          </a:prstGeom>
          <a:noFill/>
        </p:spPr>
        <p:txBody>
          <a:bodyPr wrap="square" rtlCol="0">
            <a:spAutoFit/>
          </a:bodyPr>
          <a:lstStyle/>
          <a:p>
            <a:pPr algn="ctr"/>
            <a:r>
              <a:rPr lang="fr-FR" sz="1200" b="1" dirty="0" err="1"/>
              <a:t>Proven</a:t>
            </a:r>
            <a:r>
              <a:rPr lang="fr-FR" sz="1200" b="1" dirty="0"/>
              <a:t> </a:t>
            </a:r>
            <a:r>
              <a:rPr lang="fr-FR" sz="1200" b="1" dirty="0" err="1"/>
              <a:t>customer</a:t>
            </a:r>
            <a:r>
              <a:rPr lang="fr-FR" sz="1200" b="1" dirty="0"/>
              <a:t> </a:t>
            </a:r>
            <a:r>
              <a:rPr lang="fr-FR" sz="1200" b="1" dirty="0" err="1"/>
              <a:t>success</a:t>
            </a:r>
            <a:endParaRPr lang="fr-FR" sz="1200" b="1" dirty="0"/>
          </a:p>
        </p:txBody>
      </p:sp>
      <p:sp>
        <p:nvSpPr>
          <p:cNvPr id="10" name="ZoneTexte 9">
            <a:extLst>
              <a:ext uri="{FF2B5EF4-FFF2-40B4-BE49-F238E27FC236}">
                <a16:creationId xmlns:a16="http://schemas.microsoft.com/office/drawing/2014/main" id="{D33CD147-6F96-662A-40B8-F213AFC3644E}"/>
              </a:ext>
            </a:extLst>
          </p:cNvPr>
          <p:cNvSpPr txBox="1"/>
          <p:nvPr/>
        </p:nvSpPr>
        <p:spPr>
          <a:xfrm>
            <a:off x="1428751" y="4140339"/>
            <a:ext cx="2475504" cy="507831"/>
          </a:xfrm>
          <a:prstGeom prst="rect">
            <a:avLst/>
          </a:prstGeom>
          <a:noFill/>
        </p:spPr>
        <p:txBody>
          <a:bodyPr wrap="square" rtlCol="0">
            <a:spAutoFit/>
          </a:bodyPr>
          <a:lstStyle/>
          <a:p>
            <a:pPr algn="ctr"/>
            <a:r>
              <a:rPr lang="fr-FR" sz="900" dirty="0" err="1"/>
              <a:t>Learn</a:t>
            </a:r>
            <a:r>
              <a:rPr lang="fr-FR" sz="900" dirty="0"/>
              <a:t> how manage PGI CUST apps, </a:t>
            </a:r>
            <a:r>
              <a:rPr lang="fr-FR" sz="900" dirty="0" err="1"/>
              <a:t>create</a:t>
            </a:r>
            <a:r>
              <a:rPr lang="fr-FR" sz="900" dirty="0"/>
              <a:t> </a:t>
            </a:r>
            <a:r>
              <a:rPr lang="fr-FR" sz="900" dirty="0" err="1"/>
              <a:t>customers</a:t>
            </a:r>
            <a:r>
              <a:rPr lang="fr-FR" sz="900" dirty="0"/>
              <a:t>, </a:t>
            </a:r>
            <a:r>
              <a:rPr lang="fr-FR" sz="900" dirty="0" err="1"/>
              <a:t>collaborate</a:t>
            </a:r>
            <a:r>
              <a:rPr lang="fr-FR" sz="900" dirty="0"/>
              <a:t> </a:t>
            </a:r>
            <a:r>
              <a:rPr lang="fr-FR" sz="900" dirty="0" err="1"/>
              <a:t>with</a:t>
            </a:r>
            <a:r>
              <a:rPr lang="fr-FR" sz="900" dirty="0"/>
              <a:t> A.I, and </a:t>
            </a:r>
            <a:r>
              <a:rPr lang="fr-FR" sz="900" dirty="0" err="1"/>
              <a:t>validate</a:t>
            </a:r>
            <a:r>
              <a:rPr lang="fr-FR" sz="900" dirty="0"/>
              <a:t> </a:t>
            </a:r>
            <a:r>
              <a:rPr lang="fr-FR" sz="900" dirty="0" err="1"/>
              <a:t>somes</a:t>
            </a:r>
            <a:r>
              <a:rPr lang="fr-FR" sz="900" dirty="0"/>
              <a:t> leads</a:t>
            </a:r>
          </a:p>
        </p:txBody>
      </p:sp>
      <p:sp>
        <p:nvSpPr>
          <p:cNvPr id="11" name="ZoneTexte 10">
            <a:extLst>
              <a:ext uri="{FF2B5EF4-FFF2-40B4-BE49-F238E27FC236}">
                <a16:creationId xmlns:a16="http://schemas.microsoft.com/office/drawing/2014/main" id="{E09C93C6-4FED-17B5-618C-CFFC6D864512}"/>
              </a:ext>
            </a:extLst>
          </p:cNvPr>
          <p:cNvSpPr txBox="1"/>
          <p:nvPr/>
        </p:nvSpPr>
        <p:spPr>
          <a:xfrm>
            <a:off x="4169206" y="4209588"/>
            <a:ext cx="2779311" cy="369332"/>
          </a:xfrm>
          <a:prstGeom prst="rect">
            <a:avLst/>
          </a:prstGeom>
          <a:noFill/>
        </p:spPr>
        <p:txBody>
          <a:bodyPr wrap="square" rtlCol="0">
            <a:spAutoFit/>
          </a:bodyPr>
          <a:lstStyle/>
          <a:p>
            <a:pPr algn="ctr"/>
            <a:r>
              <a:rPr lang="fr-FR" sz="900" dirty="0"/>
              <a:t>Compose </a:t>
            </a:r>
            <a:r>
              <a:rPr lang="fr-FR" sz="900" dirty="0" err="1"/>
              <a:t>compelling</a:t>
            </a:r>
            <a:r>
              <a:rPr lang="fr-FR" sz="900" dirty="0"/>
              <a:t> lead and copy prospect,</a:t>
            </a:r>
          </a:p>
          <a:p>
            <a:pPr algn="ctr"/>
            <a:r>
              <a:rPr lang="fr-FR" sz="900" dirty="0" err="1"/>
              <a:t>Generate</a:t>
            </a:r>
            <a:r>
              <a:rPr lang="fr-FR" sz="900" dirty="0"/>
              <a:t> </a:t>
            </a:r>
            <a:r>
              <a:rPr lang="fr-FR" sz="900" dirty="0" err="1"/>
              <a:t>customers</a:t>
            </a:r>
            <a:r>
              <a:rPr lang="fr-FR" sz="900" dirty="0"/>
              <a:t> and leads, and more business</a:t>
            </a:r>
          </a:p>
        </p:txBody>
      </p:sp>
      <p:sp>
        <p:nvSpPr>
          <p:cNvPr id="12" name="ZoneTexte 11">
            <a:extLst>
              <a:ext uri="{FF2B5EF4-FFF2-40B4-BE49-F238E27FC236}">
                <a16:creationId xmlns:a16="http://schemas.microsoft.com/office/drawing/2014/main" id="{2449D55E-6101-7593-6320-C714974442D9}"/>
              </a:ext>
            </a:extLst>
          </p:cNvPr>
          <p:cNvSpPr txBox="1"/>
          <p:nvPr/>
        </p:nvSpPr>
        <p:spPr>
          <a:xfrm>
            <a:off x="7104762" y="4150488"/>
            <a:ext cx="2636138" cy="369332"/>
          </a:xfrm>
          <a:prstGeom prst="rect">
            <a:avLst/>
          </a:prstGeom>
          <a:noFill/>
        </p:spPr>
        <p:txBody>
          <a:bodyPr wrap="square" rtlCol="0">
            <a:spAutoFit/>
          </a:bodyPr>
          <a:lstStyle/>
          <a:p>
            <a:pPr algn="ctr"/>
            <a:r>
              <a:rPr lang="fr-FR" sz="900" dirty="0"/>
              <a:t>How the irish Rugby Football </a:t>
            </a:r>
            <a:r>
              <a:rPr lang="fr-FR" sz="900" dirty="0" err="1"/>
              <a:t>Unon</a:t>
            </a:r>
            <a:r>
              <a:rPr lang="fr-FR" sz="900" dirty="0"/>
              <a:t> has </a:t>
            </a:r>
            <a:r>
              <a:rPr lang="fr-FR" sz="900" dirty="0" err="1"/>
              <a:t>expanded</a:t>
            </a:r>
            <a:endParaRPr lang="fr-FR" sz="900" dirty="0"/>
          </a:p>
          <a:p>
            <a:pPr algn="ctr"/>
            <a:r>
              <a:rPr lang="fr-FR" sz="900" dirty="0" err="1"/>
              <a:t>Their</a:t>
            </a:r>
            <a:r>
              <a:rPr lang="fr-FR" sz="900" dirty="0"/>
              <a:t> use of PGI CUST for more efficient</a:t>
            </a:r>
          </a:p>
        </p:txBody>
      </p:sp>
      <p:sp>
        <p:nvSpPr>
          <p:cNvPr id="14" name="ZoneTexte 13">
            <a:extLst>
              <a:ext uri="{FF2B5EF4-FFF2-40B4-BE49-F238E27FC236}">
                <a16:creationId xmlns:a16="http://schemas.microsoft.com/office/drawing/2014/main" id="{8C370C96-4668-2ED8-6F00-49056D20A961}"/>
              </a:ext>
            </a:extLst>
          </p:cNvPr>
          <p:cNvSpPr txBox="1"/>
          <p:nvPr/>
        </p:nvSpPr>
        <p:spPr>
          <a:xfrm>
            <a:off x="914400" y="767964"/>
            <a:ext cx="9931400" cy="954107"/>
          </a:xfrm>
          <a:prstGeom prst="rect">
            <a:avLst/>
          </a:prstGeom>
          <a:noFill/>
        </p:spPr>
        <p:txBody>
          <a:bodyPr wrap="square" rtlCol="0">
            <a:spAutoFit/>
          </a:bodyPr>
          <a:lstStyle/>
          <a:p>
            <a:pPr algn="ctr"/>
            <a:r>
              <a:rPr lang="fr-FR" sz="2800" b="1" dirty="0"/>
              <a:t>Not sur </a:t>
            </a:r>
            <a:r>
              <a:rPr lang="fr-FR" sz="2800" b="1" dirty="0" err="1"/>
              <a:t>where</a:t>
            </a:r>
            <a:r>
              <a:rPr lang="fr-FR" sz="2800" b="1" dirty="0"/>
              <a:t> to start ?</a:t>
            </a:r>
          </a:p>
          <a:p>
            <a:pPr algn="ctr"/>
            <a:r>
              <a:rPr lang="fr-FR" sz="2800" b="1" dirty="0" err="1"/>
              <a:t>We’ve</a:t>
            </a:r>
            <a:r>
              <a:rPr lang="fr-FR" sz="2800" b="1" dirty="0"/>
              <a:t> </a:t>
            </a:r>
            <a:r>
              <a:rPr lang="fr-FR" sz="2800" b="1" dirty="0" err="1"/>
              <a:t>got</a:t>
            </a:r>
            <a:r>
              <a:rPr lang="fr-FR" sz="2800" b="1" dirty="0"/>
              <a:t> </a:t>
            </a:r>
            <a:r>
              <a:rPr lang="fr-FR" sz="2800" b="1" dirty="0" err="1"/>
              <a:t>you</a:t>
            </a:r>
            <a:r>
              <a:rPr lang="fr-FR" sz="2800" b="1" dirty="0"/>
              <a:t> </a:t>
            </a:r>
            <a:r>
              <a:rPr lang="fr-FR" sz="2800" b="1" dirty="0" err="1"/>
              <a:t>covered</a:t>
            </a:r>
            <a:r>
              <a:rPr lang="fr-FR" sz="2800" b="1" dirty="0"/>
              <a:t>. </a:t>
            </a:r>
            <a:r>
              <a:rPr lang="fr-FR" sz="2800" b="1" dirty="0" err="1"/>
              <a:t>Here</a:t>
            </a:r>
            <a:r>
              <a:rPr lang="fr-FR" sz="2800" b="1" dirty="0"/>
              <a:t> are </a:t>
            </a:r>
            <a:r>
              <a:rPr lang="fr-FR" sz="2800" b="1" dirty="0" err="1"/>
              <a:t>some</a:t>
            </a:r>
            <a:r>
              <a:rPr lang="fr-FR" sz="2800" b="1" dirty="0"/>
              <a:t> </a:t>
            </a:r>
            <a:r>
              <a:rPr lang="fr-FR" sz="2800" b="1" dirty="0" err="1"/>
              <a:t>helful</a:t>
            </a:r>
            <a:r>
              <a:rPr lang="fr-FR" sz="2800" b="1" dirty="0"/>
              <a:t> </a:t>
            </a:r>
            <a:r>
              <a:rPr lang="fr-FR" sz="2800" b="1" dirty="0" err="1"/>
              <a:t>resources</a:t>
            </a:r>
            <a:r>
              <a:rPr lang="fr-FR" sz="2800" b="1" dirty="0"/>
              <a:t> :</a:t>
            </a:r>
          </a:p>
        </p:txBody>
      </p:sp>
      <p:sp>
        <p:nvSpPr>
          <p:cNvPr id="15" name="Rectangle 14">
            <a:extLst>
              <a:ext uri="{FF2B5EF4-FFF2-40B4-BE49-F238E27FC236}">
                <a16:creationId xmlns:a16="http://schemas.microsoft.com/office/drawing/2014/main" id="{648AAFC5-A190-6A83-6B1C-8FAD2D50F742}"/>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2" name="Espace réservé du pied de page 1">
            <a:extLst>
              <a:ext uri="{FF2B5EF4-FFF2-40B4-BE49-F238E27FC236}">
                <a16:creationId xmlns:a16="http://schemas.microsoft.com/office/drawing/2014/main" id="{197A6A38-7B76-FAC7-2309-394E0E71BD90}"/>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3A7F1009-465E-EE2B-275B-1214BC3A43F4}"/>
              </a:ext>
            </a:extLst>
          </p:cNvPr>
          <p:cNvSpPr>
            <a:spLocks noGrp="1"/>
          </p:cNvSpPr>
          <p:nvPr>
            <p:ph type="sldNum" sz="quarter" idx="12"/>
          </p:nvPr>
        </p:nvSpPr>
        <p:spPr/>
        <p:txBody>
          <a:bodyPr/>
          <a:lstStyle/>
          <a:p>
            <a:fld id="{61A50371-3F2D-4FEF-B603-773838516A24}" type="slidenum">
              <a:rPr lang="fr-FR" smtClean="0"/>
              <a:t>19</a:t>
            </a:fld>
            <a:endParaRPr lang="fr-FR"/>
          </a:p>
        </p:txBody>
      </p:sp>
    </p:spTree>
    <p:extLst>
      <p:ext uri="{BB962C8B-B14F-4D97-AF65-F5344CB8AC3E}">
        <p14:creationId xmlns:p14="http://schemas.microsoft.com/office/powerpoint/2010/main" val="3093965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44FA6-ED0F-AD97-4C66-099E3C4A6289}"/>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399DB48-4857-7583-4407-5A2D6FDD68CD}"/>
              </a:ext>
            </a:extLst>
          </p:cNvPr>
          <p:cNvPicPr>
            <a:picLocks noChangeAspect="1"/>
          </p:cNvPicPr>
          <p:nvPr/>
        </p:nvPicPr>
        <p:blipFill>
          <a:blip r:embed="rId2"/>
          <a:srcRect t="8889" r="39896" b="5000"/>
          <a:stretch>
            <a:fillRect/>
          </a:stretch>
        </p:blipFill>
        <p:spPr>
          <a:xfrm>
            <a:off x="0" y="0"/>
            <a:ext cx="7327900" cy="6858000"/>
          </a:xfrm>
          <a:prstGeom prst="rect">
            <a:avLst/>
          </a:prstGeom>
        </p:spPr>
      </p:pic>
      <p:sp>
        <p:nvSpPr>
          <p:cNvPr id="2" name="Rectangle : coins arrondis 1">
            <a:extLst>
              <a:ext uri="{FF2B5EF4-FFF2-40B4-BE49-F238E27FC236}">
                <a16:creationId xmlns:a16="http://schemas.microsoft.com/office/drawing/2014/main" id="{5816DA76-6A1E-AB25-A86F-6506D94B3143}"/>
              </a:ext>
            </a:extLst>
          </p:cNvPr>
          <p:cNvSpPr/>
          <p:nvPr/>
        </p:nvSpPr>
        <p:spPr>
          <a:xfrm>
            <a:off x="7978140" y="1082041"/>
            <a:ext cx="3771900" cy="37033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Rectangle 3">
            <a:extLst>
              <a:ext uri="{FF2B5EF4-FFF2-40B4-BE49-F238E27FC236}">
                <a16:creationId xmlns:a16="http://schemas.microsoft.com/office/drawing/2014/main" id="{0E85BAFB-AD65-BCC7-D6C9-9786FB818E67}"/>
              </a:ext>
            </a:extLst>
          </p:cNvPr>
          <p:cNvSpPr/>
          <p:nvPr/>
        </p:nvSpPr>
        <p:spPr>
          <a:xfrm>
            <a:off x="8082915" y="285273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err="1">
                <a:solidFill>
                  <a:schemeClr val="bg2">
                    <a:lumMod val="50000"/>
                  </a:schemeClr>
                </a:solidFill>
              </a:rPr>
              <a:t>Your</a:t>
            </a:r>
            <a:r>
              <a:rPr lang="fr-FR" sz="1100" dirty="0">
                <a:solidFill>
                  <a:schemeClr val="bg2">
                    <a:lumMod val="50000"/>
                  </a:schemeClr>
                </a:solidFill>
              </a:rPr>
              <a:t> Email</a:t>
            </a:r>
          </a:p>
        </p:txBody>
      </p:sp>
      <p:sp>
        <p:nvSpPr>
          <p:cNvPr id="5" name="Rectangle 4">
            <a:extLst>
              <a:ext uri="{FF2B5EF4-FFF2-40B4-BE49-F238E27FC236}">
                <a16:creationId xmlns:a16="http://schemas.microsoft.com/office/drawing/2014/main" id="{0B808F22-C3EE-E587-EC1D-3B22D8BC7670}"/>
              </a:ext>
            </a:extLst>
          </p:cNvPr>
          <p:cNvSpPr/>
          <p:nvPr/>
        </p:nvSpPr>
        <p:spPr>
          <a:xfrm>
            <a:off x="8082914" y="330993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18" name="Rectangle : coins arrondis 17">
            <a:extLst>
              <a:ext uri="{FF2B5EF4-FFF2-40B4-BE49-F238E27FC236}">
                <a16:creationId xmlns:a16="http://schemas.microsoft.com/office/drawing/2014/main" id="{6BC699C5-1CC9-A05A-FFF0-A20DC6BDA011}"/>
              </a:ext>
            </a:extLst>
          </p:cNvPr>
          <p:cNvSpPr/>
          <p:nvPr/>
        </p:nvSpPr>
        <p:spPr>
          <a:xfrm>
            <a:off x="8449854" y="3861910"/>
            <a:ext cx="2374900" cy="361950"/>
          </a:xfrm>
          <a:prstGeom prst="roundRect">
            <a:avLst/>
          </a:prstGeom>
          <a:solidFill>
            <a:srgbClr val="52B4E6"/>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Se connecter</a:t>
            </a:r>
          </a:p>
        </p:txBody>
      </p:sp>
      <p:sp>
        <p:nvSpPr>
          <p:cNvPr id="19" name="ZoneTexte 18">
            <a:extLst>
              <a:ext uri="{FF2B5EF4-FFF2-40B4-BE49-F238E27FC236}">
                <a16:creationId xmlns:a16="http://schemas.microsoft.com/office/drawing/2014/main" id="{CC890FCB-A963-370D-A343-EADBC6B599E8}"/>
              </a:ext>
            </a:extLst>
          </p:cNvPr>
          <p:cNvSpPr txBox="1"/>
          <p:nvPr/>
        </p:nvSpPr>
        <p:spPr>
          <a:xfrm>
            <a:off x="7978140" y="2147080"/>
            <a:ext cx="1731884" cy="400110"/>
          </a:xfrm>
          <a:prstGeom prst="rect">
            <a:avLst/>
          </a:prstGeom>
          <a:noFill/>
        </p:spPr>
        <p:txBody>
          <a:bodyPr wrap="none" rtlCol="0">
            <a:spAutoFit/>
          </a:bodyPr>
          <a:lstStyle/>
          <a:p>
            <a:r>
              <a:rPr lang="fr-FR" sz="2000" b="1" dirty="0"/>
              <a:t>Se connecter</a:t>
            </a:r>
          </a:p>
        </p:txBody>
      </p:sp>
      <p:sp>
        <p:nvSpPr>
          <p:cNvPr id="20" name="ZoneTexte 19">
            <a:extLst>
              <a:ext uri="{FF2B5EF4-FFF2-40B4-BE49-F238E27FC236}">
                <a16:creationId xmlns:a16="http://schemas.microsoft.com/office/drawing/2014/main" id="{EDF5A7F6-9D2A-BABC-59F6-7A4B84D0FC44}"/>
              </a:ext>
            </a:extLst>
          </p:cNvPr>
          <p:cNvSpPr txBox="1"/>
          <p:nvPr/>
        </p:nvSpPr>
        <p:spPr>
          <a:xfrm>
            <a:off x="7978140" y="4317885"/>
            <a:ext cx="1569660" cy="261610"/>
          </a:xfrm>
          <a:prstGeom prst="rect">
            <a:avLst/>
          </a:prstGeom>
          <a:noFill/>
        </p:spPr>
        <p:txBody>
          <a:bodyPr wrap="none" rtlCol="0">
            <a:spAutoFit/>
          </a:bodyPr>
          <a:lstStyle/>
          <a:p>
            <a:r>
              <a:rPr lang="fr-FR" sz="1100" b="1" dirty="0">
                <a:solidFill>
                  <a:srgbClr val="52B4E6"/>
                </a:solidFill>
              </a:rPr>
              <a:t>Mot de passe oublié ?</a:t>
            </a:r>
          </a:p>
        </p:txBody>
      </p:sp>
      <p:pic>
        <p:nvPicPr>
          <p:cNvPr id="21" name="Image 20">
            <a:extLst>
              <a:ext uri="{FF2B5EF4-FFF2-40B4-BE49-F238E27FC236}">
                <a16:creationId xmlns:a16="http://schemas.microsoft.com/office/drawing/2014/main" id="{3F545E07-8988-3E24-7C35-37956ABD6BE5}"/>
              </a:ext>
            </a:extLst>
          </p:cNvPr>
          <p:cNvPicPr>
            <a:picLocks noChangeAspect="1"/>
          </p:cNvPicPr>
          <p:nvPr/>
        </p:nvPicPr>
        <p:blipFill>
          <a:blip r:embed="rId3"/>
          <a:stretch>
            <a:fillRect/>
          </a:stretch>
        </p:blipFill>
        <p:spPr>
          <a:xfrm>
            <a:off x="8577722" y="1006957"/>
            <a:ext cx="2572735" cy="859611"/>
          </a:xfrm>
          <a:prstGeom prst="rect">
            <a:avLst/>
          </a:prstGeom>
        </p:spPr>
      </p:pic>
      <p:sp>
        <p:nvSpPr>
          <p:cNvPr id="22" name="Rectangle 21">
            <a:extLst>
              <a:ext uri="{FF2B5EF4-FFF2-40B4-BE49-F238E27FC236}">
                <a16:creationId xmlns:a16="http://schemas.microsoft.com/office/drawing/2014/main" id="{1A93B280-C867-F823-146D-D9D713E2C9AE}"/>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P3</a:t>
            </a:r>
          </a:p>
        </p:txBody>
      </p:sp>
      <p:sp>
        <p:nvSpPr>
          <p:cNvPr id="6" name="Rectangle 5">
            <a:extLst>
              <a:ext uri="{FF2B5EF4-FFF2-40B4-BE49-F238E27FC236}">
                <a16:creationId xmlns:a16="http://schemas.microsoft.com/office/drawing/2014/main" id="{F0CA6E17-5572-C01F-0664-20B872CACBF3}"/>
              </a:ext>
            </a:extLst>
          </p:cNvPr>
          <p:cNvSpPr/>
          <p:nvPr/>
        </p:nvSpPr>
        <p:spPr>
          <a:xfrm>
            <a:off x="1866899" y="1047116"/>
            <a:ext cx="5434873" cy="46774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Sur ce formulaire, il est facile d’utiliser </a:t>
            </a:r>
            <a:r>
              <a:rPr lang="fr-FR" dirty="0" err="1"/>
              <a:t>form</a:t>
            </a:r>
            <a:r>
              <a:rPr lang="fr-FR" dirty="0"/>
              <a:t> action=« </a:t>
            </a:r>
            <a:r>
              <a:rPr lang="fr-FR" dirty="0" err="1"/>
              <a:t>authenfication.php</a:t>
            </a:r>
            <a:r>
              <a:rPr lang="fr-FR" dirty="0"/>
              <a:t> » </a:t>
            </a:r>
            <a:r>
              <a:rPr lang="fr-FR" dirty="0" err="1"/>
              <a:t>method</a:t>
            </a:r>
            <a:r>
              <a:rPr lang="fr-FR" dirty="0"/>
              <a:t>=post   par exemple,</a:t>
            </a:r>
          </a:p>
          <a:p>
            <a:pPr algn="just"/>
            <a:r>
              <a:rPr lang="fr-FR" dirty="0"/>
              <a:t>Cela permet lorsqu’on clic sur le bouton </a:t>
            </a:r>
            <a:r>
              <a:rPr lang="fr-FR" dirty="0" err="1"/>
              <a:t>submit</a:t>
            </a:r>
            <a:r>
              <a:rPr lang="fr-FR" dirty="0"/>
              <a:t> de récupérer les données du formulaire pour se connecter.</a:t>
            </a:r>
          </a:p>
          <a:p>
            <a:pPr algn="just"/>
            <a:r>
              <a:rPr lang="fr-FR" dirty="0"/>
              <a:t>Le formulaire bascule les données avec $_POST</a:t>
            </a:r>
          </a:p>
          <a:p>
            <a:pPr algn="just"/>
            <a:endParaRPr lang="fr-FR" dirty="0"/>
          </a:p>
          <a:p>
            <a:pPr algn="just"/>
            <a:r>
              <a:rPr lang="fr-FR" dirty="0"/>
              <a:t>Utiliser par exemple, un email comme </a:t>
            </a:r>
            <a:r>
              <a:rPr lang="fr-FR" dirty="0" err="1"/>
              <a:t>idnetifiant</a:t>
            </a:r>
            <a:r>
              <a:rPr lang="fr-FR" dirty="0"/>
              <a:t>, exemple user@gmail.com et un mot de passe : 12345.</a:t>
            </a:r>
          </a:p>
          <a:p>
            <a:pPr algn="just"/>
            <a:endParaRPr lang="fr-FR" dirty="0"/>
          </a:p>
          <a:p>
            <a:pPr algn="just"/>
            <a:r>
              <a:rPr lang="fr-FR" dirty="0"/>
              <a:t>Il est impératif d’avoir compris la commande « if » afin de tester l’identifiant et le mot de passe.</a:t>
            </a:r>
          </a:p>
          <a:p>
            <a:pPr algn="just"/>
            <a:r>
              <a:rPr lang="fr-FR" dirty="0"/>
              <a:t>Si l’identifiant et le mot de passe sont bons, la personne sera connectée et dirigée vers la page 4, à défaut il reste sur la page 3.</a:t>
            </a:r>
          </a:p>
        </p:txBody>
      </p:sp>
      <p:sp>
        <p:nvSpPr>
          <p:cNvPr id="7" name="Espace réservé du pied de page 6">
            <a:extLst>
              <a:ext uri="{FF2B5EF4-FFF2-40B4-BE49-F238E27FC236}">
                <a16:creationId xmlns:a16="http://schemas.microsoft.com/office/drawing/2014/main" id="{D2E40BB9-0167-AE56-BC5F-C4982B8397D8}"/>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AA91CE46-149D-F27D-DB12-5BA47034198F}"/>
              </a:ext>
            </a:extLst>
          </p:cNvPr>
          <p:cNvSpPr>
            <a:spLocks noGrp="1"/>
          </p:cNvSpPr>
          <p:nvPr>
            <p:ph type="sldNum" sz="quarter" idx="12"/>
          </p:nvPr>
        </p:nvSpPr>
        <p:spPr/>
        <p:txBody>
          <a:bodyPr/>
          <a:lstStyle/>
          <a:p>
            <a:fld id="{61A50371-3F2D-4FEF-B603-773838516A24}" type="slidenum">
              <a:rPr lang="fr-FR" smtClean="0"/>
              <a:t>20</a:t>
            </a:fld>
            <a:endParaRPr lang="fr-FR"/>
          </a:p>
        </p:txBody>
      </p:sp>
    </p:spTree>
    <p:extLst>
      <p:ext uri="{BB962C8B-B14F-4D97-AF65-F5344CB8AC3E}">
        <p14:creationId xmlns:p14="http://schemas.microsoft.com/office/powerpoint/2010/main" val="1865845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64704-8256-8D65-C882-6A42DC80585A}"/>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F192FB8-5537-2079-F204-06E74317F4A1}"/>
              </a:ext>
            </a:extLst>
          </p:cNvPr>
          <p:cNvPicPr>
            <a:picLocks noChangeAspect="1"/>
          </p:cNvPicPr>
          <p:nvPr/>
        </p:nvPicPr>
        <p:blipFill>
          <a:blip r:embed="rId2">
            <a:clrChange>
              <a:clrFrom>
                <a:srgbClr val="FFFFFF"/>
              </a:clrFrom>
              <a:clrTo>
                <a:srgbClr val="FFFFFF">
                  <a:alpha val="0"/>
                </a:srgbClr>
              </a:clrTo>
            </a:clrChange>
          </a:blip>
          <a:srcRect l="38307" t="55537" r="60174" b="42067"/>
          <a:stretch>
            <a:fillRect/>
          </a:stretch>
        </p:blipFill>
        <p:spPr>
          <a:xfrm>
            <a:off x="4388757" y="3977152"/>
            <a:ext cx="299720" cy="265953"/>
          </a:xfrm>
          <a:prstGeom prst="rect">
            <a:avLst/>
          </a:prstGeom>
        </p:spPr>
      </p:pic>
      <p:sp>
        <p:nvSpPr>
          <p:cNvPr id="4" name="ZoneTexte 3">
            <a:extLst>
              <a:ext uri="{FF2B5EF4-FFF2-40B4-BE49-F238E27FC236}">
                <a16:creationId xmlns:a16="http://schemas.microsoft.com/office/drawing/2014/main" id="{9644245F-5320-D6F1-8E31-A51D7361F3B1}"/>
              </a:ext>
            </a:extLst>
          </p:cNvPr>
          <p:cNvSpPr txBox="1"/>
          <p:nvPr/>
        </p:nvSpPr>
        <p:spPr>
          <a:xfrm>
            <a:off x="4388757" y="1934780"/>
            <a:ext cx="3702050" cy="830997"/>
          </a:xfrm>
          <a:prstGeom prst="rect">
            <a:avLst/>
          </a:prstGeom>
          <a:noFill/>
        </p:spPr>
        <p:txBody>
          <a:bodyPr wrap="square" rtlCol="0">
            <a:spAutoFit/>
          </a:bodyPr>
          <a:lstStyle/>
          <a:p>
            <a:pPr algn="ctr"/>
            <a:r>
              <a:rPr lang="fr-FR" sz="2400" dirty="0"/>
              <a:t>Sélectionnez une région pour continuer</a:t>
            </a:r>
          </a:p>
        </p:txBody>
      </p:sp>
      <p:sp>
        <p:nvSpPr>
          <p:cNvPr id="6" name="ZoneTexte 5">
            <a:extLst>
              <a:ext uri="{FF2B5EF4-FFF2-40B4-BE49-F238E27FC236}">
                <a16:creationId xmlns:a16="http://schemas.microsoft.com/office/drawing/2014/main" id="{E4A383CA-4C64-7E67-D9B3-B26C71585D57}"/>
              </a:ext>
            </a:extLst>
          </p:cNvPr>
          <p:cNvSpPr txBox="1"/>
          <p:nvPr/>
        </p:nvSpPr>
        <p:spPr>
          <a:xfrm>
            <a:off x="4388757" y="2765777"/>
            <a:ext cx="3702050" cy="646331"/>
          </a:xfrm>
          <a:prstGeom prst="rect">
            <a:avLst/>
          </a:prstGeom>
          <a:noFill/>
        </p:spPr>
        <p:txBody>
          <a:bodyPr wrap="square" rtlCol="0">
            <a:spAutoFit/>
          </a:bodyPr>
          <a:lstStyle/>
          <a:p>
            <a:pPr algn="ctr"/>
            <a:r>
              <a:rPr lang="fr-FR" sz="1200" dirty="0"/>
              <a:t>Il semble que vous ayez souscrit à des abonnements dans plusieurs régions. Veuillez sélectionner une région pour continuer à utiliser PGI CUST</a:t>
            </a:r>
          </a:p>
        </p:txBody>
      </p:sp>
      <p:pic>
        <p:nvPicPr>
          <p:cNvPr id="7" name="Image 6">
            <a:extLst>
              <a:ext uri="{FF2B5EF4-FFF2-40B4-BE49-F238E27FC236}">
                <a16:creationId xmlns:a16="http://schemas.microsoft.com/office/drawing/2014/main" id="{32B63B58-6A5D-CEDD-D591-5C36E46AA8C2}"/>
              </a:ext>
            </a:extLst>
          </p:cNvPr>
          <p:cNvPicPr>
            <a:picLocks noChangeAspect="1"/>
          </p:cNvPicPr>
          <p:nvPr/>
        </p:nvPicPr>
        <p:blipFill>
          <a:blip r:embed="rId2">
            <a:clrChange>
              <a:clrFrom>
                <a:srgbClr val="FFFFFF"/>
              </a:clrFrom>
              <a:clrTo>
                <a:srgbClr val="FFFFFF">
                  <a:alpha val="0"/>
                </a:srgbClr>
              </a:clrTo>
            </a:clrChange>
          </a:blip>
          <a:srcRect l="38307" t="62704" r="60174" b="34638"/>
          <a:stretch>
            <a:fillRect/>
          </a:stretch>
        </p:blipFill>
        <p:spPr>
          <a:xfrm>
            <a:off x="4388757" y="4316554"/>
            <a:ext cx="299720" cy="295001"/>
          </a:xfrm>
          <a:prstGeom prst="rect">
            <a:avLst/>
          </a:prstGeom>
        </p:spPr>
      </p:pic>
      <p:sp>
        <p:nvSpPr>
          <p:cNvPr id="8" name="ZoneTexte 7">
            <a:extLst>
              <a:ext uri="{FF2B5EF4-FFF2-40B4-BE49-F238E27FC236}">
                <a16:creationId xmlns:a16="http://schemas.microsoft.com/office/drawing/2014/main" id="{AA74B82B-80FE-0776-CE63-0332F9CFAC1A}"/>
              </a:ext>
            </a:extLst>
          </p:cNvPr>
          <p:cNvSpPr txBox="1"/>
          <p:nvPr/>
        </p:nvSpPr>
        <p:spPr>
          <a:xfrm>
            <a:off x="4688477" y="3977152"/>
            <a:ext cx="2103120" cy="276999"/>
          </a:xfrm>
          <a:prstGeom prst="rect">
            <a:avLst/>
          </a:prstGeom>
          <a:noFill/>
        </p:spPr>
        <p:txBody>
          <a:bodyPr wrap="square" rtlCol="0">
            <a:spAutoFit/>
          </a:bodyPr>
          <a:lstStyle/>
          <a:p>
            <a:r>
              <a:rPr lang="fr-FR" sz="1200" dirty="0"/>
              <a:t>EU – PGI CUST Trial Team</a:t>
            </a:r>
          </a:p>
        </p:txBody>
      </p:sp>
      <p:sp>
        <p:nvSpPr>
          <p:cNvPr id="9" name="ZoneTexte 8">
            <a:extLst>
              <a:ext uri="{FF2B5EF4-FFF2-40B4-BE49-F238E27FC236}">
                <a16:creationId xmlns:a16="http://schemas.microsoft.com/office/drawing/2014/main" id="{02D2DE98-EB4E-48E8-5194-A0F63A7CD81F}"/>
              </a:ext>
            </a:extLst>
          </p:cNvPr>
          <p:cNvSpPr txBox="1"/>
          <p:nvPr/>
        </p:nvSpPr>
        <p:spPr>
          <a:xfrm>
            <a:off x="4688477" y="4334556"/>
            <a:ext cx="2103120" cy="276999"/>
          </a:xfrm>
          <a:prstGeom prst="rect">
            <a:avLst/>
          </a:prstGeom>
          <a:noFill/>
        </p:spPr>
        <p:txBody>
          <a:bodyPr wrap="square" rtlCol="0">
            <a:spAutoFit/>
          </a:bodyPr>
          <a:lstStyle/>
          <a:p>
            <a:r>
              <a:rPr lang="fr-FR" sz="1200" dirty="0"/>
              <a:t>US – PGI CUST Trial Team</a:t>
            </a:r>
          </a:p>
        </p:txBody>
      </p:sp>
      <p:sp>
        <p:nvSpPr>
          <p:cNvPr id="10" name="Rectangle : coins arrondis 9">
            <a:extLst>
              <a:ext uri="{FF2B5EF4-FFF2-40B4-BE49-F238E27FC236}">
                <a16:creationId xmlns:a16="http://schemas.microsoft.com/office/drawing/2014/main" id="{B7D8DD3F-9C38-0F07-E5D7-BECE3092E90D}"/>
              </a:ext>
            </a:extLst>
          </p:cNvPr>
          <p:cNvSpPr/>
          <p:nvPr/>
        </p:nvSpPr>
        <p:spPr>
          <a:xfrm>
            <a:off x="3628571" y="1585686"/>
            <a:ext cx="5181600" cy="3686628"/>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 name="Image 10">
            <a:extLst>
              <a:ext uri="{FF2B5EF4-FFF2-40B4-BE49-F238E27FC236}">
                <a16:creationId xmlns:a16="http://schemas.microsoft.com/office/drawing/2014/main" id="{DAF15F44-E354-8097-D035-362081E2D6D5}"/>
              </a:ext>
            </a:extLst>
          </p:cNvPr>
          <p:cNvPicPr>
            <a:picLocks noChangeAspect="1"/>
          </p:cNvPicPr>
          <p:nvPr/>
        </p:nvPicPr>
        <p:blipFill>
          <a:blip r:embed="rId3"/>
          <a:stretch>
            <a:fillRect/>
          </a:stretch>
        </p:blipFill>
        <p:spPr>
          <a:xfrm>
            <a:off x="338597" y="111608"/>
            <a:ext cx="1356853" cy="453356"/>
          </a:xfrm>
          <a:prstGeom prst="rect">
            <a:avLst/>
          </a:prstGeom>
        </p:spPr>
      </p:pic>
      <p:sp>
        <p:nvSpPr>
          <p:cNvPr id="12" name="Rectangle 11">
            <a:extLst>
              <a:ext uri="{FF2B5EF4-FFF2-40B4-BE49-F238E27FC236}">
                <a16:creationId xmlns:a16="http://schemas.microsoft.com/office/drawing/2014/main" id="{D96D5013-A23A-8495-8965-F709F9FFF005}"/>
              </a:ext>
            </a:extLst>
          </p:cNvPr>
          <p:cNvSpPr/>
          <p:nvPr/>
        </p:nvSpPr>
        <p:spPr>
          <a:xfrm>
            <a:off x="338597" y="7620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P4</a:t>
            </a:r>
          </a:p>
        </p:txBody>
      </p:sp>
      <p:sp>
        <p:nvSpPr>
          <p:cNvPr id="2" name="Rectangle 1">
            <a:extLst>
              <a:ext uri="{FF2B5EF4-FFF2-40B4-BE49-F238E27FC236}">
                <a16:creationId xmlns:a16="http://schemas.microsoft.com/office/drawing/2014/main" id="{5DA8FF20-6686-E986-AB5B-AEAEC729487A}"/>
              </a:ext>
            </a:extLst>
          </p:cNvPr>
          <p:cNvSpPr/>
          <p:nvPr/>
        </p:nvSpPr>
        <p:spPr>
          <a:xfrm>
            <a:off x="338598" y="1638447"/>
            <a:ext cx="4050160" cy="46774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Un clic sur le lien EU ou US permet d’accéder à la page 5. NB, idéalement utiliser un lien avec une requête http, sinon tant pis.</a:t>
            </a:r>
          </a:p>
          <a:p>
            <a:pPr algn="just"/>
            <a:r>
              <a:rPr lang="fr-FR" dirty="0"/>
              <a:t>Exemple de requête http: localhost/</a:t>
            </a:r>
            <a:r>
              <a:rPr lang="fr-FR" dirty="0" err="1"/>
              <a:t>mapage.php?langue</a:t>
            </a:r>
            <a:r>
              <a:rPr lang="fr-FR" dirty="0"/>
              <a:t>=eu</a:t>
            </a:r>
          </a:p>
          <a:p>
            <a:pPr algn="just"/>
            <a:r>
              <a:rPr lang="fr-FR" dirty="0"/>
              <a:t>Au cas où vous vous souvenez de la variable $_GET et comment on modifie la barre d’adresse du navigateur simplement.</a:t>
            </a:r>
          </a:p>
        </p:txBody>
      </p:sp>
      <p:sp>
        <p:nvSpPr>
          <p:cNvPr id="5" name="Espace réservé du pied de page 4">
            <a:extLst>
              <a:ext uri="{FF2B5EF4-FFF2-40B4-BE49-F238E27FC236}">
                <a16:creationId xmlns:a16="http://schemas.microsoft.com/office/drawing/2014/main" id="{ED4BA33B-578C-C0B6-F4B9-8CB36E680705}"/>
              </a:ext>
            </a:extLst>
          </p:cNvPr>
          <p:cNvSpPr>
            <a:spLocks noGrp="1"/>
          </p:cNvSpPr>
          <p:nvPr>
            <p:ph type="ftr" sz="quarter" idx="11"/>
          </p:nvPr>
        </p:nvSpPr>
        <p:spPr/>
        <p:txBody>
          <a:bodyPr/>
          <a:lstStyle/>
          <a:p>
            <a:r>
              <a:rPr lang="fr-FR"/>
              <a:t>Evaluaiton avec un micro projet HTML-CSS</a:t>
            </a:r>
          </a:p>
        </p:txBody>
      </p:sp>
      <p:sp>
        <p:nvSpPr>
          <p:cNvPr id="13" name="Espace réservé du numéro de diapositive 12">
            <a:extLst>
              <a:ext uri="{FF2B5EF4-FFF2-40B4-BE49-F238E27FC236}">
                <a16:creationId xmlns:a16="http://schemas.microsoft.com/office/drawing/2014/main" id="{DAE454DE-4990-EE63-15C0-4C6BD5F18619}"/>
              </a:ext>
            </a:extLst>
          </p:cNvPr>
          <p:cNvSpPr>
            <a:spLocks noGrp="1"/>
          </p:cNvSpPr>
          <p:nvPr>
            <p:ph type="sldNum" sz="quarter" idx="12"/>
          </p:nvPr>
        </p:nvSpPr>
        <p:spPr/>
        <p:txBody>
          <a:bodyPr/>
          <a:lstStyle/>
          <a:p>
            <a:fld id="{61A50371-3F2D-4FEF-B603-773838516A24}" type="slidenum">
              <a:rPr lang="fr-FR" smtClean="0"/>
              <a:t>21</a:t>
            </a:fld>
            <a:endParaRPr lang="fr-FR"/>
          </a:p>
        </p:txBody>
      </p:sp>
    </p:spTree>
    <p:extLst>
      <p:ext uri="{BB962C8B-B14F-4D97-AF65-F5344CB8AC3E}">
        <p14:creationId xmlns:p14="http://schemas.microsoft.com/office/powerpoint/2010/main" val="1238355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2C56E-DD7C-161A-439B-F1DA17FE881F}"/>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F6FAABF6-1059-23BF-6CCF-8A9A9BA414E3}"/>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6051" y="856265"/>
            <a:ext cx="12119898" cy="5145470"/>
          </a:xfrm>
          <a:prstGeom prst="rect">
            <a:avLst/>
          </a:prstGeom>
        </p:spPr>
      </p:pic>
      <p:sp>
        <p:nvSpPr>
          <p:cNvPr id="16" name="Rectangle : coins arrondis 15">
            <a:extLst>
              <a:ext uri="{FF2B5EF4-FFF2-40B4-BE49-F238E27FC236}">
                <a16:creationId xmlns:a16="http://schemas.microsoft.com/office/drawing/2014/main" id="{4CC53CCF-704B-98EB-9A7B-ABF87A6F5538}"/>
              </a:ext>
            </a:extLst>
          </p:cNvPr>
          <p:cNvSpPr/>
          <p:nvPr/>
        </p:nvSpPr>
        <p:spPr>
          <a:xfrm>
            <a:off x="3628571" y="1585686"/>
            <a:ext cx="5181600" cy="3686628"/>
          </a:xfrm>
          <a:prstGeom prst="round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6EA28785-8025-E459-6B5D-2680D66E5B80}"/>
              </a:ext>
            </a:extLst>
          </p:cNvPr>
          <p:cNvSpPr txBox="1"/>
          <p:nvPr/>
        </p:nvSpPr>
        <p:spPr>
          <a:xfrm>
            <a:off x="4185103" y="1991930"/>
            <a:ext cx="3821793" cy="400110"/>
          </a:xfrm>
          <a:prstGeom prst="rect">
            <a:avLst/>
          </a:prstGeom>
          <a:noFill/>
        </p:spPr>
        <p:txBody>
          <a:bodyPr wrap="square" rtlCol="0">
            <a:spAutoFit/>
          </a:bodyPr>
          <a:lstStyle/>
          <a:p>
            <a:pPr algn="ctr"/>
            <a:r>
              <a:rPr lang="fr-FR" sz="2000" b="1" dirty="0" err="1"/>
              <a:t>What</a:t>
            </a:r>
            <a:r>
              <a:rPr lang="fr-FR" sz="2000" b="1" dirty="0"/>
              <a:t> best </a:t>
            </a:r>
            <a:r>
              <a:rPr lang="fr-FR" sz="2000" b="1" dirty="0" err="1"/>
              <a:t>describes</a:t>
            </a:r>
            <a:r>
              <a:rPr lang="fr-FR" sz="2000" b="1" dirty="0"/>
              <a:t> </a:t>
            </a:r>
            <a:r>
              <a:rPr lang="fr-FR" sz="2000" b="1" dirty="0" err="1"/>
              <a:t>your</a:t>
            </a:r>
            <a:r>
              <a:rPr lang="fr-FR" sz="2000" b="1" dirty="0"/>
              <a:t> rôle ?</a:t>
            </a:r>
          </a:p>
        </p:txBody>
      </p:sp>
      <p:sp>
        <p:nvSpPr>
          <p:cNvPr id="7" name="Ellipse 6">
            <a:extLst>
              <a:ext uri="{FF2B5EF4-FFF2-40B4-BE49-F238E27FC236}">
                <a16:creationId xmlns:a16="http://schemas.microsoft.com/office/drawing/2014/main" id="{A03C29BE-748B-7D43-CB4F-DA0A2353DFF2}"/>
              </a:ext>
            </a:extLst>
          </p:cNvPr>
          <p:cNvSpPr/>
          <p:nvPr/>
        </p:nvSpPr>
        <p:spPr>
          <a:xfrm>
            <a:off x="4309293" y="2596683"/>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9" name="ZoneTexte 8">
            <a:extLst>
              <a:ext uri="{FF2B5EF4-FFF2-40B4-BE49-F238E27FC236}">
                <a16:creationId xmlns:a16="http://schemas.microsoft.com/office/drawing/2014/main" id="{C13CE8D7-5428-2521-3BC6-2D32282274E6}"/>
              </a:ext>
            </a:extLst>
          </p:cNvPr>
          <p:cNvSpPr txBox="1"/>
          <p:nvPr/>
        </p:nvSpPr>
        <p:spPr>
          <a:xfrm>
            <a:off x="4547418" y="2515691"/>
            <a:ext cx="3288030" cy="400110"/>
          </a:xfrm>
          <a:prstGeom prst="rect">
            <a:avLst/>
          </a:prstGeom>
          <a:noFill/>
        </p:spPr>
        <p:txBody>
          <a:bodyPr wrap="square" rtlCol="0">
            <a:spAutoFit/>
          </a:bodyPr>
          <a:lstStyle/>
          <a:p>
            <a:r>
              <a:rPr lang="fr-FR" sz="1000" dirty="0"/>
              <a:t>I </a:t>
            </a:r>
            <a:r>
              <a:rPr lang="fr-FR" sz="1000" dirty="0" err="1"/>
              <a:t>evaluate</a:t>
            </a:r>
            <a:r>
              <a:rPr lang="fr-FR" sz="1000" dirty="0"/>
              <a:t> </a:t>
            </a:r>
            <a:r>
              <a:rPr lang="fr-FR" sz="1000" dirty="0" err="1"/>
              <a:t>tooling</a:t>
            </a:r>
            <a:r>
              <a:rPr lang="fr-FR" sz="1000" dirty="0"/>
              <a:t> and </a:t>
            </a:r>
            <a:r>
              <a:rPr lang="fr-FR" sz="1000" dirty="0" err="1"/>
              <a:t>technology</a:t>
            </a:r>
            <a:r>
              <a:rPr lang="fr-FR" sz="1000" dirty="0"/>
              <a:t> or </a:t>
            </a:r>
            <a:r>
              <a:rPr lang="fr-FR" sz="1000" dirty="0" err="1"/>
              <a:t>am</a:t>
            </a:r>
            <a:r>
              <a:rPr lang="fr-FR" sz="1000" dirty="0"/>
              <a:t> the </a:t>
            </a:r>
            <a:r>
              <a:rPr lang="fr-FR" sz="1000" dirty="0" err="1"/>
              <a:t>decision</a:t>
            </a:r>
            <a:r>
              <a:rPr lang="fr-FR" sz="1000" dirty="0"/>
              <a:t>-maker for </a:t>
            </a:r>
            <a:r>
              <a:rPr lang="fr-FR" sz="1000" dirty="0" err="1"/>
              <a:t>this</a:t>
            </a:r>
            <a:r>
              <a:rPr lang="fr-FR" sz="1000" dirty="0"/>
              <a:t> </a:t>
            </a:r>
            <a:r>
              <a:rPr lang="fr-FR" sz="1000" dirty="0" err="1"/>
              <a:t>tool</a:t>
            </a:r>
            <a:endParaRPr lang="fr-FR" sz="1000" dirty="0"/>
          </a:p>
        </p:txBody>
      </p:sp>
      <p:sp>
        <p:nvSpPr>
          <p:cNvPr id="10" name="Ellipse 9">
            <a:extLst>
              <a:ext uri="{FF2B5EF4-FFF2-40B4-BE49-F238E27FC236}">
                <a16:creationId xmlns:a16="http://schemas.microsoft.com/office/drawing/2014/main" id="{B02858AF-6BB7-EFAD-14E1-6FC8390152EA}"/>
              </a:ext>
            </a:extLst>
          </p:cNvPr>
          <p:cNvSpPr/>
          <p:nvPr/>
        </p:nvSpPr>
        <p:spPr>
          <a:xfrm>
            <a:off x="4309293" y="3052258"/>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1" name="ZoneTexte 10">
            <a:extLst>
              <a:ext uri="{FF2B5EF4-FFF2-40B4-BE49-F238E27FC236}">
                <a16:creationId xmlns:a16="http://schemas.microsoft.com/office/drawing/2014/main" id="{74F0E34A-4751-454A-9A14-C02901531A54}"/>
              </a:ext>
            </a:extLst>
          </p:cNvPr>
          <p:cNvSpPr txBox="1"/>
          <p:nvPr/>
        </p:nvSpPr>
        <p:spPr>
          <a:xfrm>
            <a:off x="4547418" y="2971266"/>
            <a:ext cx="3288030" cy="400110"/>
          </a:xfrm>
          <a:prstGeom prst="rect">
            <a:avLst/>
          </a:prstGeom>
          <a:noFill/>
        </p:spPr>
        <p:txBody>
          <a:bodyPr wrap="square" rtlCol="0">
            <a:spAutoFit/>
          </a:bodyPr>
          <a:lstStyle/>
          <a:p>
            <a:r>
              <a:rPr lang="fr-FR" sz="1000" dirty="0"/>
              <a:t>I </a:t>
            </a:r>
            <a:r>
              <a:rPr lang="fr-FR" sz="1000" dirty="0" err="1"/>
              <a:t>am</a:t>
            </a:r>
            <a:r>
              <a:rPr lang="fr-FR" sz="1000" dirty="0"/>
              <a:t> a </a:t>
            </a:r>
            <a:r>
              <a:rPr lang="fr-FR" sz="1000" dirty="0" err="1"/>
              <a:t>student</a:t>
            </a:r>
            <a:r>
              <a:rPr lang="fr-FR" sz="1000" dirty="0"/>
              <a:t> or </a:t>
            </a:r>
            <a:r>
              <a:rPr lang="fr-FR" sz="1000" dirty="0" err="1"/>
              <a:t>recent</a:t>
            </a:r>
            <a:r>
              <a:rPr lang="fr-FR" sz="1000" dirty="0"/>
              <a:t> </a:t>
            </a:r>
            <a:r>
              <a:rPr lang="fr-FR" sz="1000" dirty="0" err="1"/>
              <a:t>grad</a:t>
            </a:r>
            <a:r>
              <a:rPr lang="fr-FR" sz="1000" dirty="0"/>
              <a:t> </a:t>
            </a:r>
            <a:r>
              <a:rPr lang="fr-FR" sz="1000" dirty="0" err="1"/>
              <a:t>interested</a:t>
            </a:r>
            <a:r>
              <a:rPr lang="fr-FR" sz="1000" dirty="0"/>
              <a:t> in </a:t>
            </a:r>
            <a:r>
              <a:rPr lang="fr-FR" sz="1000" dirty="0" err="1"/>
              <a:t>creating</a:t>
            </a:r>
            <a:r>
              <a:rPr lang="fr-FR" sz="1000" dirty="0"/>
              <a:t> courses</a:t>
            </a:r>
          </a:p>
        </p:txBody>
      </p:sp>
      <p:sp>
        <p:nvSpPr>
          <p:cNvPr id="12" name="Ellipse 11">
            <a:extLst>
              <a:ext uri="{FF2B5EF4-FFF2-40B4-BE49-F238E27FC236}">
                <a16:creationId xmlns:a16="http://schemas.microsoft.com/office/drawing/2014/main" id="{D299A07E-326C-A080-6E0A-7AD50B93F111}"/>
              </a:ext>
            </a:extLst>
          </p:cNvPr>
          <p:cNvSpPr/>
          <p:nvPr/>
        </p:nvSpPr>
        <p:spPr>
          <a:xfrm>
            <a:off x="4309293" y="3507832"/>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3" name="ZoneTexte 12">
            <a:extLst>
              <a:ext uri="{FF2B5EF4-FFF2-40B4-BE49-F238E27FC236}">
                <a16:creationId xmlns:a16="http://schemas.microsoft.com/office/drawing/2014/main" id="{B5A8ACC4-9E5D-D917-7128-506D0599043E}"/>
              </a:ext>
            </a:extLst>
          </p:cNvPr>
          <p:cNvSpPr txBox="1"/>
          <p:nvPr/>
        </p:nvSpPr>
        <p:spPr>
          <a:xfrm>
            <a:off x="4547418" y="3426840"/>
            <a:ext cx="3288030" cy="400110"/>
          </a:xfrm>
          <a:prstGeom prst="rect">
            <a:avLst/>
          </a:prstGeom>
          <a:noFill/>
        </p:spPr>
        <p:txBody>
          <a:bodyPr wrap="square" rtlCol="0">
            <a:spAutoFit/>
          </a:bodyPr>
          <a:lstStyle/>
          <a:p>
            <a:r>
              <a:rPr lang="fr-FR" sz="1000" dirty="0"/>
              <a:t>I </a:t>
            </a:r>
            <a:r>
              <a:rPr lang="fr-FR" sz="1000" dirty="0" err="1"/>
              <a:t>am</a:t>
            </a:r>
            <a:r>
              <a:rPr lang="fr-FR" sz="1000" dirty="0"/>
              <a:t> a consultant or </a:t>
            </a:r>
            <a:r>
              <a:rPr lang="fr-FR" sz="1000" dirty="0" err="1"/>
              <a:t>freelancer</a:t>
            </a:r>
            <a:r>
              <a:rPr lang="fr-FR" sz="1000" dirty="0"/>
              <a:t> </a:t>
            </a:r>
            <a:r>
              <a:rPr lang="fr-FR" sz="1000" dirty="0" err="1"/>
              <a:t>who</a:t>
            </a:r>
            <a:r>
              <a:rPr lang="fr-FR" sz="1000" dirty="0"/>
              <a:t> </a:t>
            </a:r>
            <a:r>
              <a:rPr lang="fr-FR" sz="1000" dirty="0" err="1"/>
              <a:t>creates</a:t>
            </a:r>
            <a:r>
              <a:rPr lang="fr-FR" sz="1000" dirty="0"/>
              <a:t> leads for </a:t>
            </a:r>
            <a:r>
              <a:rPr lang="fr-FR" sz="1000" dirty="0" err="1"/>
              <a:t>companies</a:t>
            </a:r>
            <a:endParaRPr lang="fr-FR" sz="1000" dirty="0"/>
          </a:p>
        </p:txBody>
      </p:sp>
      <p:sp>
        <p:nvSpPr>
          <p:cNvPr id="14" name="Ellipse 13">
            <a:extLst>
              <a:ext uri="{FF2B5EF4-FFF2-40B4-BE49-F238E27FC236}">
                <a16:creationId xmlns:a16="http://schemas.microsoft.com/office/drawing/2014/main" id="{619AA531-CFDF-6BDA-B8C0-1DC9E89BFEFE}"/>
              </a:ext>
            </a:extLst>
          </p:cNvPr>
          <p:cNvSpPr/>
          <p:nvPr/>
        </p:nvSpPr>
        <p:spPr>
          <a:xfrm>
            <a:off x="4309293" y="3988934"/>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5" name="ZoneTexte 14">
            <a:extLst>
              <a:ext uri="{FF2B5EF4-FFF2-40B4-BE49-F238E27FC236}">
                <a16:creationId xmlns:a16="http://schemas.microsoft.com/office/drawing/2014/main" id="{1565CC90-A669-A981-AE55-9CEEC1700BF9}"/>
              </a:ext>
            </a:extLst>
          </p:cNvPr>
          <p:cNvSpPr txBox="1"/>
          <p:nvPr/>
        </p:nvSpPr>
        <p:spPr>
          <a:xfrm>
            <a:off x="4547418" y="4027720"/>
            <a:ext cx="3288030" cy="246221"/>
          </a:xfrm>
          <a:prstGeom prst="rect">
            <a:avLst/>
          </a:prstGeom>
          <a:noFill/>
        </p:spPr>
        <p:txBody>
          <a:bodyPr wrap="square" rtlCol="0">
            <a:spAutoFit/>
          </a:bodyPr>
          <a:lstStyle/>
          <a:p>
            <a:r>
              <a:rPr lang="fr-FR" sz="1000" dirty="0" err="1"/>
              <a:t>Other</a:t>
            </a:r>
            <a:endParaRPr lang="fr-FR" sz="1000" dirty="0"/>
          </a:p>
        </p:txBody>
      </p:sp>
      <p:sp>
        <p:nvSpPr>
          <p:cNvPr id="17" name="Rectangle : coins arrondis 16">
            <a:extLst>
              <a:ext uri="{FF2B5EF4-FFF2-40B4-BE49-F238E27FC236}">
                <a16:creationId xmlns:a16="http://schemas.microsoft.com/office/drawing/2014/main" id="{56028F8F-CC27-BE97-5E44-E574C76EDA22}"/>
              </a:ext>
            </a:extLst>
          </p:cNvPr>
          <p:cNvSpPr/>
          <p:nvPr/>
        </p:nvSpPr>
        <p:spPr>
          <a:xfrm>
            <a:off x="5003983" y="459215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Continuer</a:t>
            </a:r>
          </a:p>
        </p:txBody>
      </p:sp>
      <p:pic>
        <p:nvPicPr>
          <p:cNvPr id="18" name="Image 17">
            <a:extLst>
              <a:ext uri="{FF2B5EF4-FFF2-40B4-BE49-F238E27FC236}">
                <a16:creationId xmlns:a16="http://schemas.microsoft.com/office/drawing/2014/main" id="{6904770E-E3AD-1C2F-F82A-D548F253BF13}"/>
              </a:ext>
            </a:extLst>
          </p:cNvPr>
          <p:cNvPicPr>
            <a:picLocks noChangeAspect="1"/>
          </p:cNvPicPr>
          <p:nvPr/>
        </p:nvPicPr>
        <p:blipFill>
          <a:blip r:embed="rId3"/>
          <a:stretch>
            <a:fillRect/>
          </a:stretch>
        </p:blipFill>
        <p:spPr>
          <a:xfrm>
            <a:off x="338597" y="111608"/>
            <a:ext cx="1356853" cy="453356"/>
          </a:xfrm>
          <a:prstGeom prst="rect">
            <a:avLst/>
          </a:prstGeom>
        </p:spPr>
      </p:pic>
      <p:sp>
        <p:nvSpPr>
          <p:cNvPr id="19" name="Rectangle 18">
            <a:extLst>
              <a:ext uri="{FF2B5EF4-FFF2-40B4-BE49-F238E27FC236}">
                <a16:creationId xmlns:a16="http://schemas.microsoft.com/office/drawing/2014/main" id="{D6B574B4-B054-9B52-B132-78772358CA9B}"/>
              </a:ext>
            </a:extLst>
          </p:cNvPr>
          <p:cNvSpPr/>
          <p:nvPr/>
        </p:nvSpPr>
        <p:spPr>
          <a:xfrm>
            <a:off x="338597" y="603852"/>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P5</a:t>
            </a:r>
          </a:p>
        </p:txBody>
      </p:sp>
      <p:sp>
        <p:nvSpPr>
          <p:cNvPr id="2" name="Rectangle 1">
            <a:extLst>
              <a:ext uri="{FF2B5EF4-FFF2-40B4-BE49-F238E27FC236}">
                <a16:creationId xmlns:a16="http://schemas.microsoft.com/office/drawing/2014/main" id="{E66524CF-B328-499C-C76C-651901EB20E0}"/>
              </a:ext>
            </a:extLst>
          </p:cNvPr>
          <p:cNvSpPr/>
          <p:nvPr/>
        </p:nvSpPr>
        <p:spPr>
          <a:xfrm>
            <a:off x="220848" y="1288189"/>
            <a:ext cx="3821794" cy="46774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Lorsque le visiteur est connecté, et après avoir choisit la langue (Cf. page 3), il a droit à un questionnaire.</a:t>
            </a:r>
          </a:p>
          <a:p>
            <a:pPr algn="just"/>
            <a:r>
              <a:rPr lang="fr-FR" dirty="0"/>
              <a:t>Ce questionnaire est un formulaire simple composé de input type=radio, et d’un bouton </a:t>
            </a:r>
            <a:r>
              <a:rPr lang="fr-FR" dirty="0" err="1"/>
              <a:t>submit</a:t>
            </a:r>
            <a:r>
              <a:rPr lang="fr-FR" dirty="0"/>
              <a:t>.</a:t>
            </a:r>
          </a:p>
        </p:txBody>
      </p:sp>
      <p:sp>
        <p:nvSpPr>
          <p:cNvPr id="3" name="Espace réservé du pied de page 2">
            <a:extLst>
              <a:ext uri="{FF2B5EF4-FFF2-40B4-BE49-F238E27FC236}">
                <a16:creationId xmlns:a16="http://schemas.microsoft.com/office/drawing/2014/main" id="{26F53DC9-A09A-D71C-763B-A9E0BCED6983}"/>
              </a:ext>
            </a:extLst>
          </p:cNvPr>
          <p:cNvSpPr>
            <a:spLocks noGrp="1"/>
          </p:cNvSpPr>
          <p:nvPr>
            <p:ph type="ftr" sz="quarter" idx="11"/>
          </p:nvPr>
        </p:nvSpPr>
        <p:spPr/>
        <p:txBody>
          <a:bodyPr/>
          <a:lstStyle/>
          <a:p>
            <a:r>
              <a:rPr lang="fr-FR"/>
              <a:t>Evaluaiton avec un micro projet HTML-CSS</a:t>
            </a:r>
          </a:p>
        </p:txBody>
      </p:sp>
      <p:sp>
        <p:nvSpPr>
          <p:cNvPr id="4" name="Espace réservé du numéro de diapositive 3">
            <a:extLst>
              <a:ext uri="{FF2B5EF4-FFF2-40B4-BE49-F238E27FC236}">
                <a16:creationId xmlns:a16="http://schemas.microsoft.com/office/drawing/2014/main" id="{0A84E3E6-9DA4-0448-F6F4-3407A9AE4669}"/>
              </a:ext>
            </a:extLst>
          </p:cNvPr>
          <p:cNvSpPr>
            <a:spLocks noGrp="1"/>
          </p:cNvSpPr>
          <p:nvPr>
            <p:ph type="sldNum" sz="quarter" idx="12"/>
          </p:nvPr>
        </p:nvSpPr>
        <p:spPr/>
        <p:txBody>
          <a:bodyPr/>
          <a:lstStyle/>
          <a:p>
            <a:fld id="{61A50371-3F2D-4FEF-B603-773838516A24}" type="slidenum">
              <a:rPr lang="fr-FR" smtClean="0"/>
              <a:t>22</a:t>
            </a:fld>
            <a:endParaRPr lang="fr-FR"/>
          </a:p>
        </p:txBody>
      </p:sp>
    </p:spTree>
    <p:extLst>
      <p:ext uri="{BB962C8B-B14F-4D97-AF65-F5344CB8AC3E}">
        <p14:creationId xmlns:p14="http://schemas.microsoft.com/office/powerpoint/2010/main" val="2524503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24BCF-5990-D28D-534E-54C10CD71CA3}"/>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147CA73-5B8E-FFF5-E442-A17F8CE45FA0}"/>
              </a:ext>
            </a:extLst>
          </p:cNvPr>
          <p:cNvPicPr>
            <a:picLocks noChangeAspect="1"/>
          </p:cNvPicPr>
          <p:nvPr/>
        </p:nvPicPr>
        <p:blipFill>
          <a:blip r:embed="rId2"/>
          <a:srcRect l="1071" t="24762" r="27023" b="10476"/>
          <a:stretch>
            <a:fillRect/>
          </a:stretch>
        </p:blipFill>
        <p:spPr>
          <a:xfrm>
            <a:off x="1402098" y="1538514"/>
            <a:ext cx="9425558" cy="4775202"/>
          </a:xfrm>
          <a:prstGeom prst="rect">
            <a:avLst/>
          </a:prstGeom>
        </p:spPr>
      </p:pic>
      <p:pic>
        <p:nvPicPr>
          <p:cNvPr id="4" name="Image 3">
            <a:extLst>
              <a:ext uri="{FF2B5EF4-FFF2-40B4-BE49-F238E27FC236}">
                <a16:creationId xmlns:a16="http://schemas.microsoft.com/office/drawing/2014/main" id="{AF02BC67-5EAB-D891-B3D0-0FDDB58BEE84}"/>
              </a:ext>
            </a:extLst>
          </p:cNvPr>
          <p:cNvPicPr>
            <a:picLocks noChangeAspect="1"/>
          </p:cNvPicPr>
          <p:nvPr/>
        </p:nvPicPr>
        <p:blipFill>
          <a:blip r:embed="rId3"/>
          <a:stretch>
            <a:fillRect/>
          </a:stretch>
        </p:blipFill>
        <p:spPr>
          <a:xfrm>
            <a:off x="338597" y="111608"/>
            <a:ext cx="1356853" cy="453356"/>
          </a:xfrm>
          <a:prstGeom prst="rect">
            <a:avLst/>
          </a:prstGeom>
        </p:spPr>
      </p:pic>
      <p:sp>
        <p:nvSpPr>
          <p:cNvPr id="5" name="ZoneTexte 4">
            <a:extLst>
              <a:ext uri="{FF2B5EF4-FFF2-40B4-BE49-F238E27FC236}">
                <a16:creationId xmlns:a16="http://schemas.microsoft.com/office/drawing/2014/main" id="{B86831F9-5519-F23F-3933-CB49801D0CB0}"/>
              </a:ext>
            </a:extLst>
          </p:cNvPr>
          <p:cNvSpPr txBox="1"/>
          <p:nvPr/>
        </p:nvSpPr>
        <p:spPr>
          <a:xfrm>
            <a:off x="274752" y="592899"/>
            <a:ext cx="6547077" cy="461665"/>
          </a:xfrm>
          <a:prstGeom prst="rect">
            <a:avLst/>
          </a:prstGeom>
          <a:noFill/>
        </p:spPr>
        <p:txBody>
          <a:bodyPr wrap="square" rtlCol="0">
            <a:spAutoFit/>
          </a:bodyPr>
          <a:lstStyle/>
          <a:p>
            <a:r>
              <a:rPr lang="fr-FR" sz="2400" b="1" dirty="0"/>
              <a:t>Hi </a:t>
            </a:r>
            <a:r>
              <a:rPr lang="fr-FR" sz="2400" b="1" dirty="0">
                <a:highlight>
                  <a:srgbClr val="FFFF00"/>
                </a:highlight>
              </a:rPr>
              <a:t>Stéphane</a:t>
            </a:r>
            <a:r>
              <a:rPr lang="fr-FR" sz="2400" b="1" dirty="0"/>
              <a:t> ! </a:t>
            </a:r>
            <a:r>
              <a:rPr lang="fr-FR" sz="2400" b="1" dirty="0" err="1"/>
              <a:t>welcome</a:t>
            </a:r>
            <a:r>
              <a:rPr lang="fr-FR" sz="2400" b="1" dirty="0"/>
              <a:t> to </a:t>
            </a:r>
            <a:r>
              <a:rPr lang="fr-FR" sz="2400" b="1" dirty="0" err="1"/>
              <a:t>PgI</a:t>
            </a:r>
            <a:r>
              <a:rPr lang="fr-FR" sz="2400" b="1" dirty="0"/>
              <a:t> </a:t>
            </a:r>
            <a:r>
              <a:rPr lang="fr-FR" sz="2400" b="1" dirty="0" err="1"/>
              <a:t>CuST</a:t>
            </a:r>
            <a:endParaRPr lang="fr-FR" sz="2400" b="1" dirty="0"/>
          </a:p>
        </p:txBody>
      </p:sp>
      <p:sp>
        <p:nvSpPr>
          <p:cNvPr id="6" name="ZoneTexte 5">
            <a:extLst>
              <a:ext uri="{FF2B5EF4-FFF2-40B4-BE49-F238E27FC236}">
                <a16:creationId xmlns:a16="http://schemas.microsoft.com/office/drawing/2014/main" id="{17619F24-8CBF-83B0-21C8-82184AF09E8A}"/>
              </a:ext>
            </a:extLst>
          </p:cNvPr>
          <p:cNvSpPr txBox="1"/>
          <p:nvPr/>
        </p:nvSpPr>
        <p:spPr>
          <a:xfrm>
            <a:off x="274752" y="973899"/>
            <a:ext cx="6547077" cy="276999"/>
          </a:xfrm>
          <a:prstGeom prst="rect">
            <a:avLst/>
          </a:prstGeom>
          <a:noFill/>
        </p:spPr>
        <p:txBody>
          <a:bodyPr wrap="square" rtlCol="0">
            <a:spAutoFit/>
          </a:bodyPr>
          <a:lstStyle/>
          <a:p>
            <a:r>
              <a:rPr lang="fr-FR" sz="1200" b="1" dirty="0" err="1"/>
              <a:t>Get</a:t>
            </a:r>
            <a:r>
              <a:rPr lang="fr-FR" sz="1200" b="1" dirty="0"/>
              <a:t> </a:t>
            </a:r>
            <a:r>
              <a:rPr lang="fr-FR" sz="1200" b="1" dirty="0" err="1"/>
              <a:t>started</a:t>
            </a:r>
            <a:r>
              <a:rPr lang="fr-FR" sz="1200" b="1" dirty="0"/>
              <a:t> </a:t>
            </a:r>
            <a:r>
              <a:rPr lang="fr-FR" sz="1200" b="1" dirty="0" err="1"/>
              <a:t>with</a:t>
            </a:r>
            <a:r>
              <a:rPr lang="fr-FR" sz="1200" b="1" dirty="0"/>
              <a:t> </a:t>
            </a:r>
            <a:r>
              <a:rPr lang="fr-FR" sz="1200" b="1" dirty="0" err="1"/>
              <a:t>Pgi</a:t>
            </a:r>
            <a:r>
              <a:rPr lang="fr-FR" sz="1200" b="1" dirty="0"/>
              <a:t> and courses for use AI.</a:t>
            </a:r>
          </a:p>
        </p:txBody>
      </p:sp>
      <p:sp>
        <p:nvSpPr>
          <p:cNvPr id="7" name="Rectangle 6">
            <a:extLst>
              <a:ext uri="{FF2B5EF4-FFF2-40B4-BE49-F238E27FC236}">
                <a16:creationId xmlns:a16="http://schemas.microsoft.com/office/drawing/2014/main" id="{1644EACB-5E27-8BC8-6DCA-7CE38ABF889C}"/>
              </a:ext>
            </a:extLst>
          </p:cNvPr>
          <p:cNvSpPr/>
          <p:nvPr/>
        </p:nvSpPr>
        <p:spPr>
          <a:xfrm>
            <a:off x="3476625" y="75857"/>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P6</a:t>
            </a:r>
          </a:p>
        </p:txBody>
      </p:sp>
      <p:sp>
        <p:nvSpPr>
          <p:cNvPr id="2" name="Rectangle 1">
            <a:extLst>
              <a:ext uri="{FF2B5EF4-FFF2-40B4-BE49-F238E27FC236}">
                <a16:creationId xmlns:a16="http://schemas.microsoft.com/office/drawing/2014/main" id="{7548BFEC-16A3-2D9E-25DF-7330A9ABEB4F}"/>
              </a:ext>
            </a:extLst>
          </p:cNvPr>
          <p:cNvSpPr/>
          <p:nvPr/>
        </p:nvSpPr>
        <p:spPr>
          <a:xfrm>
            <a:off x="995498" y="2286637"/>
            <a:ext cx="5434873" cy="27222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Facultatif : Un tout petit peu compliqué, qui peut se faire avec $_POST ou $_GET, lorsque le formulaire de connexion est validé, il conserve soit sur la barre d’adresse ou autre… le prénom de la personne.</a:t>
            </a:r>
          </a:p>
          <a:p>
            <a:pPr algn="just"/>
            <a:r>
              <a:rPr lang="fr-FR" dirty="0" err="1"/>
              <a:t>Cer</a:t>
            </a:r>
            <a:r>
              <a:rPr lang="fr-FR" dirty="0"/>
              <a:t> qui permet de souhaitez la bienvenue avec le prénom de la personne.</a:t>
            </a:r>
          </a:p>
        </p:txBody>
      </p:sp>
      <p:cxnSp>
        <p:nvCxnSpPr>
          <p:cNvPr id="9" name="Connecteur droit avec flèche 8">
            <a:extLst>
              <a:ext uri="{FF2B5EF4-FFF2-40B4-BE49-F238E27FC236}">
                <a16:creationId xmlns:a16="http://schemas.microsoft.com/office/drawing/2014/main" id="{16C8D2C4-E091-660E-4690-37A11BB91F59}"/>
              </a:ext>
            </a:extLst>
          </p:cNvPr>
          <p:cNvCxnSpPr/>
          <p:nvPr/>
        </p:nvCxnSpPr>
        <p:spPr>
          <a:xfrm flipH="1" flipV="1">
            <a:off x="1290320" y="973899"/>
            <a:ext cx="751840" cy="146450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Espace réservé du pied de page 9">
            <a:extLst>
              <a:ext uri="{FF2B5EF4-FFF2-40B4-BE49-F238E27FC236}">
                <a16:creationId xmlns:a16="http://schemas.microsoft.com/office/drawing/2014/main" id="{9FA188FB-27B6-F82E-DEC8-10CD04812FE7}"/>
              </a:ext>
            </a:extLst>
          </p:cNvPr>
          <p:cNvSpPr>
            <a:spLocks noGrp="1"/>
          </p:cNvSpPr>
          <p:nvPr>
            <p:ph type="ftr" sz="quarter" idx="11"/>
          </p:nvPr>
        </p:nvSpPr>
        <p:spPr/>
        <p:txBody>
          <a:bodyPr/>
          <a:lstStyle/>
          <a:p>
            <a:r>
              <a:rPr lang="fr-FR"/>
              <a:t>Evaluaiton avec un micro projet HTML-CSS</a:t>
            </a:r>
          </a:p>
        </p:txBody>
      </p:sp>
      <p:sp>
        <p:nvSpPr>
          <p:cNvPr id="11" name="Espace réservé du numéro de diapositive 10">
            <a:extLst>
              <a:ext uri="{FF2B5EF4-FFF2-40B4-BE49-F238E27FC236}">
                <a16:creationId xmlns:a16="http://schemas.microsoft.com/office/drawing/2014/main" id="{094BB0B3-CD2F-1C99-6284-B17B6A97B429}"/>
              </a:ext>
            </a:extLst>
          </p:cNvPr>
          <p:cNvSpPr>
            <a:spLocks noGrp="1"/>
          </p:cNvSpPr>
          <p:nvPr>
            <p:ph type="sldNum" sz="quarter" idx="12"/>
          </p:nvPr>
        </p:nvSpPr>
        <p:spPr/>
        <p:txBody>
          <a:bodyPr/>
          <a:lstStyle/>
          <a:p>
            <a:fld id="{61A50371-3F2D-4FEF-B603-773838516A24}" type="slidenum">
              <a:rPr lang="fr-FR" smtClean="0"/>
              <a:t>23</a:t>
            </a:fld>
            <a:endParaRPr lang="fr-FR"/>
          </a:p>
        </p:txBody>
      </p:sp>
    </p:spTree>
    <p:extLst>
      <p:ext uri="{BB962C8B-B14F-4D97-AF65-F5344CB8AC3E}">
        <p14:creationId xmlns:p14="http://schemas.microsoft.com/office/powerpoint/2010/main" val="4221605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E6F7-5873-14F8-D8DF-76697E449B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9F003D-F46B-4D76-D12C-AC6C062B33D5}"/>
              </a:ext>
            </a:extLst>
          </p:cNvPr>
          <p:cNvSpPr>
            <a:spLocks noGrp="1"/>
          </p:cNvSpPr>
          <p:nvPr>
            <p:ph type="title"/>
          </p:nvPr>
        </p:nvSpPr>
        <p:spPr/>
        <p:txBody>
          <a:bodyPr/>
          <a:lstStyle/>
          <a:p>
            <a:r>
              <a:rPr lang="fr-FR" dirty="0"/>
              <a:t>Niveau 3</a:t>
            </a:r>
          </a:p>
        </p:txBody>
      </p:sp>
      <p:sp>
        <p:nvSpPr>
          <p:cNvPr id="3" name="Espace réservé du texte 2">
            <a:extLst>
              <a:ext uri="{FF2B5EF4-FFF2-40B4-BE49-F238E27FC236}">
                <a16:creationId xmlns:a16="http://schemas.microsoft.com/office/drawing/2014/main" id="{8EA48D15-5F32-4F22-1648-1159F7D72337}"/>
              </a:ext>
            </a:extLst>
          </p:cNvPr>
          <p:cNvSpPr>
            <a:spLocks noGrp="1"/>
          </p:cNvSpPr>
          <p:nvPr>
            <p:ph type="body" idx="1"/>
          </p:nvPr>
        </p:nvSpPr>
        <p:spPr/>
        <p:txBody>
          <a:bodyPr/>
          <a:lstStyle/>
          <a:p>
            <a:r>
              <a:rPr lang="fr-FR" dirty="0"/>
              <a:t>Formulaires et base de données + SQL</a:t>
            </a:r>
          </a:p>
        </p:txBody>
      </p:sp>
      <p:sp>
        <p:nvSpPr>
          <p:cNvPr id="4" name="Rectangle : coins arrondis 3">
            <a:extLst>
              <a:ext uri="{FF2B5EF4-FFF2-40B4-BE49-F238E27FC236}">
                <a16:creationId xmlns:a16="http://schemas.microsoft.com/office/drawing/2014/main" id="{4DF5B201-8274-BDBB-3A0E-84E4D25B3C64}"/>
              </a:ext>
            </a:extLst>
          </p:cNvPr>
          <p:cNvSpPr/>
          <p:nvPr/>
        </p:nvSpPr>
        <p:spPr>
          <a:xfrm>
            <a:off x="552450" y="228600"/>
            <a:ext cx="4819650" cy="6858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La collecte de données dans l’entreprise</a:t>
            </a:r>
          </a:p>
        </p:txBody>
      </p:sp>
      <p:sp>
        <p:nvSpPr>
          <p:cNvPr id="5" name="Rectangle : coins arrondis 4">
            <a:extLst>
              <a:ext uri="{FF2B5EF4-FFF2-40B4-BE49-F238E27FC236}">
                <a16:creationId xmlns:a16="http://schemas.microsoft.com/office/drawing/2014/main" id="{BC760187-594A-C60B-7BB9-4DC4B164D871}"/>
              </a:ext>
            </a:extLst>
          </p:cNvPr>
          <p:cNvSpPr/>
          <p:nvPr/>
        </p:nvSpPr>
        <p:spPr>
          <a:xfrm>
            <a:off x="552450" y="1193800"/>
            <a:ext cx="4819650" cy="6858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Le traitement des données dans l’entreprise</a:t>
            </a:r>
          </a:p>
        </p:txBody>
      </p:sp>
      <p:sp>
        <p:nvSpPr>
          <p:cNvPr id="6" name="Rectangle 5">
            <a:extLst>
              <a:ext uri="{FF2B5EF4-FFF2-40B4-BE49-F238E27FC236}">
                <a16:creationId xmlns:a16="http://schemas.microsoft.com/office/drawing/2014/main" id="{C33CFC58-381F-F839-2A0A-4E34D836AEC0}"/>
              </a:ext>
            </a:extLst>
          </p:cNvPr>
          <p:cNvSpPr/>
          <p:nvPr/>
        </p:nvSpPr>
        <p:spPr>
          <a:xfrm>
            <a:off x="6238240" y="396240"/>
            <a:ext cx="4819650" cy="228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Félicitations si tu es arrivé à cette étape, SANS AIDE, c’est que tu as compris de nombreuses choses sur le programme de la formation, le métier lui-même et que tu as su profiter des précédents TD de la remise à niveau brillamment.</a:t>
            </a:r>
          </a:p>
        </p:txBody>
      </p:sp>
      <p:sp>
        <p:nvSpPr>
          <p:cNvPr id="7" name="Espace réservé du pied de page 6">
            <a:extLst>
              <a:ext uri="{FF2B5EF4-FFF2-40B4-BE49-F238E27FC236}">
                <a16:creationId xmlns:a16="http://schemas.microsoft.com/office/drawing/2014/main" id="{B3C68857-B28A-B901-05C3-09B6FD8FB202}"/>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E8E6ED03-71B0-3C2F-24CF-5EF0F64449ED}"/>
              </a:ext>
            </a:extLst>
          </p:cNvPr>
          <p:cNvSpPr>
            <a:spLocks noGrp="1"/>
          </p:cNvSpPr>
          <p:nvPr>
            <p:ph type="sldNum" sz="quarter" idx="12"/>
          </p:nvPr>
        </p:nvSpPr>
        <p:spPr/>
        <p:txBody>
          <a:bodyPr/>
          <a:lstStyle/>
          <a:p>
            <a:fld id="{61A50371-3F2D-4FEF-B603-773838516A24}" type="slidenum">
              <a:rPr lang="fr-FR" smtClean="0"/>
              <a:t>24</a:t>
            </a:fld>
            <a:endParaRPr lang="fr-FR"/>
          </a:p>
        </p:txBody>
      </p:sp>
    </p:spTree>
    <p:extLst>
      <p:ext uri="{BB962C8B-B14F-4D97-AF65-F5344CB8AC3E}">
        <p14:creationId xmlns:p14="http://schemas.microsoft.com/office/powerpoint/2010/main" val="1658337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CED7-7CC9-9EF6-FAAE-F6B4B5542F2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99EA638-F33F-C156-BD0F-D0A7B9227672}"/>
              </a:ext>
            </a:extLst>
          </p:cNvPr>
          <p:cNvSpPr/>
          <p:nvPr/>
        </p:nvSpPr>
        <p:spPr>
          <a:xfrm>
            <a:off x="0" y="0"/>
            <a:ext cx="12192000" cy="6858000"/>
          </a:xfrm>
          <a:prstGeom prst="rect">
            <a:avLst/>
          </a:prstGeom>
          <a:gradFill>
            <a:gsLst>
              <a:gs pos="0">
                <a:schemeClr val="accent5">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3" name="Graphique 2">
            <a:extLst>
              <a:ext uri="{FF2B5EF4-FFF2-40B4-BE49-F238E27FC236}">
                <a16:creationId xmlns:a16="http://schemas.microsoft.com/office/drawing/2014/main" id="{61C54BA7-95CB-C6E2-B673-7CCDC84B37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4071" y="0"/>
            <a:ext cx="10903857" cy="6858000"/>
          </a:xfrm>
          <a:prstGeom prst="rect">
            <a:avLst/>
          </a:prstGeom>
        </p:spPr>
      </p:pic>
      <p:sp>
        <p:nvSpPr>
          <p:cNvPr id="27" name="Rectangle : coins arrondis 26">
            <a:extLst>
              <a:ext uri="{FF2B5EF4-FFF2-40B4-BE49-F238E27FC236}">
                <a16:creationId xmlns:a16="http://schemas.microsoft.com/office/drawing/2014/main" id="{481A9D2B-98E2-44F3-2E9D-F9A00D577218}"/>
              </a:ext>
            </a:extLst>
          </p:cNvPr>
          <p:cNvSpPr/>
          <p:nvPr/>
        </p:nvSpPr>
        <p:spPr>
          <a:xfrm>
            <a:off x="7612380" y="355602"/>
            <a:ext cx="3771900" cy="59340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8" name="Rectangle 27">
            <a:extLst>
              <a:ext uri="{FF2B5EF4-FFF2-40B4-BE49-F238E27FC236}">
                <a16:creationId xmlns:a16="http://schemas.microsoft.com/office/drawing/2014/main" id="{4144A2BB-1017-0B28-1681-69C09F4196B1}"/>
              </a:ext>
            </a:extLst>
          </p:cNvPr>
          <p:cNvSpPr/>
          <p:nvPr/>
        </p:nvSpPr>
        <p:spPr>
          <a:xfrm>
            <a:off x="7808595" y="104711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Work Email</a:t>
            </a:r>
          </a:p>
        </p:txBody>
      </p:sp>
      <p:sp>
        <p:nvSpPr>
          <p:cNvPr id="29" name="Rectangle 28">
            <a:extLst>
              <a:ext uri="{FF2B5EF4-FFF2-40B4-BE49-F238E27FC236}">
                <a16:creationId xmlns:a16="http://schemas.microsoft.com/office/drawing/2014/main" id="{856F2BDB-4DAA-6984-4816-C4C73BAB0B7F}"/>
              </a:ext>
            </a:extLst>
          </p:cNvPr>
          <p:cNvSpPr/>
          <p:nvPr/>
        </p:nvSpPr>
        <p:spPr>
          <a:xfrm>
            <a:off x="7808594" y="150431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30" name="Rectangle 29">
            <a:extLst>
              <a:ext uri="{FF2B5EF4-FFF2-40B4-BE49-F238E27FC236}">
                <a16:creationId xmlns:a16="http://schemas.microsoft.com/office/drawing/2014/main" id="{F5090058-8523-2FE3-3513-80A208B432DD}"/>
              </a:ext>
            </a:extLst>
          </p:cNvPr>
          <p:cNvSpPr/>
          <p:nvPr/>
        </p:nvSpPr>
        <p:spPr>
          <a:xfrm>
            <a:off x="7808595" y="203771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First Name</a:t>
            </a:r>
          </a:p>
        </p:txBody>
      </p:sp>
      <p:sp>
        <p:nvSpPr>
          <p:cNvPr id="31" name="Rectangle 30">
            <a:extLst>
              <a:ext uri="{FF2B5EF4-FFF2-40B4-BE49-F238E27FC236}">
                <a16:creationId xmlns:a16="http://schemas.microsoft.com/office/drawing/2014/main" id="{C63E58EB-487C-DB3A-08D8-E56F14FE4E83}"/>
              </a:ext>
            </a:extLst>
          </p:cNvPr>
          <p:cNvSpPr/>
          <p:nvPr/>
        </p:nvSpPr>
        <p:spPr>
          <a:xfrm>
            <a:off x="9402898" y="203771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Last Name</a:t>
            </a:r>
          </a:p>
        </p:txBody>
      </p:sp>
      <p:sp>
        <p:nvSpPr>
          <p:cNvPr id="32" name="Rectangle 31">
            <a:extLst>
              <a:ext uri="{FF2B5EF4-FFF2-40B4-BE49-F238E27FC236}">
                <a16:creationId xmlns:a16="http://schemas.microsoft.com/office/drawing/2014/main" id="{A6B45073-C9C9-C8B5-1940-DE2472FC2823}"/>
              </a:ext>
            </a:extLst>
          </p:cNvPr>
          <p:cNvSpPr/>
          <p:nvPr/>
        </p:nvSpPr>
        <p:spPr>
          <a:xfrm>
            <a:off x="7808595" y="255206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Organizations</a:t>
            </a:r>
          </a:p>
        </p:txBody>
      </p:sp>
      <p:sp>
        <p:nvSpPr>
          <p:cNvPr id="33" name="Rectangle 32">
            <a:extLst>
              <a:ext uri="{FF2B5EF4-FFF2-40B4-BE49-F238E27FC236}">
                <a16:creationId xmlns:a16="http://schemas.microsoft.com/office/drawing/2014/main" id="{A20D2FB0-AAF4-DB40-CCBA-9B0787753CE7}"/>
              </a:ext>
            </a:extLst>
          </p:cNvPr>
          <p:cNvSpPr/>
          <p:nvPr/>
        </p:nvSpPr>
        <p:spPr>
          <a:xfrm>
            <a:off x="7768681" y="306641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Country</a:t>
            </a:r>
          </a:p>
        </p:txBody>
      </p:sp>
      <p:sp>
        <p:nvSpPr>
          <p:cNvPr id="34" name="Rectangle 33">
            <a:extLst>
              <a:ext uri="{FF2B5EF4-FFF2-40B4-BE49-F238E27FC236}">
                <a16:creationId xmlns:a16="http://schemas.microsoft.com/office/drawing/2014/main" id="{69221192-77AF-D97A-6F6F-34CB6C6D7AB7}"/>
              </a:ext>
            </a:extLst>
          </p:cNvPr>
          <p:cNvSpPr/>
          <p:nvPr/>
        </p:nvSpPr>
        <p:spPr>
          <a:xfrm>
            <a:off x="7768680" y="3628391"/>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Date Center </a:t>
            </a:r>
            <a:r>
              <a:rPr lang="fr-FR" sz="1100" dirty="0" err="1">
                <a:solidFill>
                  <a:schemeClr val="bg2">
                    <a:lumMod val="50000"/>
                  </a:schemeClr>
                </a:solidFill>
              </a:rPr>
              <a:t>Region</a:t>
            </a:r>
            <a:endParaRPr lang="fr-FR" sz="1100" dirty="0">
              <a:solidFill>
                <a:schemeClr val="bg2">
                  <a:lumMod val="50000"/>
                </a:schemeClr>
              </a:solidFill>
            </a:endParaRPr>
          </a:p>
        </p:txBody>
      </p:sp>
      <p:sp>
        <p:nvSpPr>
          <p:cNvPr id="35" name="Triangle isocèle 34">
            <a:extLst>
              <a:ext uri="{FF2B5EF4-FFF2-40B4-BE49-F238E27FC236}">
                <a16:creationId xmlns:a16="http://schemas.microsoft.com/office/drawing/2014/main" id="{E50B721B-00BE-67AD-F223-79DAA9D648E7}"/>
              </a:ext>
            </a:extLst>
          </p:cNvPr>
          <p:cNvSpPr/>
          <p:nvPr/>
        </p:nvSpPr>
        <p:spPr>
          <a:xfrm rot="10800000">
            <a:off x="10576378" y="3743641"/>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36" name="Triangle isocèle 35">
            <a:extLst>
              <a:ext uri="{FF2B5EF4-FFF2-40B4-BE49-F238E27FC236}">
                <a16:creationId xmlns:a16="http://schemas.microsoft.com/office/drawing/2014/main" id="{E09970FD-345F-8EEE-8374-FA4D8EB37528}"/>
              </a:ext>
            </a:extLst>
          </p:cNvPr>
          <p:cNvSpPr/>
          <p:nvPr/>
        </p:nvSpPr>
        <p:spPr>
          <a:xfrm rot="10800000">
            <a:off x="10553336" y="3162619"/>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6CD624E0-28F4-3908-8DC5-A9B9DA8F32ED}"/>
              </a:ext>
            </a:extLst>
          </p:cNvPr>
          <p:cNvSpPr/>
          <p:nvPr/>
        </p:nvSpPr>
        <p:spPr>
          <a:xfrm>
            <a:off x="7768679" y="412464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Phone </a:t>
            </a:r>
            <a:r>
              <a:rPr lang="fr-FR" sz="1100" dirty="0" err="1">
                <a:solidFill>
                  <a:schemeClr val="bg2">
                    <a:lumMod val="50000"/>
                  </a:schemeClr>
                </a:solidFill>
              </a:rPr>
              <a:t>Number</a:t>
            </a:r>
            <a:endParaRPr lang="fr-FR" sz="1100" dirty="0">
              <a:solidFill>
                <a:schemeClr val="bg2">
                  <a:lumMod val="50000"/>
                </a:schemeClr>
              </a:solidFill>
            </a:endParaRPr>
          </a:p>
        </p:txBody>
      </p:sp>
      <p:sp>
        <p:nvSpPr>
          <p:cNvPr id="38" name="Rectangle 37">
            <a:extLst>
              <a:ext uri="{FF2B5EF4-FFF2-40B4-BE49-F238E27FC236}">
                <a16:creationId xmlns:a16="http://schemas.microsoft.com/office/drawing/2014/main" id="{F072B358-297E-CC24-A762-E221504D452E}"/>
              </a:ext>
            </a:extLst>
          </p:cNvPr>
          <p:cNvSpPr/>
          <p:nvPr/>
        </p:nvSpPr>
        <p:spPr>
          <a:xfrm>
            <a:off x="7768679" y="4620903"/>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39" name="Rectangle 38">
            <a:extLst>
              <a:ext uri="{FF2B5EF4-FFF2-40B4-BE49-F238E27FC236}">
                <a16:creationId xmlns:a16="http://schemas.microsoft.com/office/drawing/2014/main" id="{2120866F-3503-CB2D-AEBB-3D3786B52B90}"/>
              </a:ext>
            </a:extLst>
          </p:cNvPr>
          <p:cNvSpPr/>
          <p:nvPr/>
        </p:nvSpPr>
        <p:spPr>
          <a:xfrm>
            <a:off x="7768679" y="5064766"/>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40" name="ZoneTexte 39">
            <a:extLst>
              <a:ext uri="{FF2B5EF4-FFF2-40B4-BE49-F238E27FC236}">
                <a16:creationId xmlns:a16="http://schemas.microsoft.com/office/drawing/2014/main" id="{843D2D06-1394-F275-4162-20D133872C1D}"/>
              </a:ext>
            </a:extLst>
          </p:cNvPr>
          <p:cNvSpPr txBox="1"/>
          <p:nvPr/>
        </p:nvSpPr>
        <p:spPr>
          <a:xfrm>
            <a:off x="7995918" y="4586252"/>
            <a:ext cx="3162300" cy="369332"/>
          </a:xfrm>
          <a:prstGeom prst="rect">
            <a:avLst/>
          </a:prstGeom>
          <a:noFill/>
        </p:spPr>
        <p:txBody>
          <a:bodyPr wrap="square" rtlCol="0">
            <a:spAutoFit/>
          </a:bodyPr>
          <a:lstStyle/>
          <a:p>
            <a:r>
              <a:rPr lang="fr-FR" sz="900" i="1" dirty="0">
                <a:solidFill>
                  <a:schemeClr val="tx1">
                    <a:lumMod val="95000"/>
                    <a:lumOff val="5000"/>
                  </a:schemeClr>
                </a:solidFill>
              </a:rPr>
              <a:t>By </a:t>
            </a:r>
            <a:r>
              <a:rPr lang="fr-FR" sz="900" i="1" dirty="0" err="1">
                <a:solidFill>
                  <a:schemeClr val="tx1">
                    <a:lumMod val="95000"/>
                    <a:lumOff val="5000"/>
                  </a:schemeClr>
                </a:solidFill>
              </a:rPr>
              <a:t>clicking</a:t>
            </a:r>
            <a:r>
              <a:rPr lang="fr-FR" sz="900" i="1" dirty="0">
                <a:solidFill>
                  <a:schemeClr val="tx1">
                    <a:lumMod val="95000"/>
                    <a:lumOff val="5000"/>
                  </a:schemeClr>
                </a:solidFill>
              </a:rPr>
              <a:t> </a:t>
            </a:r>
            <a:r>
              <a:rPr lang="fr-FR" sz="900" i="1" dirty="0" err="1">
                <a:solidFill>
                  <a:schemeClr val="tx1">
                    <a:lumMod val="95000"/>
                    <a:lumOff val="5000"/>
                  </a:schemeClr>
                </a:solidFill>
              </a:rPr>
              <a:t>you</a:t>
            </a:r>
            <a:r>
              <a:rPr lang="fr-FR" sz="900" i="1" dirty="0">
                <a:solidFill>
                  <a:schemeClr val="tx1">
                    <a:lumMod val="95000"/>
                    <a:lumOff val="5000"/>
                  </a:schemeClr>
                </a:solidFill>
              </a:rPr>
              <a:t> are </a:t>
            </a:r>
            <a:r>
              <a:rPr lang="fr-FR" sz="900" i="1" dirty="0" err="1">
                <a:solidFill>
                  <a:schemeClr val="tx1">
                    <a:lumMod val="95000"/>
                    <a:lumOff val="5000"/>
                  </a:schemeClr>
                </a:solidFill>
              </a:rPr>
              <a:t>agreeing</a:t>
            </a:r>
            <a:r>
              <a:rPr lang="fr-FR" sz="900" i="1" dirty="0">
                <a:solidFill>
                  <a:schemeClr val="tx1">
                    <a:lumMod val="95000"/>
                    <a:lumOff val="5000"/>
                  </a:schemeClr>
                </a:solidFill>
              </a:rPr>
              <a:t> to </a:t>
            </a:r>
            <a:r>
              <a:rPr lang="fr-FR" sz="900" i="1" dirty="0" err="1">
                <a:solidFill>
                  <a:schemeClr val="tx1">
                    <a:lumMod val="95000"/>
                    <a:lumOff val="5000"/>
                  </a:schemeClr>
                </a:solidFill>
              </a:rPr>
              <a:t>our</a:t>
            </a:r>
            <a:r>
              <a:rPr lang="fr-FR" sz="900" i="1" dirty="0">
                <a:solidFill>
                  <a:schemeClr val="tx1">
                    <a:lumMod val="95000"/>
                    <a:lumOff val="5000"/>
                  </a:schemeClr>
                </a:solidFill>
              </a:rPr>
              <a:t> applicable </a:t>
            </a:r>
            <a:r>
              <a:rPr lang="fr-FR" sz="900" i="1" dirty="0" err="1">
                <a:solidFill>
                  <a:schemeClr val="tx1">
                    <a:lumMod val="95000"/>
                    <a:lumOff val="5000"/>
                  </a:schemeClr>
                </a:solidFill>
              </a:rPr>
              <a:t>terms</a:t>
            </a:r>
            <a:r>
              <a:rPr lang="fr-FR" sz="900" i="1" dirty="0">
                <a:solidFill>
                  <a:schemeClr val="tx1">
                    <a:lumMod val="95000"/>
                    <a:lumOff val="5000"/>
                  </a:schemeClr>
                </a:solidFill>
              </a:rPr>
              <a:t> and </a:t>
            </a:r>
            <a:r>
              <a:rPr lang="fr-FR" sz="900" i="1" dirty="0" err="1">
                <a:solidFill>
                  <a:schemeClr val="tx1">
                    <a:lumMod val="95000"/>
                    <a:lumOff val="5000"/>
                  </a:schemeClr>
                </a:solidFill>
              </a:rPr>
              <a:t>privacy</a:t>
            </a:r>
            <a:r>
              <a:rPr lang="fr-FR" sz="900" i="1" dirty="0">
                <a:solidFill>
                  <a:schemeClr val="tx1">
                    <a:lumMod val="95000"/>
                    <a:lumOff val="5000"/>
                  </a:schemeClr>
                </a:solidFill>
              </a:rPr>
              <a:t> notice, </a:t>
            </a:r>
            <a:r>
              <a:rPr lang="fr-FR" sz="900" i="1" dirty="0" err="1">
                <a:solidFill>
                  <a:schemeClr val="tx1">
                    <a:lumMod val="95000"/>
                    <a:lumOff val="5000"/>
                  </a:schemeClr>
                </a:solidFill>
              </a:rPr>
              <a:t>including</a:t>
            </a:r>
            <a:r>
              <a:rPr lang="fr-FR" sz="900" i="1" dirty="0">
                <a:solidFill>
                  <a:schemeClr val="tx1">
                    <a:lumMod val="95000"/>
                    <a:lumOff val="5000"/>
                  </a:schemeClr>
                </a:solidFill>
              </a:rPr>
              <a:t> </a:t>
            </a:r>
            <a:r>
              <a:rPr lang="fr-FR" sz="900" i="1" dirty="0" err="1">
                <a:solidFill>
                  <a:schemeClr val="tx1">
                    <a:lumMod val="95000"/>
                    <a:lumOff val="5000"/>
                  </a:schemeClr>
                </a:solidFill>
              </a:rPr>
              <a:t>our</a:t>
            </a:r>
            <a:r>
              <a:rPr lang="fr-FR" sz="900" i="1" dirty="0">
                <a:solidFill>
                  <a:schemeClr val="tx1">
                    <a:lumMod val="95000"/>
                    <a:lumOff val="5000"/>
                  </a:schemeClr>
                </a:solidFill>
              </a:rPr>
              <a:t> cooking </a:t>
            </a:r>
            <a:r>
              <a:rPr lang="fr-FR" sz="900" i="1" dirty="0" err="1">
                <a:solidFill>
                  <a:schemeClr val="tx1">
                    <a:lumMod val="95000"/>
                    <a:lumOff val="5000"/>
                  </a:schemeClr>
                </a:solidFill>
              </a:rPr>
              <a:t>policy</a:t>
            </a:r>
            <a:r>
              <a:rPr lang="fr-FR" sz="900" i="1" dirty="0">
                <a:solidFill>
                  <a:schemeClr val="tx1">
                    <a:lumMod val="95000"/>
                    <a:lumOff val="5000"/>
                  </a:schemeClr>
                </a:solidFill>
              </a:rPr>
              <a:t>.</a:t>
            </a:r>
          </a:p>
        </p:txBody>
      </p:sp>
      <p:sp>
        <p:nvSpPr>
          <p:cNvPr id="41" name="ZoneTexte 40">
            <a:extLst>
              <a:ext uri="{FF2B5EF4-FFF2-40B4-BE49-F238E27FC236}">
                <a16:creationId xmlns:a16="http://schemas.microsoft.com/office/drawing/2014/main" id="{DF078111-FF13-F2B0-34CB-26EDCCCFBA0D}"/>
              </a:ext>
            </a:extLst>
          </p:cNvPr>
          <p:cNvSpPr txBox="1"/>
          <p:nvPr/>
        </p:nvSpPr>
        <p:spPr>
          <a:xfrm>
            <a:off x="7995918" y="4963560"/>
            <a:ext cx="3162300" cy="230832"/>
          </a:xfrm>
          <a:prstGeom prst="rect">
            <a:avLst/>
          </a:prstGeom>
          <a:noFill/>
        </p:spPr>
        <p:txBody>
          <a:bodyPr wrap="square" rtlCol="0">
            <a:spAutoFit/>
          </a:bodyPr>
          <a:lstStyle/>
          <a:p>
            <a:r>
              <a:rPr lang="fr-FR" sz="900" i="1" dirty="0">
                <a:solidFill>
                  <a:schemeClr val="tx1">
                    <a:lumMod val="95000"/>
                    <a:lumOff val="5000"/>
                  </a:schemeClr>
                </a:solidFill>
              </a:rPr>
              <a:t>Yes, I </a:t>
            </a:r>
            <a:r>
              <a:rPr lang="fr-FR" sz="900" i="1" dirty="0" err="1">
                <a:solidFill>
                  <a:schemeClr val="tx1">
                    <a:lumMod val="95000"/>
                    <a:lumOff val="5000"/>
                  </a:schemeClr>
                </a:solidFill>
              </a:rPr>
              <a:t>would</a:t>
            </a:r>
            <a:r>
              <a:rPr lang="fr-FR" sz="900" i="1" dirty="0">
                <a:solidFill>
                  <a:schemeClr val="tx1">
                    <a:lumMod val="95000"/>
                    <a:lumOff val="5000"/>
                  </a:schemeClr>
                </a:solidFill>
              </a:rPr>
              <a:t> like to </a:t>
            </a:r>
            <a:r>
              <a:rPr lang="fr-FR" sz="900" i="1" dirty="0" err="1">
                <a:solidFill>
                  <a:schemeClr val="tx1">
                    <a:lumMod val="95000"/>
                    <a:lumOff val="5000"/>
                  </a:schemeClr>
                </a:solidFill>
              </a:rPr>
              <a:t>receive</a:t>
            </a:r>
            <a:r>
              <a:rPr lang="fr-FR" sz="900" i="1" dirty="0">
                <a:solidFill>
                  <a:schemeClr val="tx1">
                    <a:lumMod val="95000"/>
                    <a:lumOff val="5000"/>
                  </a:schemeClr>
                </a:solidFill>
              </a:rPr>
              <a:t> emails </a:t>
            </a:r>
            <a:r>
              <a:rPr lang="fr-FR" sz="900" i="1" dirty="0" err="1">
                <a:solidFill>
                  <a:schemeClr val="tx1">
                    <a:lumMod val="95000"/>
                    <a:lumOff val="5000"/>
                  </a:schemeClr>
                </a:solidFill>
              </a:rPr>
              <a:t>from</a:t>
            </a:r>
            <a:r>
              <a:rPr lang="fr-FR" sz="900" i="1" dirty="0">
                <a:solidFill>
                  <a:schemeClr val="tx1">
                    <a:lumMod val="95000"/>
                    <a:lumOff val="5000"/>
                  </a:schemeClr>
                </a:solidFill>
              </a:rPr>
              <a:t> PGI CUST</a:t>
            </a:r>
          </a:p>
        </p:txBody>
      </p:sp>
      <p:sp>
        <p:nvSpPr>
          <p:cNvPr id="42" name="Rectangle : coins arrondis 41">
            <a:extLst>
              <a:ext uri="{FF2B5EF4-FFF2-40B4-BE49-F238E27FC236}">
                <a16:creationId xmlns:a16="http://schemas.microsoft.com/office/drawing/2014/main" id="{25190B60-3E45-FA60-6D14-CC0BE379DA01}"/>
              </a:ext>
            </a:extLst>
          </p:cNvPr>
          <p:cNvSpPr/>
          <p:nvPr/>
        </p:nvSpPr>
        <p:spPr>
          <a:xfrm>
            <a:off x="8135621" y="548160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Start Free Trial</a:t>
            </a:r>
          </a:p>
        </p:txBody>
      </p:sp>
      <p:sp>
        <p:nvSpPr>
          <p:cNvPr id="43" name="ZoneTexte 42">
            <a:extLst>
              <a:ext uri="{FF2B5EF4-FFF2-40B4-BE49-F238E27FC236}">
                <a16:creationId xmlns:a16="http://schemas.microsoft.com/office/drawing/2014/main" id="{EB28A080-2D35-F642-C993-1620C4423D62}"/>
              </a:ext>
            </a:extLst>
          </p:cNvPr>
          <p:cNvSpPr txBox="1"/>
          <p:nvPr/>
        </p:nvSpPr>
        <p:spPr>
          <a:xfrm>
            <a:off x="1757680" y="1410336"/>
            <a:ext cx="3525520" cy="584775"/>
          </a:xfrm>
          <a:prstGeom prst="rect">
            <a:avLst/>
          </a:prstGeom>
          <a:noFill/>
        </p:spPr>
        <p:txBody>
          <a:bodyPr wrap="square" rtlCol="0">
            <a:spAutoFit/>
          </a:bodyPr>
          <a:lstStyle/>
          <a:p>
            <a:r>
              <a:rPr lang="fr-FR" sz="3200" b="1" dirty="0">
                <a:solidFill>
                  <a:schemeClr val="bg1"/>
                </a:solidFill>
              </a:rPr>
              <a:t>PGI CUSTOM  1.0</a:t>
            </a:r>
          </a:p>
        </p:txBody>
      </p:sp>
      <p:sp>
        <p:nvSpPr>
          <p:cNvPr id="44" name="ZoneTexte 43">
            <a:extLst>
              <a:ext uri="{FF2B5EF4-FFF2-40B4-BE49-F238E27FC236}">
                <a16:creationId xmlns:a16="http://schemas.microsoft.com/office/drawing/2014/main" id="{7A39486E-282B-4EB7-B856-8F1FF90D0E37}"/>
              </a:ext>
            </a:extLst>
          </p:cNvPr>
          <p:cNvSpPr txBox="1"/>
          <p:nvPr/>
        </p:nvSpPr>
        <p:spPr>
          <a:xfrm>
            <a:off x="1757680" y="2037715"/>
            <a:ext cx="4815840" cy="954107"/>
          </a:xfrm>
          <a:prstGeom prst="rect">
            <a:avLst/>
          </a:prstGeom>
          <a:noFill/>
        </p:spPr>
        <p:txBody>
          <a:bodyPr wrap="square" rtlCol="0">
            <a:spAutoFit/>
          </a:bodyPr>
          <a:lstStyle/>
          <a:p>
            <a:r>
              <a:rPr lang="fr-FR" sz="2800" b="1" dirty="0" err="1">
                <a:solidFill>
                  <a:schemeClr val="bg1"/>
                </a:solidFill>
              </a:rPr>
              <a:t>Create</a:t>
            </a:r>
            <a:r>
              <a:rPr lang="fr-FR" sz="2800" b="1" dirty="0">
                <a:solidFill>
                  <a:schemeClr val="bg1"/>
                </a:solidFill>
              </a:rPr>
              <a:t> </a:t>
            </a:r>
            <a:r>
              <a:rPr lang="fr-FR" sz="2800" b="1" dirty="0" err="1">
                <a:solidFill>
                  <a:schemeClr val="bg1"/>
                </a:solidFill>
              </a:rPr>
              <a:t>somes</a:t>
            </a:r>
            <a:r>
              <a:rPr lang="fr-FR" sz="2800" b="1" dirty="0">
                <a:solidFill>
                  <a:schemeClr val="bg1"/>
                </a:solidFill>
              </a:rPr>
              <a:t> </a:t>
            </a:r>
            <a:r>
              <a:rPr lang="fr-FR" sz="2800" b="1" dirty="0" err="1">
                <a:solidFill>
                  <a:schemeClr val="bg1"/>
                </a:solidFill>
              </a:rPr>
              <a:t>customers</a:t>
            </a:r>
            <a:endParaRPr lang="fr-FR" sz="2800" b="1" dirty="0">
              <a:solidFill>
                <a:schemeClr val="bg1"/>
              </a:solidFill>
            </a:endParaRPr>
          </a:p>
          <a:p>
            <a:r>
              <a:rPr lang="fr-FR" sz="2800" b="1" dirty="0">
                <a:solidFill>
                  <a:schemeClr val="bg1"/>
                </a:solidFill>
              </a:rPr>
              <a:t>for </a:t>
            </a:r>
            <a:r>
              <a:rPr lang="fr-FR" sz="2800" b="1" dirty="0" err="1">
                <a:solidFill>
                  <a:schemeClr val="bg1"/>
                </a:solidFill>
              </a:rPr>
              <a:t>your</a:t>
            </a:r>
            <a:r>
              <a:rPr lang="fr-FR" sz="2800" b="1" dirty="0">
                <a:solidFill>
                  <a:schemeClr val="bg1"/>
                </a:solidFill>
              </a:rPr>
              <a:t> </a:t>
            </a:r>
            <a:r>
              <a:rPr lang="fr-FR" sz="2800" b="1" dirty="0" err="1">
                <a:solidFill>
                  <a:schemeClr val="bg1"/>
                </a:solidFill>
              </a:rPr>
              <a:t>enterprise</a:t>
            </a:r>
            <a:r>
              <a:rPr lang="fr-FR" sz="2800" b="1" dirty="0">
                <a:solidFill>
                  <a:schemeClr val="bg1"/>
                </a:solidFill>
              </a:rPr>
              <a:t> </a:t>
            </a:r>
            <a:r>
              <a:rPr lang="fr-FR" sz="2800" b="1" dirty="0" err="1">
                <a:solidFill>
                  <a:schemeClr val="bg1"/>
                </a:solidFill>
              </a:rPr>
              <a:t>easy</a:t>
            </a:r>
            <a:r>
              <a:rPr lang="fr-FR" sz="2800" b="1" dirty="0">
                <a:solidFill>
                  <a:schemeClr val="bg1"/>
                </a:solidFill>
              </a:rPr>
              <a:t>…</a:t>
            </a:r>
          </a:p>
        </p:txBody>
      </p:sp>
      <p:sp>
        <p:nvSpPr>
          <p:cNvPr id="45" name="Ellipse 44">
            <a:extLst>
              <a:ext uri="{FF2B5EF4-FFF2-40B4-BE49-F238E27FC236}">
                <a16:creationId xmlns:a16="http://schemas.microsoft.com/office/drawing/2014/main" id="{0833F20C-8749-DADE-532E-5A1989E3AFE5}"/>
              </a:ext>
            </a:extLst>
          </p:cNvPr>
          <p:cNvSpPr/>
          <p:nvPr/>
        </p:nvSpPr>
        <p:spPr>
          <a:xfrm>
            <a:off x="1866900" y="316261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ZoneTexte 45">
            <a:extLst>
              <a:ext uri="{FF2B5EF4-FFF2-40B4-BE49-F238E27FC236}">
                <a16:creationId xmlns:a16="http://schemas.microsoft.com/office/drawing/2014/main" id="{AD8D9F7A-2856-2597-17F6-BA088CBA9070}"/>
              </a:ext>
            </a:extLst>
          </p:cNvPr>
          <p:cNvSpPr txBox="1"/>
          <p:nvPr/>
        </p:nvSpPr>
        <p:spPr>
          <a:xfrm>
            <a:off x="2105025" y="3097014"/>
            <a:ext cx="3609975" cy="369332"/>
          </a:xfrm>
          <a:prstGeom prst="rect">
            <a:avLst/>
          </a:prstGeom>
          <a:noFill/>
        </p:spPr>
        <p:txBody>
          <a:bodyPr wrap="square" rtlCol="0">
            <a:spAutoFit/>
          </a:bodyPr>
          <a:lstStyle/>
          <a:p>
            <a:r>
              <a:rPr lang="fr-FR" b="1" dirty="0" err="1">
                <a:solidFill>
                  <a:schemeClr val="bg1"/>
                </a:solidFill>
              </a:rPr>
              <a:t>Integrate</a:t>
            </a:r>
            <a:r>
              <a:rPr lang="fr-FR" b="1" dirty="0">
                <a:solidFill>
                  <a:schemeClr val="bg1"/>
                </a:solidFill>
              </a:rPr>
              <a:t> AI gestion </a:t>
            </a:r>
            <a:r>
              <a:rPr lang="fr-FR" b="1" dirty="0" err="1">
                <a:solidFill>
                  <a:schemeClr val="bg1"/>
                </a:solidFill>
              </a:rPr>
              <a:t>customers</a:t>
            </a:r>
            <a:endParaRPr lang="fr-FR" b="1" dirty="0">
              <a:solidFill>
                <a:schemeClr val="bg1"/>
              </a:solidFill>
            </a:endParaRPr>
          </a:p>
        </p:txBody>
      </p:sp>
      <p:sp>
        <p:nvSpPr>
          <p:cNvPr id="47" name="Ellipse 46">
            <a:extLst>
              <a:ext uri="{FF2B5EF4-FFF2-40B4-BE49-F238E27FC236}">
                <a16:creationId xmlns:a16="http://schemas.microsoft.com/office/drawing/2014/main" id="{7080D223-977D-676E-A4D4-E125B524BE39}"/>
              </a:ext>
            </a:extLst>
          </p:cNvPr>
          <p:cNvSpPr/>
          <p:nvPr/>
        </p:nvSpPr>
        <p:spPr>
          <a:xfrm>
            <a:off x="1866900" y="3624472"/>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8" name="ZoneTexte 47">
            <a:extLst>
              <a:ext uri="{FF2B5EF4-FFF2-40B4-BE49-F238E27FC236}">
                <a16:creationId xmlns:a16="http://schemas.microsoft.com/office/drawing/2014/main" id="{295B2245-1992-0A79-349C-3C496D77ECE1}"/>
              </a:ext>
            </a:extLst>
          </p:cNvPr>
          <p:cNvSpPr txBox="1"/>
          <p:nvPr/>
        </p:nvSpPr>
        <p:spPr>
          <a:xfrm>
            <a:off x="2105025" y="3558868"/>
            <a:ext cx="3609975" cy="369332"/>
          </a:xfrm>
          <a:prstGeom prst="rect">
            <a:avLst/>
          </a:prstGeom>
          <a:noFill/>
        </p:spPr>
        <p:txBody>
          <a:bodyPr wrap="square" rtlCol="0">
            <a:spAutoFit/>
          </a:bodyPr>
          <a:lstStyle/>
          <a:p>
            <a:r>
              <a:rPr lang="fr-FR" b="1" dirty="0" err="1">
                <a:solidFill>
                  <a:schemeClr val="bg1"/>
                </a:solidFill>
              </a:rPr>
              <a:t>Crated</a:t>
            </a:r>
            <a:r>
              <a:rPr lang="fr-FR" b="1" dirty="0">
                <a:solidFill>
                  <a:schemeClr val="bg1"/>
                </a:solidFill>
              </a:rPr>
              <a:t> AI business documents</a:t>
            </a:r>
          </a:p>
        </p:txBody>
      </p:sp>
      <p:sp>
        <p:nvSpPr>
          <p:cNvPr id="49" name="Ellipse 48">
            <a:extLst>
              <a:ext uri="{FF2B5EF4-FFF2-40B4-BE49-F238E27FC236}">
                <a16:creationId xmlns:a16="http://schemas.microsoft.com/office/drawing/2014/main" id="{ECDE0870-3920-4C3E-E6E7-2B57C556B33E}"/>
              </a:ext>
            </a:extLst>
          </p:cNvPr>
          <p:cNvSpPr/>
          <p:nvPr/>
        </p:nvSpPr>
        <p:spPr>
          <a:xfrm>
            <a:off x="1866900" y="409509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0" name="ZoneTexte 49">
            <a:extLst>
              <a:ext uri="{FF2B5EF4-FFF2-40B4-BE49-F238E27FC236}">
                <a16:creationId xmlns:a16="http://schemas.microsoft.com/office/drawing/2014/main" id="{AEE22E9B-408B-72D6-0C47-F9505B7C783F}"/>
              </a:ext>
            </a:extLst>
          </p:cNvPr>
          <p:cNvSpPr txBox="1"/>
          <p:nvPr/>
        </p:nvSpPr>
        <p:spPr>
          <a:xfrm>
            <a:off x="2105025" y="4029494"/>
            <a:ext cx="3609975" cy="646331"/>
          </a:xfrm>
          <a:prstGeom prst="rect">
            <a:avLst/>
          </a:prstGeom>
          <a:noFill/>
        </p:spPr>
        <p:txBody>
          <a:bodyPr wrap="square" rtlCol="0">
            <a:spAutoFit/>
          </a:bodyPr>
          <a:lstStyle/>
          <a:p>
            <a:r>
              <a:rPr lang="fr-FR" b="1" dirty="0">
                <a:solidFill>
                  <a:schemeClr val="bg1"/>
                </a:solidFill>
              </a:rPr>
              <a:t>Use </a:t>
            </a:r>
            <a:r>
              <a:rPr lang="fr-FR" b="1" dirty="0" err="1">
                <a:solidFill>
                  <a:schemeClr val="bg1"/>
                </a:solidFill>
              </a:rPr>
              <a:t>with</a:t>
            </a:r>
            <a:r>
              <a:rPr lang="fr-FR" b="1" dirty="0">
                <a:solidFill>
                  <a:schemeClr val="bg1"/>
                </a:solidFill>
              </a:rPr>
              <a:t> support and </a:t>
            </a:r>
            <a:r>
              <a:rPr lang="fr-FR" b="1" dirty="0" err="1">
                <a:solidFill>
                  <a:schemeClr val="bg1"/>
                </a:solidFill>
              </a:rPr>
              <a:t>save</a:t>
            </a:r>
            <a:r>
              <a:rPr lang="fr-FR" b="1" dirty="0">
                <a:solidFill>
                  <a:schemeClr val="bg1"/>
                </a:solidFill>
              </a:rPr>
              <a:t> data base</a:t>
            </a:r>
          </a:p>
        </p:txBody>
      </p:sp>
      <p:sp>
        <p:nvSpPr>
          <p:cNvPr id="51" name="Rectangle 50">
            <a:extLst>
              <a:ext uri="{FF2B5EF4-FFF2-40B4-BE49-F238E27FC236}">
                <a16:creationId xmlns:a16="http://schemas.microsoft.com/office/drawing/2014/main" id="{3156507E-3369-342F-2DF7-CA334416F158}"/>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P1</a:t>
            </a:r>
          </a:p>
        </p:txBody>
      </p:sp>
      <p:sp>
        <p:nvSpPr>
          <p:cNvPr id="2" name="Rectangle 1">
            <a:extLst>
              <a:ext uri="{FF2B5EF4-FFF2-40B4-BE49-F238E27FC236}">
                <a16:creationId xmlns:a16="http://schemas.microsoft.com/office/drawing/2014/main" id="{238BE0FB-EFCA-883A-6F4B-B4FFB0063E63}"/>
              </a:ext>
            </a:extLst>
          </p:cNvPr>
          <p:cNvSpPr/>
          <p:nvPr/>
        </p:nvSpPr>
        <p:spPr>
          <a:xfrm>
            <a:off x="803003" y="91488"/>
            <a:ext cx="5434873" cy="103844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Crée la table « </a:t>
            </a:r>
            <a:r>
              <a:rPr lang="fr-FR" dirty="0" err="1"/>
              <a:t>users</a:t>
            </a:r>
            <a:r>
              <a:rPr lang="fr-FR" dirty="0"/>
              <a:t> ». Ci-dessous tu trouveras le dictionnaire des données.</a:t>
            </a:r>
          </a:p>
        </p:txBody>
      </p:sp>
      <p:graphicFrame>
        <p:nvGraphicFramePr>
          <p:cNvPr id="5" name="Tableau 4">
            <a:extLst>
              <a:ext uri="{FF2B5EF4-FFF2-40B4-BE49-F238E27FC236}">
                <a16:creationId xmlns:a16="http://schemas.microsoft.com/office/drawing/2014/main" id="{52508EBD-79AA-8BEF-D6E1-8783491545C8}"/>
              </a:ext>
            </a:extLst>
          </p:cNvPr>
          <p:cNvGraphicFramePr>
            <a:graphicFrameLocks noGrp="1"/>
          </p:cNvGraphicFramePr>
          <p:nvPr>
            <p:extLst>
              <p:ext uri="{D42A27DB-BD31-4B8C-83A1-F6EECF244321}">
                <p14:modId xmlns:p14="http://schemas.microsoft.com/office/powerpoint/2010/main" val="911978792"/>
              </p:ext>
            </p:extLst>
          </p:nvPr>
        </p:nvGraphicFramePr>
        <p:xfrm>
          <a:off x="864007" y="1306140"/>
          <a:ext cx="6092010" cy="5429940"/>
        </p:xfrm>
        <a:graphic>
          <a:graphicData uri="http://schemas.openxmlformats.org/drawingml/2006/table">
            <a:tbl>
              <a:tblPr firstRow="1" bandRow="1">
                <a:tableStyleId>{5C22544A-7EE6-4342-B048-85BDC9FD1C3A}</a:tableStyleId>
              </a:tblPr>
              <a:tblGrid>
                <a:gridCol w="2030670">
                  <a:extLst>
                    <a:ext uri="{9D8B030D-6E8A-4147-A177-3AD203B41FA5}">
                      <a16:colId xmlns:a16="http://schemas.microsoft.com/office/drawing/2014/main" val="2829938953"/>
                    </a:ext>
                  </a:extLst>
                </a:gridCol>
                <a:gridCol w="2030670">
                  <a:extLst>
                    <a:ext uri="{9D8B030D-6E8A-4147-A177-3AD203B41FA5}">
                      <a16:colId xmlns:a16="http://schemas.microsoft.com/office/drawing/2014/main" val="3524173942"/>
                    </a:ext>
                  </a:extLst>
                </a:gridCol>
                <a:gridCol w="2030670">
                  <a:extLst>
                    <a:ext uri="{9D8B030D-6E8A-4147-A177-3AD203B41FA5}">
                      <a16:colId xmlns:a16="http://schemas.microsoft.com/office/drawing/2014/main" val="2900431191"/>
                    </a:ext>
                  </a:extLst>
                </a:gridCol>
              </a:tblGrid>
              <a:tr h="399420">
                <a:tc>
                  <a:txBody>
                    <a:bodyPr/>
                    <a:lstStyle/>
                    <a:p>
                      <a:r>
                        <a:rPr lang="fr-FR" sz="1400" dirty="0"/>
                        <a:t>Champs</a:t>
                      </a:r>
                    </a:p>
                  </a:txBody>
                  <a:tcPr/>
                </a:tc>
                <a:tc>
                  <a:txBody>
                    <a:bodyPr/>
                    <a:lstStyle/>
                    <a:p>
                      <a:r>
                        <a:rPr lang="fr-FR" sz="1400" dirty="0"/>
                        <a:t>Type</a:t>
                      </a:r>
                    </a:p>
                  </a:txBody>
                  <a:tcPr/>
                </a:tc>
                <a:tc>
                  <a:txBody>
                    <a:bodyPr/>
                    <a:lstStyle/>
                    <a:p>
                      <a:r>
                        <a:rPr lang="fr-FR" sz="1400" dirty="0"/>
                        <a:t>Observations</a:t>
                      </a:r>
                    </a:p>
                  </a:txBody>
                  <a:tcPr/>
                </a:tc>
                <a:extLst>
                  <a:ext uri="{0D108BD9-81ED-4DB2-BD59-A6C34878D82A}">
                    <a16:rowId xmlns:a16="http://schemas.microsoft.com/office/drawing/2014/main" val="2375873478"/>
                  </a:ext>
                </a:extLst>
              </a:tr>
              <a:tr h="399420">
                <a:tc>
                  <a:txBody>
                    <a:bodyPr/>
                    <a:lstStyle/>
                    <a:p>
                      <a:r>
                        <a:rPr lang="fr-FR" sz="1400" dirty="0" err="1"/>
                        <a:t>IdAbonne</a:t>
                      </a:r>
                      <a:endParaRPr lang="fr-FR" sz="1400" dirty="0"/>
                    </a:p>
                  </a:txBody>
                  <a:tcPr/>
                </a:tc>
                <a:tc>
                  <a:txBody>
                    <a:bodyPr/>
                    <a:lstStyle/>
                    <a:p>
                      <a:r>
                        <a:rPr lang="fr-FR" sz="1400" dirty="0"/>
                        <a:t>INT, A.I</a:t>
                      </a:r>
                    </a:p>
                  </a:txBody>
                  <a:tcPr/>
                </a:tc>
                <a:tc>
                  <a:txBody>
                    <a:bodyPr/>
                    <a:lstStyle/>
                    <a:p>
                      <a:r>
                        <a:rPr lang="fr-FR" sz="1400" dirty="0"/>
                        <a:t>Identifiant abonné auto incrémenté</a:t>
                      </a:r>
                    </a:p>
                  </a:txBody>
                  <a:tcPr/>
                </a:tc>
                <a:extLst>
                  <a:ext uri="{0D108BD9-81ED-4DB2-BD59-A6C34878D82A}">
                    <a16:rowId xmlns:a16="http://schemas.microsoft.com/office/drawing/2014/main" val="1979997772"/>
                  </a:ext>
                </a:extLst>
              </a:tr>
              <a:tr h="399420">
                <a:tc>
                  <a:txBody>
                    <a:bodyPr/>
                    <a:lstStyle/>
                    <a:p>
                      <a:r>
                        <a:rPr lang="fr-FR" sz="1400" dirty="0"/>
                        <a:t>Email</a:t>
                      </a:r>
                    </a:p>
                  </a:txBody>
                  <a:tcPr/>
                </a:tc>
                <a:tc>
                  <a:txBody>
                    <a:bodyPr/>
                    <a:lstStyle/>
                    <a:p>
                      <a:r>
                        <a:rPr lang="fr-FR" sz="1400" dirty="0"/>
                        <a:t>Varchar, 50</a:t>
                      </a:r>
                    </a:p>
                  </a:txBody>
                  <a:tcPr/>
                </a:tc>
                <a:tc>
                  <a:txBody>
                    <a:bodyPr/>
                    <a:lstStyle/>
                    <a:p>
                      <a:endParaRPr lang="fr-FR" sz="1400" dirty="0"/>
                    </a:p>
                  </a:txBody>
                  <a:tcPr/>
                </a:tc>
                <a:extLst>
                  <a:ext uri="{0D108BD9-81ED-4DB2-BD59-A6C34878D82A}">
                    <a16:rowId xmlns:a16="http://schemas.microsoft.com/office/drawing/2014/main" val="4241856187"/>
                  </a:ext>
                </a:extLst>
              </a:tr>
              <a:tr h="399420">
                <a:tc>
                  <a:txBody>
                    <a:bodyPr/>
                    <a:lstStyle/>
                    <a:p>
                      <a:r>
                        <a:rPr lang="fr-FR" sz="1400" dirty="0" err="1"/>
                        <a:t>Password</a:t>
                      </a:r>
                      <a:endParaRPr lang="fr-FR" sz="1400" dirty="0"/>
                    </a:p>
                  </a:txBody>
                  <a:tcPr/>
                </a:tc>
                <a:tc>
                  <a:txBody>
                    <a:bodyPr/>
                    <a:lstStyle/>
                    <a:p>
                      <a:r>
                        <a:rPr lang="fr-FR" sz="1400" dirty="0"/>
                        <a:t>Varchar, 256</a:t>
                      </a:r>
                    </a:p>
                  </a:txBody>
                  <a:tcPr/>
                </a:tc>
                <a:tc>
                  <a:txBody>
                    <a:bodyPr/>
                    <a:lstStyle/>
                    <a:p>
                      <a:r>
                        <a:rPr lang="fr-FR" sz="1400" dirty="0"/>
                        <a:t>Mot de passe</a:t>
                      </a:r>
                    </a:p>
                  </a:txBody>
                  <a:tcPr/>
                </a:tc>
                <a:extLst>
                  <a:ext uri="{0D108BD9-81ED-4DB2-BD59-A6C34878D82A}">
                    <a16:rowId xmlns:a16="http://schemas.microsoft.com/office/drawing/2014/main" val="3337245621"/>
                  </a:ext>
                </a:extLst>
              </a:tr>
              <a:tr h="399420">
                <a:tc>
                  <a:txBody>
                    <a:bodyPr/>
                    <a:lstStyle/>
                    <a:p>
                      <a:r>
                        <a:rPr lang="fr-FR" sz="1400" dirty="0" err="1"/>
                        <a:t>FirstName</a:t>
                      </a:r>
                      <a:endParaRPr lang="fr-FR" sz="1400" dirty="0"/>
                    </a:p>
                  </a:txBody>
                  <a:tcPr/>
                </a:tc>
                <a:tc>
                  <a:txBody>
                    <a:bodyPr/>
                    <a:lstStyle/>
                    <a:p>
                      <a:r>
                        <a:rPr lang="fr-FR" sz="1400" dirty="0"/>
                        <a:t>Varchar, 50</a:t>
                      </a:r>
                    </a:p>
                  </a:txBody>
                  <a:tcPr/>
                </a:tc>
                <a:tc>
                  <a:txBody>
                    <a:bodyPr/>
                    <a:lstStyle/>
                    <a:p>
                      <a:endParaRPr lang="fr-FR" sz="1400" dirty="0"/>
                    </a:p>
                  </a:txBody>
                  <a:tcPr/>
                </a:tc>
                <a:extLst>
                  <a:ext uri="{0D108BD9-81ED-4DB2-BD59-A6C34878D82A}">
                    <a16:rowId xmlns:a16="http://schemas.microsoft.com/office/drawing/2014/main" val="2415190040"/>
                  </a:ext>
                </a:extLst>
              </a:tr>
              <a:tr h="399420">
                <a:tc>
                  <a:txBody>
                    <a:bodyPr/>
                    <a:lstStyle/>
                    <a:p>
                      <a:r>
                        <a:rPr lang="fr-FR" sz="1400" dirty="0" err="1"/>
                        <a:t>Lastname</a:t>
                      </a:r>
                      <a:endParaRPr lang="fr-FR" sz="1400" dirty="0"/>
                    </a:p>
                  </a:txBody>
                  <a:tcPr/>
                </a:tc>
                <a:tc>
                  <a:txBody>
                    <a:bodyPr/>
                    <a:lstStyle/>
                    <a:p>
                      <a:r>
                        <a:rPr lang="fr-FR" sz="1400" dirty="0"/>
                        <a:t>Varchar, 50</a:t>
                      </a:r>
                    </a:p>
                  </a:txBody>
                  <a:tcPr/>
                </a:tc>
                <a:tc>
                  <a:txBody>
                    <a:bodyPr/>
                    <a:lstStyle/>
                    <a:p>
                      <a:endParaRPr lang="fr-FR" sz="1400" dirty="0"/>
                    </a:p>
                  </a:txBody>
                  <a:tcPr/>
                </a:tc>
                <a:extLst>
                  <a:ext uri="{0D108BD9-81ED-4DB2-BD59-A6C34878D82A}">
                    <a16:rowId xmlns:a16="http://schemas.microsoft.com/office/drawing/2014/main" val="757820832"/>
                  </a:ext>
                </a:extLst>
              </a:tr>
              <a:tr h="399420">
                <a:tc>
                  <a:txBody>
                    <a:bodyPr/>
                    <a:lstStyle/>
                    <a:p>
                      <a:r>
                        <a:rPr lang="fr-FR" sz="1400" dirty="0" err="1"/>
                        <a:t>Organization</a:t>
                      </a:r>
                      <a:endParaRPr lang="fr-FR" sz="1400" dirty="0"/>
                    </a:p>
                  </a:txBody>
                  <a:tcPr/>
                </a:tc>
                <a:tc>
                  <a:txBody>
                    <a:bodyPr/>
                    <a:lstStyle/>
                    <a:p>
                      <a:r>
                        <a:rPr lang="fr-FR" sz="1400" dirty="0" err="1"/>
                        <a:t>Vachar</a:t>
                      </a:r>
                      <a:r>
                        <a:rPr lang="fr-FR" sz="1400" dirty="0"/>
                        <a:t>, 100</a:t>
                      </a:r>
                    </a:p>
                  </a:txBody>
                  <a:tcPr/>
                </a:tc>
                <a:tc>
                  <a:txBody>
                    <a:bodyPr/>
                    <a:lstStyle/>
                    <a:p>
                      <a:endParaRPr lang="fr-FR" sz="1400" dirty="0"/>
                    </a:p>
                  </a:txBody>
                  <a:tcPr/>
                </a:tc>
                <a:extLst>
                  <a:ext uri="{0D108BD9-81ED-4DB2-BD59-A6C34878D82A}">
                    <a16:rowId xmlns:a16="http://schemas.microsoft.com/office/drawing/2014/main" val="2420559791"/>
                  </a:ext>
                </a:extLst>
              </a:tr>
              <a:tr h="399420">
                <a:tc>
                  <a:txBody>
                    <a:bodyPr/>
                    <a:lstStyle/>
                    <a:p>
                      <a:r>
                        <a:rPr lang="fr-FR" sz="1400" dirty="0"/>
                        <a:t>Country</a:t>
                      </a:r>
                    </a:p>
                  </a:txBody>
                  <a:tcPr/>
                </a:tc>
                <a:tc>
                  <a:txBody>
                    <a:bodyPr/>
                    <a:lstStyle/>
                    <a:p>
                      <a:r>
                        <a:rPr lang="fr-FR" sz="1400" dirty="0"/>
                        <a:t>Varchar, 50</a:t>
                      </a:r>
                    </a:p>
                  </a:txBody>
                  <a:tcPr/>
                </a:tc>
                <a:tc>
                  <a:txBody>
                    <a:bodyPr/>
                    <a:lstStyle/>
                    <a:p>
                      <a:endParaRPr lang="fr-FR" sz="1400" dirty="0"/>
                    </a:p>
                  </a:txBody>
                  <a:tcPr/>
                </a:tc>
                <a:extLst>
                  <a:ext uri="{0D108BD9-81ED-4DB2-BD59-A6C34878D82A}">
                    <a16:rowId xmlns:a16="http://schemas.microsoft.com/office/drawing/2014/main" val="840430288"/>
                  </a:ext>
                </a:extLst>
              </a:tr>
              <a:tr h="399420">
                <a:tc>
                  <a:txBody>
                    <a:bodyPr/>
                    <a:lstStyle/>
                    <a:p>
                      <a:r>
                        <a:rPr lang="fr-FR" sz="1400" dirty="0" err="1"/>
                        <a:t>DateCenterRegion</a:t>
                      </a:r>
                      <a:endParaRPr lang="fr-FR" sz="1400" dirty="0"/>
                    </a:p>
                  </a:txBody>
                  <a:tcPr/>
                </a:tc>
                <a:tc>
                  <a:txBody>
                    <a:bodyPr/>
                    <a:lstStyle/>
                    <a:p>
                      <a:r>
                        <a:rPr lang="fr-FR" sz="1400" dirty="0"/>
                        <a:t>Date</a:t>
                      </a:r>
                    </a:p>
                  </a:txBody>
                  <a:tcPr/>
                </a:tc>
                <a:tc>
                  <a:txBody>
                    <a:bodyPr/>
                    <a:lstStyle/>
                    <a:p>
                      <a:r>
                        <a:rPr lang="fr-FR" sz="1400" dirty="0"/>
                        <a:t>Date inscription</a:t>
                      </a:r>
                    </a:p>
                  </a:txBody>
                  <a:tcPr/>
                </a:tc>
                <a:extLst>
                  <a:ext uri="{0D108BD9-81ED-4DB2-BD59-A6C34878D82A}">
                    <a16:rowId xmlns:a16="http://schemas.microsoft.com/office/drawing/2014/main" val="1781793336"/>
                  </a:ext>
                </a:extLst>
              </a:tr>
              <a:tr h="399420">
                <a:tc>
                  <a:txBody>
                    <a:bodyPr/>
                    <a:lstStyle/>
                    <a:p>
                      <a:r>
                        <a:rPr lang="fr-FR" sz="1400" dirty="0" err="1"/>
                        <a:t>PhoneNumber</a:t>
                      </a:r>
                      <a:endParaRPr lang="fr-FR" sz="1400" dirty="0"/>
                    </a:p>
                  </a:txBody>
                  <a:tcPr/>
                </a:tc>
                <a:tc>
                  <a:txBody>
                    <a:bodyPr/>
                    <a:lstStyle/>
                    <a:p>
                      <a:r>
                        <a:rPr lang="fr-FR" sz="1400" dirty="0"/>
                        <a:t>Varchar, 50</a:t>
                      </a:r>
                    </a:p>
                  </a:txBody>
                  <a:tcPr/>
                </a:tc>
                <a:tc>
                  <a:txBody>
                    <a:bodyPr/>
                    <a:lstStyle/>
                    <a:p>
                      <a:r>
                        <a:rPr lang="fr-FR" sz="1400" dirty="0"/>
                        <a:t>Téléphone</a:t>
                      </a:r>
                    </a:p>
                  </a:txBody>
                  <a:tcPr/>
                </a:tc>
                <a:extLst>
                  <a:ext uri="{0D108BD9-81ED-4DB2-BD59-A6C34878D82A}">
                    <a16:rowId xmlns:a16="http://schemas.microsoft.com/office/drawing/2014/main" val="3281872272"/>
                  </a:ext>
                </a:extLst>
              </a:tr>
              <a:tr h="399420">
                <a:tc>
                  <a:txBody>
                    <a:bodyPr/>
                    <a:lstStyle/>
                    <a:p>
                      <a:r>
                        <a:rPr lang="fr-FR" sz="1400" dirty="0" err="1"/>
                        <a:t>Agreeing</a:t>
                      </a:r>
                      <a:endParaRPr lang="fr-FR" sz="1400" dirty="0"/>
                    </a:p>
                  </a:txBody>
                  <a:tcPr/>
                </a:tc>
                <a:tc>
                  <a:txBody>
                    <a:bodyPr/>
                    <a:lstStyle/>
                    <a:p>
                      <a:r>
                        <a:rPr lang="fr-FR" sz="1400" dirty="0"/>
                        <a:t>Int</a:t>
                      </a:r>
                    </a:p>
                  </a:txBody>
                  <a:tcPr/>
                </a:tc>
                <a:tc>
                  <a:txBody>
                    <a:bodyPr/>
                    <a:lstStyle/>
                    <a:p>
                      <a:r>
                        <a:rPr lang="fr-FR" sz="1400" dirty="0"/>
                        <a:t>Case à cocher</a:t>
                      </a:r>
                    </a:p>
                  </a:txBody>
                  <a:tcPr/>
                </a:tc>
                <a:extLst>
                  <a:ext uri="{0D108BD9-81ED-4DB2-BD59-A6C34878D82A}">
                    <a16:rowId xmlns:a16="http://schemas.microsoft.com/office/drawing/2014/main" val="2626365921"/>
                  </a:ext>
                </a:extLst>
              </a:tr>
              <a:tr h="399420">
                <a:tc>
                  <a:txBody>
                    <a:bodyPr/>
                    <a:lstStyle/>
                    <a:p>
                      <a:r>
                        <a:rPr lang="fr-FR" sz="1400" dirty="0" err="1"/>
                        <a:t>Receive</a:t>
                      </a:r>
                      <a:endParaRPr lang="fr-FR" sz="1400" dirty="0"/>
                    </a:p>
                  </a:txBody>
                  <a:tcPr/>
                </a:tc>
                <a:tc>
                  <a:txBody>
                    <a:bodyPr/>
                    <a:lstStyle/>
                    <a:p>
                      <a:r>
                        <a:rPr lang="fr-FR" sz="1400" dirty="0"/>
                        <a:t>Int</a:t>
                      </a:r>
                    </a:p>
                  </a:txBody>
                  <a:tcPr/>
                </a:tc>
                <a:tc>
                  <a:txBody>
                    <a:bodyPr/>
                    <a:lstStyle/>
                    <a:p>
                      <a:r>
                        <a:rPr lang="fr-FR" sz="1400" dirty="0"/>
                        <a:t>Case à cocher</a:t>
                      </a:r>
                    </a:p>
                  </a:txBody>
                  <a:tcPr/>
                </a:tc>
                <a:extLst>
                  <a:ext uri="{0D108BD9-81ED-4DB2-BD59-A6C34878D82A}">
                    <a16:rowId xmlns:a16="http://schemas.microsoft.com/office/drawing/2014/main" val="2274552400"/>
                  </a:ext>
                </a:extLst>
              </a:tr>
              <a:tr h="399420">
                <a:tc>
                  <a:txBody>
                    <a:bodyPr/>
                    <a:lstStyle/>
                    <a:p>
                      <a:r>
                        <a:rPr lang="fr-FR" sz="1400" dirty="0" err="1"/>
                        <a:t>QuestionsOK</a:t>
                      </a:r>
                      <a:endParaRPr lang="fr-FR" sz="1400" dirty="0"/>
                    </a:p>
                  </a:txBody>
                  <a:tcPr/>
                </a:tc>
                <a:tc>
                  <a:txBody>
                    <a:bodyPr/>
                    <a:lstStyle/>
                    <a:p>
                      <a:r>
                        <a:rPr lang="fr-FR" sz="1400" dirty="0"/>
                        <a:t>Int</a:t>
                      </a:r>
                    </a:p>
                  </a:txBody>
                  <a:tcPr/>
                </a:tc>
                <a:tc>
                  <a:txBody>
                    <a:bodyPr/>
                    <a:lstStyle/>
                    <a:p>
                      <a:r>
                        <a:rPr lang="fr-FR" sz="1400" dirty="0"/>
                        <a:t>A </a:t>
                      </a:r>
                      <a:r>
                        <a:rPr lang="fr-FR" sz="1400" dirty="0" err="1"/>
                        <a:t>rpondu</a:t>
                      </a:r>
                      <a:r>
                        <a:rPr lang="fr-FR" sz="1400" dirty="0"/>
                        <a:t> au questionnaire ?</a:t>
                      </a:r>
                    </a:p>
                  </a:txBody>
                  <a:tcPr/>
                </a:tc>
                <a:extLst>
                  <a:ext uri="{0D108BD9-81ED-4DB2-BD59-A6C34878D82A}">
                    <a16:rowId xmlns:a16="http://schemas.microsoft.com/office/drawing/2014/main" val="3593728132"/>
                  </a:ext>
                </a:extLst>
              </a:tr>
            </a:tbl>
          </a:graphicData>
        </a:graphic>
      </p:graphicFrame>
      <p:sp>
        <p:nvSpPr>
          <p:cNvPr id="6" name="Espace réservé du pied de page 5">
            <a:extLst>
              <a:ext uri="{FF2B5EF4-FFF2-40B4-BE49-F238E27FC236}">
                <a16:creationId xmlns:a16="http://schemas.microsoft.com/office/drawing/2014/main" id="{4865F024-0EA3-867D-FD92-3EFD973E2949}"/>
              </a:ext>
            </a:extLst>
          </p:cNvPr>
          <p:cNvSpPr>
            <a:spLocks noGrp="1"/>
          </p:cNvSpPr>
          <p:nvPr>
            <p:ph type="ftr" sz="quarter" idx="11"/>
          </p:nvPr>
        </p:nvSpPr>
        <p:spPr/>
        <p:txBody>
          <a:bodyPr/>
          <a:lstStyle/>
          <a:p>
            <a:r>
              <a:rPr lang="fr-FR"/>
              <a:t>Evaluaiton avec un micro projet HTML-CSS</a:t>
            </a:r>
          </a:p>
        </p:txBody>
      </p:sp>
      <p:sp>
        <p:nvSpPr>
          <p:cNvPr id="7" name="Espace réservé du numéro de diapositive 6">
            <a:extLst>
              <a:ext uri="{FF2B5EF4-FFF2-40B4-BE49-F238E27FC236}">
                <a16:creationId xmlns:a16="http://schemas.microsoft.com/office/drawing/2014/main" id="{6450668A-8BCB-5997-680D-41917211CF00}"/>
              </a:ext>
            </a:extLst>
          </p:cNvPr>
          <p:cNvSpPr>
            <a:spLocks noGrp="1"/>
          </p:cNvSpPr>
          <p:nvPr>
            <p:ph type="sldNum" sz="quarter" idx="12"/>
          </p:nvPr>
        </p:nvSpPr>
        <p:spPr/>
        <p:txBody>
          <a:bodyPr/>
          <a:lstStyle/>
          <a:p>
            <a:fld id="{61A50371-3F2D-4FEF-B603-773838516A24}" type="slidenum">
              <a:rPr lang="fr-FR" smtClean="0"/>
              <a:t>25</a:t>
            </a:fld>
            <a:endParaRPr lang="fr-FR"/>
          </a:p>
        </p:txBody>
      </p:sp>
    </p:spTree>
    <p:extLst>
      <p:ext uri="{BB962C8B-B14F-4D97-AF65-F5344CB8AC3E}">
        <p14:creationId xmlns:p14="http://schemas.microsoft.com/office/powerpoint/2010/main" val="3463546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C0AC8-2ABC-803B-ABA1-8059E6C3BEB5}"/>
              </a:ext>
            </a:extLst>
          </p:cNvPr>
          <p:cNvSpPr>
            <a:spLocks noGrp="1"/>
          </p:cNvSpPr>
          <p:nvPr>
            <p:ph type="title"/>
          </p:nvPr>
        </p:nvSpPr>
        <p:spPr/>
        <p:txBody>
          <a:bodyPr/>
          <a:lstStyle/>
          <a:p>
            <a:r>
              <a:rPr lang="fr-FR" dirty="0"/>
              <a:t>Informations SQL pour collecter les données du formulaire…</a:t>
            </a:r>
          </a:p>
        </p:txBody>
      </p:sp>
      <p:sp>
        <p:nvSpPr>
          <p:cNvPr id="3" name="Espace réservé du contenu 2">
            <a:extLst>
              <a:ext uri="{FF2B5EF4-FFF2-40B4-BE49-F238E27FC236}">
                <a16:creationId xmlns:a16="http://schemas.microsoft.com/office/drawing/2014/main" id="{C7F351AC-0D67-C659-F013-00950FC03248}"/>
              </a:ext>
            </a:extLst>
          </p:cNvPr>
          <p:cNvSpPr>
            <a:spLocks noGrp="1"/>
          </p:cNvSpPr>
          <p:nvPr>
            <p:ph idx="1"/>
          </p:nvPr>
        </p:nvSpPr>
        <p:spPr>
          <a:xfrm>
            <a:off x="838200" y="1825625"/>
            <a:ext cx="10515600" cy="2527300"/>
          </a:xfrm>
        </p:spPr>
        <p:txBody>
          <a:bodyPr/>
          <a:lstStyle/>
          <a:p>
            <a:r>
              <a:rPr lang="fr-FR" dirty="0"/>
              <a:t>Après avoir utilisé les $_POST,</a:t>
            </a:r>
          </a:p>
          <a:p>
            <a:r>
              <a:rPr lang="fr-FR" dirty="0"/>
              <a:t>Chaque variable créée, par exemple $ Email  = $_POST[« Email »], permet de constituer la requête pour ajouter un nouvel utilisateur,</a:t>
            </a:r>
          </a:p>
          <a:p>
            <a:r>
              <a:rPr lang="fr-FR" dirty="0"/>
              <a:t>Exemple : INSERT INTO </a:t>
            </a:r>
            <a:r>
              <a:rPr lang="fr-FR" dirty="0" err="1"/>
              <a:t>users</a:t>
            </a:r>
            <a:r>
              <a:rPr lang="fr-FR" dirty="0"/>
              <a:t> (Email, </a:t>
            </a:r>
            <a:r>
              <a:rPr lang="fr-FR" dirty="0" err="1"/>
              <a:t>FirstName</a:t>
            </a:r>
            <a:r>
              <a:rPr lang="fr-FR" dirty="0"/>
              <a:t>, </a:t>
            </a:r>
            <a:r>
              <a:rPr lang="fr-FR" dirty="0" err="1"/>
              <a:t>LastName</a:t>
            </a:r>
            <a:r>
              <a:rPr lang="fr-FR" dirty="0"/>
              <a:t>) VALUES (‘$Email’, ‘$</a:t>
            </a:r>
            <a:r>
              <a:rPr lang="fr-FR" dirty="0" err="1"/>
              <a:t>FirstName</a:t>
            </a:r>
            <a:r>
              <a:rPr lang="fr-FR" dirty="0"/>
              <a:t>’, ‘$</a:t>
            </a:r>
            <a:r>
              <a:rPr lang="fr-FR" dirty="0" err="1"/>
              <a:t>LastName</a:t>
            </a:r>
            <a:r>
              <a:rPr lang="fr-FR" dirty="0"/>
              <a:t>’)</a:t>
            </a:r>
          </a:p>
        </p:txBody>
      </p:sp>
      <p:sp>
        <p:nvSpPr>
          <p:cNvPr id="4" name="Espace réservé du pied de page 3">
            <a:extLst>
              <a:ext uri="{FF2B5EF4-FFF2-40B4-BE49-F238E27FC236}">
                <a16:creationId xmlns:a16="http://schemas.microsoft.com/office/drawing/2014/main" id="{8D10B320-E87E-6526-8EBC-041B9B8579E6}"/>
              </a:ext>
            </a:extLst>
          </p:cNvPr>
          <p:cNvSpPr>
            <a:spLocks noGrp="1"/>
          </p:cNvSpPr>
          <p:nvPr>
            <p:ph type="ftr" sz="quarter" idx="11"/>
          </p:nvPr>
        </p:nvSpPr>
        <p:spPr/>
        <p:txBody>
          <a:bodyPr/>
          <a:lstStyle/>
          <a:p>
            <a:r>
              <a:rPr lang="fr-FR"/>
              <a:t>Evaluaiton avec un micro projet HTML-CSS</a:t>
            </a:r>
          </a:p>
        </p:txBody>
      </p:sp>
      <p:sp>
        <p:nvSpPr>
          <p:cNvPr id="5" name="Espace réservé du numéro de diapositive 4">
            <a:extLst>
              <a:ext uri="{FF2B5EF4-FFF2-40B4-BE49-F238E27FC236}">
                <a16:creationId xmlns:a16="http://schemas.microsoft.com/office/drawing/2014/main" id="{51E20A2C-9E69-7729-2BD1-103A1D7A60EA}"/>
              </a:ext>
            </a:extLst>
          </p:cNvPr>
          <p:cNvSpPr>
            <a:spLocks noGrp="1"/>
          </p:cNvSpPr>
          <p:nvPr>
            <p:ph type="sldNum" sz="quarter" idx="12"/>
          </p:nvPr>
        </p:nvSpPr>
        <p:spPr/>
        <p:txBody>
          <a:bodyPr/>
          <a:lstStyle/>
          <a:p>
            <a:fld id="{61A50371-3F2D-4FEF-B603-773838516A24}" type="slidenum">
              <a:rPr lang="fr-FR" smtClean="0"/>
              <a:t>26</a:t>
            </a:fld>
            <a:endParaRPr lang="fr-FR"/>
          </a:p>
        </p:txBody>
      </p:sp>
    </p:spTree>
    <p:extLst>
      <p:ext uri="{BB962C8B-B14F-4D97-AF65-F5344CB8AC3E}">
        <p14:creationId xmlns:p14="http://schemas.microsoft.com/office/powerpoint/2010/main" val="116145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43E9-6185-56E9-C303-FA2CCBDB90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63DAC5-D107-4EF0-4F2D-8686A20D1D98}"/>
              </a:ext>
            </a:extLst>
          </p:cNvPr>
          <p:cNvSpPr>
            <a:spLocks noGrp="1"/>
          </p:cNvSpPr>
          <p:nvPr>
            <p:ph type="title"/>
          </p:nvPr>
        </p:nvSpPr>
        <p:spPr/>
        <p:txBody>
          <a:bodyPr/>
          <a:lstStyle/>
          <a:p>
            <a:r>
              <a:rPr lang="fr-FR" dirty="0"/>
              <a:t>Informations SQL pour TRAITER les données du formulaire…(Facultatif)</a:t>
            </a:r>
          </a:p>
        </p:txBody>
      </p:sp>
      <p:sp>
        <p:nvSpPr>
          <p:cNvPr id="3" name="Espace réservé du contenu 2">
            <a:extLst>
              <a:ext uri="{FF2B5EF4-FFF2-40B4-BE49-F238E27FC236}">
                <a16:creationId xmlns:a16="http://schemas.microsoft.com/office/drawing/2014/main" id="{9D6AB436-B502-E88D-F33D-36BB19306FF0}"/>
              </a:ext>
            </a:extLst>
          </p:cNvPr>
          <p:cNvSpPr>
            <a:spLocks noGrp="1"/>
          </p:cNvSpPr>
          <p:nvPr>
            <p:ph idx="1"/>
          </p:nvPr>
        </p:nvSpPr>
        <p:spPr>
          <a:xfrm>
            <a:off x="838200" y="1825625"/>
            <a:ext cx="10515600" cy="2527300"/>
          </a:xfrm>
        </p:spPr>
        <p:txBody>
          <a:bodyPr>
            <a:normAutofit fontScale="77500" lnSpcReduction="20000"/>
          </a:bodyPr>
          <a:lstStyle/>
          <a:p>
            <a:pPr algn="just"/>
            <a:r>
              <a:rPr lang="fr-FR" dirty="0"/>
              <a:t>Si ton INSERT a fonctionné (vérifie la table avec PARCOURIR)</a:t>
            </a:r>
          </a:p>
          <a:p>
            <a:pPr algn="just"/>
            <a:r>
              <a:rPr lang="fr-FR" dirty="0"/>
              <a:t>Tu peux créer un espace ADMIN (par exemple un dossier ADMIN) dans l’architecture web du site. Tu pourras y créer par exemple une page </a:t>
            </a:r>
            <a:r>
              <a:rPr lang="fr-FR" dirty="0" err="1"/>
              <a:t>list_users.php</a:t>
            </a:r>
            <a:r>
              <a:rPr lang="fr-FR" dirty="0"/>
              <a:t> </a:t>
            </a:r>
          </a:p>
          <a:p>
            <a:pPr algn="just"/>
            <a:r>
              <a:rPr lang="fr-FR" dirty="0"/>
              <a:t>Dans </a:t>
            </a:r>
            <a:r>
              <a:rPr lang="fr-FR" dirty="0" err="1"/>
              <a:t>list_users.php</a:t>
            </a:r>
            <a:r>
              <a:rPr lang="fr-FR" dirty="0"/>
              <a:t>, pour lister les personnes inscrites, utilise la commande SQL SELECT, </a:t>
            </a:r>
          </a:p>
          <a:p>
            <a:pPr algn="just"/>
            <a:r>
              <a:rPr lang="fr-FR" dirty="0"/>
              <a:t>Exemple SELECT * FROM </a:t>
            </a:r>
            <a:r>
              <a:rPr lang="fr-FR" dirty="0" err="1"/>
              <a:t>users</a:t>
            </a:r>
            <a:endParaRPr lang="fr-FR" dirty="0"/>
          </a:p>
          <a:p>
            <a:pPr algn="just"/>
            <a:r>
              <a:rPr lang="fr-FR" dirty="0"/>
              <a:t>Ce qui te permettra de lister tous les utilisateurs inscrits dans le formulaire de départ.</a:t>
            </a:r>
          </a:p>
        </p:txBody>
      </p:sp>
      <p:sp>
        <p:nvSpPr>
          <p:cNvPr id="4" name="Espace réservé du pied de page 3">
            <a:extLst>
              <a:ext uri="{FF2B5EF4-FFF2-40B4-BE49-F238E27FC236}">
                <a16:creationId xmlns:a16="http://schemas.microsoft.com/office/drawing/2014/main" id="{8978626E-92DF-0F2E-27BD-5F6764E7798E}"/>
              </a:ext>
            </a:extLst>
          </p:cNvPr>
          <p:cNvSpPr>
            <a:spLocks noGrp="1"/>
          </p:cNvSpPr>
          <p:nvPr>
            <p:ph type="ftr" sz="quarter" idx="11"/>
          </p:nvPr>
        </p:nvSpPr>
        <p:spPr/>
        <p:txBody>
          <a:bodyPr/>
          <a:lstStyle/>
          <a:p>
            <a:r>
              <a:rPr lang="fr-FR"/>
              <a:t>Evaluaiton avec un micro projet HTML-CSS</a:t>
            </a:r>
          </a:p>
        </p:txBody>
      </p:sp>
      <p:sp>
        <p:nvSpPr>
          <p:cNvPr id="5" name="Espace réservé du numéro de diapositive 4">
            <a:extLst>
              <a:ext uri="{FF2B5EF4-FFF2-40B4-BE49-F238E27FC236}">
                <a16:creationId xmlns:a16="http://schemas.microsoft.com/office/drawing/2014/main" id="{AD0CD5D7-4C03-38E7-A833-49B4BA8F7B39}"/>
              </a:ext>
            </a:extLst>
          </p:cNvPr>
          <p:cNvSpPr>
            <a:spLocks noGrp="1"/>
          </p:cNvSpPr>
          <p:nvPr>
            <p:ph type="sldNum" sz="quarter" idx="12"/>
          </p:nvPr>
        </p:nvSpPr>
        <p:spPr/>
        <p:txBody>
          <a:bodyPr/>
          <a:lstStyle/>
          <a:p>
            <a:fld id="{61A50371-3F2D-4FEF-B603-773838516A24}" type="slidenum">
              <a:rPr lang="fr-FR" smtClean="0"/>
              <a:t>27</a:t>
            </a:fld>
            <a:endParaRPr lang="fr-FR"/>
          </a:p>
        </p:txBody>
      </p:sp>
    </p:spTree>
    <p:extLst>
      <p:ext uri="{BB962C8B-B14F-4D97-AF65-F5344CB8AC3E}">
        <p14:creationId xmlns:p14="http://schemas.microsoft.com/office/powerpoint/2010/main" val="3564146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79CFF-9BF8-813D-E800-BA8270FF1F1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FF76DAFF-FC10-A29F-8BD9-5FE129FE6BAB}"/>
              </a:ext>
            </a:extLst>
          </p:cNvPr>
          <p:cNvPicPr>
            <a:picLocks noChangeAspect="1"/>
          </p:cNvPicPr>
          <p:nvPr/>
        </p:nvPicPr>
        <p:blipFill>
          <a:blip r:embed="rId2"/>
          <a:srcRect l="46954" t="6250" r="47187" b="85139"/>
          <a:stretch>
            <a:fillRect/>
          </a:stretch>
        </p:blipFill>
        <p:spPr>
          <a:xfrm>
            <a:off x="5472112" y="295269"/>
            <a:ext cx="1247776" cy="1031495"/>
          </a:xfrm>
          <a:prstGeom prst="rect">
            <a:avLst/>
          </a:prstGeom>
        </p:spPr>
      </p:pic>
      <p:sp>
        <p:nvSpPr>
          <p:cNvPr id="3" name="ZoneTexte 2">
            <a:extLst>
              <a:ext uri="{FF2B5EF4-FFF2-40B4-BE49-F238E27FC236}">
                <a16:creationId xmlns:a16="http://schemas.microsoft.com/office/drawing/2014/main" id="{1614896B-3E65-9085-3F4C-FF061F9FAF27}"/>
              </a:ext>
            </a:extLst>
          </p:cNvPr>
          <p:cNvSpPr txBox="1"/>
          <p:nvPr/>
        </p:nvSpPr>
        <p:spPr>
          <a:xfrm>
            <a:off x="4353152" y="1326764"/>
            <a:ext cx="3762375" cy="523220"/>
          </a:xfrm>
          <a:prstGeom prst="rect">
            <a:avLst/>
          </a:prstGeom>
          <a:noFill/>
        </p:spPr>
        <p:txBody>
          <a:bodyPr wrap="square" rtlCol="0">
            <a:spAutoFit/>
          </a:bodyPr>
          <a:lstStyle/>
          <a:p>
            <a:pPr algn="ctr"/>
            <a:r>
              <a:rPr lang="fr-FR" sz="2800" b="1" dirty="0"/>
              <a:t>Les clients l’adorent</a:t>
            </a:r>
          </a:p>
        </p:txBody>
      </p:sp>
      <p:sp>
        <p:nvSpPr>
          <p:cNvPr id="4" name="ZoneTexte 3">
            <a:extLst>
              <a:ext uri="{FF2B5EF4-FFF2-40B4-BE49-F238E27FC236}">
                <a16:creationId xmlns:a16="http://schemas.microsoft.com/office/drawing/2014/main" id="{0D6765FF-D394-4155-F62F-01DA3A0102E6}"/>
              </a:ext>
            </a:extLst>
          </p:cNvPr>
          <p:cNvSpPr txBox="1"/>
          <p:nvPr/>
        </p:nvSpPr>
        <p:spPr>
          <a:xfrm>
            <a:off x="3500891" y="1849984"/>
            <a:ext cx="5092700" cy="523220"/>
          </a:xfrm>
          <a:prstGeom prst="rect">
            <a:avLst/>
          </a:prstGeom>
          <a:noFill/>
        </p:spPr>
        <p:txBody>
          <a:bodyPr wrap="square" rtlCol="0">
            <a:spAutoFit/>
          </a:bodyPr>
          <a:lstStyle/>
          <a:p>
            <a:pPr algn="ctr"/>
            <a:r>
              <a:rPr lang="fr-FR" sz="1400" dirty="0"/>
              <a:t>Découvrez ce que les professionnels du secteur disent de notre plateforme de création de leads</a:t>
            </a:r>
          </a:p>
        </p:txBody>
      </p:sp>
      <p:sp>
        <p:nvSpPr>
          <p:cNvPr id="5" name="ZoneTexte 4">
            <a:extLst>
              <a:ext uri="{FF2B5EF4-FFF2-40B4-BE49-F238E27FC236}">
                <a16:creationId xmlns:a16="http://schemas.microsoft.com/office/drawing/2014/main" id="{C1B2DA3C-1418-B082-F915-4C207213597A}"/>
              </a:ext>
            </a:extLst>
          </p:cNvPr>
          <p:cNvSpPr txBox="1"/>
          <p:nvPr/>
        </p:nvSpPr>
        <p:spPr>
          <a:xfrm>
            <a:off x="872218" y="2685142"/>
            <a:ext cx="3193143" cy="2585323"/>
          </a:xfrm>
          <a:prstGeom prst="rect">
            <a:avLst/>
          </a:prstGeom>
          <a:noFill/>
        </p:spPr>
        <p:txBody>
          <a:bodyPr wrap="square" rtlCol="0">
            <a:spAutoFit/>
          </a:bodyPr>
          <a:lstStyle/>
          <a:p>
            <a:pPr algn="just"/>
            <a:r>
              <a:rPr lang="fr-FR" dirty="0"/>
              <a:t>« Merci à PGI CUST », après plusieurs essais d’autres PGI, j’ai désespéré, jusqu’à ce que je trouve PGI CUST, qui fait pratiquement tout le travail de leads à ma place.</a:t>
            </a:r>
          </a:p>
          <a:p>
            <a:pPr algn="just"/>
            <a:r>
              <a:rPr lang="fr-FR" dirty="0"/>
              <a:t>J’ai juste à me concentrer sur mes services.</a:t>
            </a:r>
          </a:p>
          <a:p>
            <a:pPr algn="just"/>
            <a:r>
              <a:rPr lang="fr-FR" dirty="0"/>
              <a:t>C’est ce que je recherchais… »</a:t>
            </a:r>
          </a:p>
        </p:txBody>
      </p:sp>
      <p:sp>
        <p:nvSpPr>
          <p:cNvPr id="6" name="ZoneTexte 5">
            <a:extLst>
              <a:ext uri="{FF2B5EF4-FFF2-40B4-BE49-F238E27FC236}">
                <a16:creationId xmlns:a16="http://schemas.microsoft.com/office/drawing/2014/main" id="{53B33E5D-2581-96CC-95FB-7B7860278CFB}"/>
              </a:ext>
            </a:extLst>
          </p:cNvPr>
          <p:cNvSpPr txBox="1"/>
          <p:nvPr/>
        </p:nvSpPr>
        <p:spPr>
          <a:xfrm>
            <a:off x="4496708" y="2685141"/>
            <a:ext cx="3193143" cy="3139321"/>
          </a:xfrm>
          <a:prstGeom prst="rect">
            <a:avLst/>
          </a:prstGeom>
          <a:noFill/>
        </p:spPr>
        <p:txBody>
          <a:bodyPr wrap="square" rtlCol="0">
            <a:spAutoFit/>
          </a:bodyPr>
          <a:lstStyle/>
          <a:p>
            <a:pPr algn="just"/>
            <a:r>
              <a:rPr lang="fr-FR" dirty="0"/>
              <a:t>« D’une facilité d’utilisation étonnante ! C’est une première. Au début on doute, car l’application est très abordable financièrement, ensuite on apprécie. Honnêtement je serais prête à y mettre plus d’argent pour des suppléments de services qu’il manque dans mon entreprise. »</a:t>
            </a:r>
          </a:p>
        </p:txBody>
      </p:sp>
      <p:sp>
        <p:nvSpPr>
          <p:cNvPr id="7" name="ZoneTexte 6">
            <a:extLst>
              <a:ext uri="{FF2B5EF4-FFF2-40B4-BE49-F238E27FC236}">
                <a16:creationId xmlns:a16="http://schemas.microsoft.com/office/drawing/2014/main" id="{9F6E1EBA-94A9-ACB0-9732-E11C608125F5}"/>
              </a:ext>
            </a:extLst>
          </p:cNvPr>
          <p:cNvSpPr txBox="1"/>
          <p:nvPr/>
        </p:nvSpPr>
        <p:spPr>
          <a:xfrm>
            <a:off x="8121198" y="2668914"/>
            <a:ext cx="3193143" cy="2862322"/>
          </a:xfrm>
          <a:prstGeom prst="rect">
            <a:avLst/>
          </a:prstGeom>
          <a:noFill/>
        </p:spPr>
        <p:txBody>
          <a:bodyPr wrap="square" rtlCol="0">
            <a:spAutoFit/>
          </a:bodyPr>
          <a:lstStyle/>
          <a:p>
            <a:pPr algn="just"/>
            <a:r>
              <a:rPr lang="fr-FR" dirty="0"/>
              <a:t>« OK, vraiment OK. Je suis très satisfaite. L’équipe support est vraiment très pédagogue. Je viens de créer mon entreprise et je dispose déjà d’un outil abordable de professionnel. Grâce à PGI CUST, j’ai validé 100 leads en 2 mois contre 20 avec mon ancienne application de gestion intégré.</a:t>
            </a:r>
          </a:p>
        </p:txBody>
      </p:sp>
      <p:pic>
        <p:nvPicPr>
          <p:cNvPr id="8" name="Image 7">
            <a:extLst>
              <a:ext uri="{FF2B5EF4-FFF2-40B4-BE49-F238E27FC236}">
                <a16:creationId xmlns:a16="http://schemas.microsoft.com/office/drawing/2014/main" id="{F373FC62-5A8E-6750-DC48-FEA4DAEFCB99}"/>
              </a:ext>
            </a:extLst>
          </p:cNvPr>
          <p:cNvPicPr>
            <a:picLocks noChangeAspect="1"/>
          </p:cNvPicPr>
          <p:nvPr/>
        </p:nvPicPr>
        <p:blipFill>
          <a:blip r:embed="rId2"/>
          <a:srcRect l="40357" t="71323" r="40833" b="21058"/>
          <a:stretch>
            <a:fillRect/>
          </a:stretch>
        </p:blipFill>
        <p:spPr>
          <a:xfrm>
            <a:off x="4496708" y="5940582"/>
            <a:ext cx="2998085" cy="683109"/>
          </a:xfrm>
          <a:prstGeom prst="rect">
            <a:avLst/>
          </a:prstGeom>
        </p:spPr>
      </p:pic>
      <p:pic>
        <p:nvPicPr>
          <p:cNvPr id="9" name="Image 8">
            <a:extLst>
              <a:ext uri="{FF2B5EF4-FFF2-40B4-BE49-F238E27FC236}">
                <a16:creationId xmlns:a16="http://schemas.microsoft.com/office/drawing/2014/main" id="{FA959600-F527-210E-C834-1B427AABC050}"/>
              </a:ext>
            </a:extLst>
          </p:cNvPr>
          <p:cNvPicPr>
            <a:picLocks noChangeAspect="1"/>
          </p:cNvPicPr>
          <p:nvPr/>
        </p:nvPicPr>
        <p:blipFill>
          <a:blip r:embed="rId3"/>
          <a:stretch>
            <a:fillRect/>
          </a:stretch>
        </p:blipFill>
        <p:spPr>
          <a:xfrm>
            <a:off x="338597" y="111608"/>
            <a:ext cx="1356853" cy="453356"/>
          </a:xfrm>
          <a:prstGeom prst="rect">
            <a:avLst/>
          </a:prstGeom>
        </p:spPr>
      </p:pic>
      <p:sp>
        <p:nvSpPr>
          <p:cNvPr id="10" name="Rectangle 9">
            <a:extLst>
              <a:ext uri="{FF2B5EF4-FFF2-40B4-BE49-F238E27FC236}">
                <a16:creationId xmlns:a16="http://schemas.microsoft.com/office/drawing/2014/main" id="{BAB1705D-A83C-942A-4108-442A3B65C13A}"/>
              </a:ext>
            </a:extLst>
          </p:cNvPr>
          <p:cNvSpPr/>
          <p:nvPr/>
        </p:nvSpPr>
        <p:spPr>
          <a:xfrm>
            <a:off x="338597" y="564964"/>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11" name="Rectangle : coins arrondis 10">
            <a:extLst>
              <a:ext uri="{FF2B5EF4-FFF2-40B4-BE49-F238E27FC236}">
                <a16:creationId xmlns:a16="http://schemas.microsoft.com/office/drawing/2014/main" id="{DB7DC798-278A-5BE7-F164-FB32754DCAD0}"/>
              </a:ext>
            </a:extLst>
          </p:cNvPr>
          <p:cNvSpPr/>
          <p:nvPr/>
        </p:nvSpPr>
        <p:spPr>
          <a:xfrm>
            <a:off x="4496707" y="6075439"/>
            <a:ext cx="3193143" cy="48729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b="1" dirty="0"/>
              <a:t>Commencer votre essai gratuit</a:t>
            </a:r>
          </a:p>
        </p:txBody>
      </p:sp>
      <p:sp>
        <p:nvSpPr>
          <p:cNvPr id="12" name="Rectangle 11">
            <a:extLst>
              <a:ext uri="{FF2B5EF4-FFF2-40B4-BE49-F238E27FC236}">
                <a16:creationId xmlns:a16="http://schemas.microsoft.com/office/drawing/2014/main" id="{CD8E2941-26F1-536A-B300-D8E3AE325A4A}"/>
              </a:ext>
            </a:extLst>
          </p:cNvPr>
          <p:cNvSpPr/>
          <p:nvPr/>
        </p:nvSpPr>
        <p:spPr>
          <a:xfrm>
            <a:off x="783454" y="2467296"/>
            <a:ext cx="5434873" cy="30393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(facultatif) : Lorsqu’on clique sur le bouton « Commencer un essai gratuit », le téléchargement du programme PGI CUST démarre. Il s(agit d’un a href.</a:t>
            </a:r>
          </a:p>
          <a:p>
            <a:pPr marL="342900" indent="-342900" algn="just">
              <a:buAutoNum type="alphaLcPeriod"/>
            </a:pPr>
            <a:r>
              <a:rPr lang="fr-FR" dirty="0"/>
              <a:t>Créer un fichier TXT bidon, avec un contenu bidon.</a:t>
            </a:r>
          </a:p>
          <a:p>
            <a:pPr marL="342900" indent="-342900" algn="just">
              <a:buAutoNum type="alphaLcPeriod"/>
            </a:pPr>
            <a:r>
              <a:rPr lang="fr-FR" dirty="0"/>
              <a:t>Renommer ce fichier PGICUST.EXE</a:t>
            </a:r>
          </a:p>
          <a:p>
            <a:pPr marL="342900" indent="-342900" algn="just">
              <a:buAutoNum type="alphaLcPeriod"/>
            </a:pPr>
            <a:r>
              <a:rPr lang="fr-FR" dirty="0"/>
              <a:t>Placer ce fichier dans un le dossier « download » du site web.</a:t>
            </a:r>
          </a:p>
          <a:p>
            <a:pPr marL="342900" indent="-342900" algn="just">
              <a:buAutoNum type="alphaLcPeriod"/>
            </a:pPr>
            <a:r>
              <a:rPr lang="fr-FR" dirty="0"/>
              <a:t>Tester le lien de téléchargement…</a:t>
            </a:r>
          </a:p>
        </p:txBody>
      </p:sp>
      <p:sp>
        <p:nvSpPr>
          <p:cNvPr id="13" name="Espace réservé du pied de page 12">
            <a:extLst>
              <a:ext uri="{FF2B5EF4-FFF2-40B4-BE49-F238E27FC236}">
                <a16:creationId xmlns:a16="http://schemas.microsoft.com/office/drawing/2014/main" id="{A2AEA4A0-8FB1-058D-72EE-9D3569483162}"/>
              </a:ext>
            </a:extLst>
          </p:cNvPr>
          <p:cNvSpPr>
            <a:spLocks noGrp="1"/>
          </p:cNvSpPr>
          <p:nvPr>
            <p:ph type="ftr" sz="quarter" idx="11"/>
          </p:nvPr>
        </p:nvSpPr>
        <p:spPr/>
        <p:txBody>
          <a:bodyPr/>
          <a:lstStyle/>
          <a:p>
            <a:r>
              <a:rPr lang="fr-FR"/>
              <a:t>Evaluaiton avec un micro projet HTML-CSS</a:t>
            </a:r>
          </a:p>
        </p:txBody>
      </p:sp>
      <p:sp>
        <p:nvSpPr>
          <p:cNvPr id="14" name="Espace réservé du numéro de diapositive 13">
            <a:extLst>
              <a:ext uri="{FF2B5EF4-FFF2-40B4-BE49-F238E27FC236}">
                <a16:creationId xmlns:a16="http://schemas.microsoft.com/office/drawing/2014/main" id="{70CC4721-CF0D-91C2-9405-EAA6AE690DB5}"/>
              </a:ext>
            </a:extLst>
          </p:cNvPr>
          <p:cNvSpPr>
            <a:spLocks noGrp="1"/>
          </p:cNvSpPr>
          <p:nvPr>
            <p:ph type="sldNum" sz="quarter" idx="12"/>
          </p:nvPr>
        </p:nvSpPr>
        <p:spPr/>
        <p:txBody>
          <a:bodyPr/>
          <a:lstStyle/>
          <a:p>
            <a:fld id="{61A50371-3F2D-4FEF-B603-773838516A24}" type="slidenum">
              <a:rPr lang="fr-FR" smtClean="0"/>
              <a:t>28</a:t>
            </a:fld>
            <a:endParaRPr lang="fr-FR"/>
          </a:p>
        </p:txBody>
      </p:sp>
    </p:spTree>
    <p:extLst>
      <p:ext uri="{BB962C8B-B14F-4D97-AF65-F5344CB8AC3E}">
        <p14:creationId xmlns:p14="http://schemas.microsoft.com/office/powerpoint/2010/main" val="3441370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F8A7F-FBFA-65DE-B304-491EA09A37F4}"/>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6E4ECE3B-44BE-E961-5780-6A655B874ECE}"/>
              </a:ext>
            </a:extLst>
          </p:cNvPr>
          <p:cNvPicPr>
            <a:picLocks noChangeAspect="1"/>
          </p:cNvPicPr>
          <p:nvPr/>
        </p:nvPicPr>
        <p:blipFill>
          <a:blip r:embed="rId2"/>
          <a:srcRect l="34251" t="25630" r="35333" b="46000"/>
          <a:stretch>
            <a:fillRect/>
          </a:stretch>
        </p:blipFill>
        <p:spPr>
          <a:xfrm>
            <a:off x="3488471" y="1123610"/>
            <a:ext cx="5530402" cy="2901567"/>
          </a:xfrm>
          <a:prstGeom prst="rect">
            <a:avLst/>
          </a:prstGeom>
        </p:spPr>
      </p:pic>
      <p:sp>
        <p:nvSpPr>
          <p:cNvPr id="6" name="ZoneTexte 5">
            <a:extLst>
              <a:ext uri="{FF2B5EF4-FFF2-40B4-BE49-F238E27FC236}">
                <a16:creationId xmlns:a16="http://schemas.microsoft.com/office/drawing/2014/main" id="{9956C9DB-CD0E-9DD2-4E85-52D5DB7861EF}"/>
              </a:ext>
            </a:extLst>
          </p:cNvPr>
          <p:cNvSpPr txBox="1"/>
          <p:nvPr/>
        </p:nvSpPr>
        <p:spPr>
          <a:xfrm>
            <a:off x="5307741" y="4025177"/>
            <a:ext cx="1891865" cy="584775"/>
          </a:xfrm>
          <a:prstGeom prst="rect">
            <a:avLst/>
          </a:prstGeom>
          <a:noFill/>
        </p:spPr>
        <p:txBody>
          <a:bodyPr wrap="none" rtlCol="0">
            <a:spAutoFit/>
          </a:bodyPr>
          <a:lstStyle/>
          <a:p>
            <a:r>
              <a:rPr lang="fr-FR" sz="3200" b="1" dirty="0" err="1"/>
              <a:t>Success</a:t>
            </a:r>
            <a:r>
              <a:rPr lang="fr-FR" sz="3200" b="1" dirty="0"/>
              <a:t>!</a:t>
            </a:r>
          </a:p>
        </p:txBody>
      </p:sp>
      <p:sp>
        <p:nvSpPr>
          <p:cNvPr id="7" name="ZoneTexte 6">
            <a:extLst>
              <a:ext uri="{FF2B5EF4-FFF2-40B4-BE49-F238E27FC236}">
                <a16:creationId xmlns:a16="http://schemas.microsoft.com/office/drawing/2014/main" id="{32318F47-85FB-8398-A93B-454D2FEB9A21}"/>
              </a:ext>
            </a:extLst>
          </p:cNvPr>
          <p:cNvSpPr txBox="1"/>
          <p:nvPr/>
        </p:nvSpPr>
        <p:spPr>
          <a:xfrm>
            <a:off x="3643823" y="4609952"/>
            <a:ext cx="5219699" cy="646331"/>
          </a:xfrm>
          <a:prstGeom prst="rect">
            <a:avLst/>
          </a:prstGeom>
          <a:noFill/>
        </p:spPr>
        <p:txBody>
          <a:bodyPr wrap="none" rtlCol="0">
            <a:spAutoFit/>
          </a:bodyPr>
          <a:lstStyle/>
          <a:p>
            <a:pPr algn="ctr"/>
            <a:r>
              <a:rPr lang="fr-FR" dirty="0" err="1"/>
              <a:t>You’re</a:t>
            </a:r>
            <a:r>
              <a:rPr lang="fr-FR" dirty="0"/>
              <a:t> all set. Check </a:t>
            </a:r>
            <a:r>
              <a:rPr lang="fr-FR" dirty="0" err="1"/>
              <a:t>your</a:t>
            </a:r>
            <a:r>
              <a:rPr lang="fr-FR" dirty="0"/>
              <a:t> email to </a:t>
            </a:r>
            <a:r>
              <a:rPr lang="fr-FR" dirty="0" err="1"/>
              <a:t>get</a:t>
            </a:r>
            <a:r>
              <a:rPr lang="fr-FR" dirty="0"/>
              <a:t> </a:t>
            </a:r>
            <a:r>
              <a:rPr lang="fr-FR" dirty="0" err="1"/>
              <a:t>starded</a:t>
            </a:r>
            <a:r>
              <a:rPr lang="fr-FR" dirty="0"/>
              <a:t> </a:t>
            </a:r>
            <a:r>
              <a:rPr lang="fr-FR" dirty="0" err="1"/>
              <a:t>with</a:t>
            </a:r>
            <a:endParaRPr lang="fr-FR" dirty="0"/>
          </a:p>
          <a:p>
            <a:pPr algn="ctr"/>
            <a:r>
              <a:rPr lang="fr-FR" dirty="0" err="1"/>
              <a:t>Your</a:t>
            </a:r>
            <a:r>
              <a:rPr lang="fr-FR" dirty="0"/>
              <a:t> free 30-day trial/</a:t>
            </a:r>
          </a:p>
        </p:txBody>
      </p:sp>
      <p:sp>
        <p:nvSpPr>
          <p:cNvPr id="8" name="Rectangle 7">
            <a:extLst>
              <a:ext uri="{FF2B5EF4-FFF2-40B4-BE49-F238E27FC236}">
                <a16:creationId xmlns:a16="http://schemas.microsoft.com/office/drawing/2014/main" id="{5F3EFE2B-52D2-856E-AF91-BB05CFE46E81}"/>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2" name="Espace réservé du pied de page 1">
            <a:extLst>
              <a:ext uri="{FF2B5EF4-FFF2-40B4-BE49-F238E27FC236}">
                <a16:creationId xmlns:a16="http://schemas.microsoft.com/office/drawing/2014/main" id="{1A507A61-F239-1110-F6F7-A86C35D1286C}"/>
              </a:ext>
            </a:extLst>
          </p:cNvPr>
          <p:cNvSpPr>
            <a:spLocks noGrp="1"/>
          </p:cNvSpPr>
          <p:nvPr>
            <p:ph type="ftr" sz="quarter" idx="11"/>
          </p:nvPr>
        </p:nvSpPr>
        <p:spPr/>
        <p:txBody>
          <a:bodyPr/>
          <a:lstStyle/>
          <a:p>
            <a:r>
              <a:rPr lang="fr-FR"/>
              <a:t>Evaluaiton avec un micro projet HTML-CSS</a:t>
            </a:r>
          </a:p>
        </p:txBody>
      </p:sp>
      <p:sp>
        <p:nvSpPr>
          <p:cNvPr id="3" name="Espace réservé du numéro de diapositive 2">
            <a:extLst>
              <a:ext uri="{FF2B5EF4-FFF2-40B4-BE49-F238E27FC236}">
                <a16:creationId xmlns:a16="http://schemas.microsoft.com/office/drawing/2014/main" id="{EE690E62-B745-8608-C35A-FB3345B0BAB1}"/>
              </a:ext>
            </a:extLst>
          </p:cNvPr>
          <p:cNvSpPr>
            <a:spLocks noGrp="1"/>
          </p:cNvSpPr>
          <p:nvPr>
            <p:ph type="sldNum" sz="quarter" idx="12"/>
          </p:nvPr>
        </p:nvSpPr>
        <p:spPr/>
        <p:txBody>
          <a:bodyPr/>
          <a:lstStyle/>
          <a:p>
            <a:fld id="{61A50371-3F2D-4FEF-B603-773838516A24}" type="slidenum">
              <a:rPr lang="fr-FR" smtClean="0"/>
              <a:t>29</a:t>
            </a:fld>
            <a:endParaRPr lang="fr-FR"/>
          </a:p>
        </p:txBody>
      </p:sp>
    </p:spTree>
    <p:extLst>
      <p:ext uri="{BB962C8B-B14F-4D97-AF65-F5344CB8AC3E}">
        <p14:creationId xmlns:p14="http://schemas.microsoft.com/office/powerpoint/2010/main" val="283499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C32FE-2888-7BBA-49DC-E283E62563F5}"/>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FB21905E-409E-3046-0EEE-63FB50410564}"/>
              </a:ext>
            </a:extLst>
          </p:cNvPr>
          <p:cNvPicPr>
            <a:picLocks noChangeAspect="1"/>
          </p:cNvPicPr>
          <p:nvPr/>
        </p:nvPicPr>
        <p:blipFill>
          <a:blip r:embed="rId2">
            <a:clrChange>
              <a:clrFrom>
                <a:srgbClr val="F8F8F8"/>
              </a:clrFrom>
              <a:clrTo>
                <a:srgbClr val="F8F8F8">
                  <a:alpha val="0"/>
                </a:srgbClr>
              </a:clrTo>
            </a:clrChange>
          </a:blip>
          <a:srcRect l="22656" t="52519" r="68510" b="33851"/>
          <a:stretch>
            <a:fillRect/>
          </a:stretch>
        </p:blipFill>
        <p:spPr>
          <a:xfrm>
            <a:off x="2056848" y="2420620"/>
            <a:ext cx="1662264" cy="1442720"/>
          </a:xfrm>
          <a:prstGeom prst="rect">
            <a:avLst/>
          </a:prstGeom>
        </p:spPr>
      </p:pic>
      <p:pic>
        <p:nvPicPr>
          <p:cNvPr id="4" name="Image 3">
            <a:extLst>
              <a:ext uri="{FF2B5EF4-FFF2-40B4-BE49-F238E27FC236}">
                <a16:creationId xmlns:a16="http://schemas.microsoft.com/office/drawing/2014/main" id="{D5B88011-3233-7BFD-09F4-47DC1AE3D466}"/>
              </a:ext>
            </a:extLst>
          </p:cNvPr>
          <p:cNvPicPr>
            <a:picLocks noChangeAspect="1"/>
          </p:cNvPicPr>
          <p:nvPr/>
        </p:nvPicPr>
        <p:blipFill>
          <a:blip r:embed="rId2">
            <a:clrChange>
              <a:clrFrom>
                <a:srgbClr val="F8F8F8"/>
              </a:clrFrom>
              <a:clrTo>
                <a:srgbClr val="F8F8F8">
                  <a:alpha val="0"/>
                </a:srgbClr>
              </a:clrTo>
            </a:clrChange>
          </a:blip>
          <a:srcRect l="44156" t="52815" r="44261" b="32370"/>
          <a:stretch>
            <a:fillRect/>
          </a:stretch>
        </p:blipFill>
        <p:spPr>
          <a:xfrm>
            <a:off x="4761396" y="2544043"/>
            <a:ext cx="1662264" cy="1195873"/>
          </a:xfrm>
          <a:prstGeom prst="rect">
            <a:avLst/>
          </a:prstGeom>
        </p:spPr>
      </p:pic>
      <p:pic>
        <p:nvPicPr>
          <p:cNvPr id="5" name="Image 4">
            <a:extLst>
              <a:ext uri="{FF2B5EF4-FFF2-40B4-BE49-F238E27FC236}">
                <a16:creationId xmlns:a16="http://schemas.microsoft.com/office/drawing/2014/main" id="{7AC0B27A-528C-7A23-C15A-D85CB66F6CF7}"/>
              </a:ext>
            </a:extLst>
          </p:cNvPr>
          <p:cNvPicPr>
            <a:picLocks noChangeAspect="1"/>
          </p:cNvPicPr>
          <p:nvPr/>
        </p:nvPicPr>
        <p:blipFill>
          <a:blip r:embed="rId2">
            <a:clrChange>
              <a:clrFrom>
                <a:srgbClr val="F8F8F8"/>
              </a:clrFrom>
              <a:clrTo>
                <a:srgbClr val="F8F8F8">
                  <a:alpha val="0"/>
                </a:srgbClr>
              </a:clrTo>
            </a:clrChange>
          </a:blip>
          <a:srcRect l="68990" t="55185" r="24010" b="33407"/>
          <a:stretch>
            <a:fillRect/>
          </a:stretch>
        </p:blipFill>
        <p:spPr>
          <a:xfrm>
            <a:off x="7465944" y="2544043"/>
            <a:ext cx="1511852" cy="1385864"/>
          </a:xfrm>
          <a:prstGeom prst="rect">
            <a:avLst/>
          </a:prstGeom>
        </p:spPr>
      </p:pic>
      <p:sp>
        <p:nvSpPr>
          <p:cNvPr id="7" name="ZoneTexte 6">
            <a:extLst>
              <a:ext uri="{FF2B5EF4-FFF2-40B4-BE49-F238E27FC236}">
                <a16:creationId xmlns:a16="http://schemas.microsoft.com/office/drawing/2014/main" id="{C867F57B-7C7A-7BC0-7A79-4F5A8C9779C4}"/>
              </a:ext>
            </a:extLst>
          </p:cNvPr>
          <p:cNvSpPr txBox="1"/>
          <p:nvPr/>
        </p:nvSpPr>
        <p:spPr>
          <a:xfrm>
            <a:off x="1943100" y="3863340"/>
            <a:ext cx="1662264" cy="276999"/>
          </a:xfrm>
          <a:prstGeom prst="rect">
            <a:avLst/>
          </a:prstGeom>
          <a:noFill/>
        </p:spPr>
        <p:txBody>
          <a:bodyPr wrap="square" rtlCol="0">
            <a:spAutoFit/>
          </a:bodyPr>
          <a:lstStyle/>
          <a:p>
            <a:pPr algn="ctr"/>
            <a:r>
              <a:rPr lang="fr-FR" sz="1200" b="1" dirty="0"/>
              <a:t>User guides</a:t>
            </a:r>
          </a:p>
        </p:txBody>
      </p:sp>
      <p:sp>
        <p:nvSpPr>
          <p:cNvPr id="8" name="ZoneTexte 7">
            <a:extLst>
              <a:ext uri="{FF2B5EF4-FFF2-40B4-BE49-F238E27FC236}">
                <a16:creationId xmlns:a16="http://schemas.microsoft.com/office/drawing/2014/main" id="{DB89C51F-A957-D330-EDF2-9E0C128A1F4C}"/>
              </a:ext>
            </a:extLst>
          </p:cNvPr>
          <p:cNvSpPr txBox="1"/>
          <p:nvPr/>
        </p:nvSpPr>
        <p:spPr>
          <a:xfrm>
            <a:off x="3904255" y="3863339"/>
            <a:ext cx="3149600" cy="261610"/>
          </a:xfrm>
          <a:prstGeom prst="rect">
            <a:avLst/>
          </a:prstGeom>
          <a:noFill/>
        </p:spPr>
        <p:txBody>
          <a:bodyPr wrap="square" rtlCol="0">
            <a:spAutoFit/>
          </a:bodyPr>
          <a:lstStyle/>
          <a:p>
            <a:pPr algn="ctr"/>
            <a:r>
              <a:rPr lang="fr-FR" sz="1100" b="1" dirty="0" err="1"/>
              <a:t>Learn</a:t>
            </a:r>
            <a:r>
              <a:rPr lang="fr-FR" sz="1100" b="1" dirty="0"/>
              <a:t> more about the PGI CUST AI </a:t>
            </a:r>
            <a:r>
              <a:rPr lang="fr-FR" sz="1100" b="1" dirty="0" err="1"/>
              <a:t>advantage</a:t>
            </a:r>
            <a:endParaRPr lang="fr-FR" sz="1100" b="1" dirty="0"/>
          </a:p>
        </p:txBody>
      </p:sp>
      <p:sp>
        <p:nvSpPr>
          <p:cNvPr id="9" name="ZoneTexte 8">
            <a:extLst>
              <a:ext uri="{FF2B5EF4-FFF2-40B4-BE49-F238E27FC236}">
                <a16:creationId xmlns:a16="http://schemas.microsoft.com/office/drawing/2014/main" id="{1B064F19-60ED-D42C-B61D-591ED08EB5E3}"/>
              </a:ext>
            </a:extLst>
          </p:cNvPr>
          <p:cNvSpPr txBox="1"/>
          <p:nvPr/>
        </p:nvSpPr>
        <p:spPr>
          <a:xfrm>
            <a:off x="7096208" y="3863340"/>
            <a:ext cx="2334812" cy="276999"/>
          </a:xfrm>
          <a:prstGeom prst="rect">
            <a:avLst/>
          </a:prstGeom>
          <a:noFill/>
        </p:spPr>
        <p:txBody>
          <a:bodyPr wrap="square" rtlCol="0">
            <a:spAutoFit/>
          </a:bodyPr>
          <a:lstStyle/>
          <a:p>
            <a:pPr algn="ctr"/>
            <a:r>
              <a:rPr lang="fr-FR" sz="1200" b="1" dirty="0" err="1"/>
              <a:t>Proven</a:t>
            </a:r>
            <a:r>
              <a:rPr lang="fr-FR" sz="1200" b="1" dirty="0"/>
              <a:t> </a:t>
            </a:r>
            <a:r>
              <a:rPr lang="fr-FR" sz="1200" b="1" dirty="0" err="1"/>
              <a:t>customer</a:t>
            </a:r>
            <a:r>
              <a:rPr lang="fr-FR" sz="1200" b="1" dirty="0"/>
              <a:t> </a:t>
            </a:r>
            <a:r>
              <a:rPr lang="fr-FR" sz="1200" b="1" dirty="0" err="1"/>
              <a:t>success</a:t>
            </a:r>
            <a:endParaRPr lang="fr-FR" sz="1200" b="1" dirty="0"/>
          </a:p>
        </p:txBody>
      </p:sp>
      <p:sp>
        <p:nvSpPr>
          <p:cNvPr id="10" name="ZoneTexte 9">
            <a:extLst>
              <a:ext uri="{FF2B5EF4-FFF2-40B4-BE49-F238E27FC236}">
                <a16:creationId xmlns:a16="http://schemas.microsoft.com/office/drawing/2014/main" id="{C9F088CA-9187-351F-BABE-28A56DF9DEC7}"/>
              </a:ext>
            </a:extLst>
          </p:cNvPr>
          <p:cNvSpPr txBox="1"/>
          <p:nvPr/>
        </p:nvSpPr>
        <p:spPr>
          <a:xfrm>
            <a:off x="1428751" y="4140339"/>
            <a:ext cx="2475504" cy="507831"/>
          </a:xfrm>
          <a:prstGeom prst="rect">
            <a:avLst/>
          </a:prstGeom>
          <a:noFill/>
        </p:spPr>
        <p:txBody>
          <a:bodyPr wrap="square" rtlCol="0">
            <a:spAutoFit/>
          </a:bodyPr>
          <a:lstStyle/>
          <a:p>
            <a:pPr algn="ctr"/>
            <a:r>
              <a:rPr lang="fr-FR" sz="900" dirty="0" err="1"/>
              <a:t>Learn</a:t>
            </a:r>
            <a:r>
              <a:rPr lang="fr-FR" sz="900" dirty="0"/>
              <a:t> how manage PGI CUST apps, </a:t>
            </a:r>
            <a:r>
              <a:rPr lang="fr-FR" sz="900" dirty="0" err="1"/>
              <a:t>create</a:t>
            </a:r>
            <a:r>
              <a:rPr lang="fr-FR" sz="900" dirty="0"/>
              <a:t> </a:t>
            </a:r>
            <a:r>
              <a:rPr lang="fr-FR" sz="900" dirty="0" err="1"/>
              <a:t>customers</a:t>
            </a:r>
            <a:r>
              <a:rPr lang="fr-FR" sz="900" dirty="0"/>
              <a:t>, </a:t>
            </a:r>
            <a:r>
              <a:rPr lang="fr-FR" sz="900" dirty="0" err="1"/>
              <a:t>collaborate</a:t>
            </a:r>
            <a:r>
              <a:rPr lang="fr-FR" sz="900" dirty="0"/>
              <a:t> </a:t>
            </a:r>
            <a:r>
              <a:rPr lang="fr-FR" sz="900" dirty="0" err="1"/>
              <a:t>with</a:t>
            </a:r>
            <a:r>
              <a:rPr lang="fr-FR" sz="900" dirty="0"/>
              <a:t> A.I, and </a:t>
            </a:r>
            <a:r>
              <a:rPr lang="fr-FR" sz="900" dirty="0" err="1"/>
              <a:t>validate</a:t>
            </a:r>
            <a:r>
              <a:rPr lang="fr-FR" sz="900" dirty="0"/>
              <a:t> </a:t>
            </a:r>
            <a:r>
              <a:rPr lang="fr-FR" sz="900" dirty="0" err="1"/>
              <a:t>somes</a:t>
            </a:r>
            <a:r>
              <a:rPr lang="fr-FR" sz="900" dirty="0"/>
              <a:t> leads</a:t>
            </a:r>
          </a:p>
        </p:txBody>
      </p:sp>
      <p:sp>
        <p:nvSpPr>
          <p:cNvPr id="11" name="ZoneTexte 10">
            <a:extLst>
              <a:ext uri="{FF2B5EF4-FFF2-40B4-BE49-F238E27FC236}">
                <a16:creationId xmlns:a16="http://schemas.microsoft.com/office/drawing/2014/main" id="{08195A2D-D08E-A42F-2EBC-433FBA814EE9}"/>
              </a:ext>
            </a:extLst>
          </p:cNvPr>
          <p:cNvSpPr txBox="1"/>
          <p:nvPr/>
        </p:nvSpPr>
        <p:spPr>
          <a:xfrm>
            <a:off x="4169206" y="4209588"/>
            <a:ext cx="2779311" cy="369332"/>
          </a:xfrm>
          <a:prstGeom prst="rect">
            <a:avLst/>
          </a:prstGeom>
          <a:noFill/>
        </p:spPr>
        <p:txBody>
          <a:bodyPr wrap="square" rtlCol="0">
            <a:spAutoFit/>
          </a:bodyPr>
          <a:lstStyle/>
          <a:p>
            <a:pPr algn="ctr"/>
            <a:r>
              <a:rPr lang="fr-FR" sz="900" dirty="0"/>
              <a:t>Compose </a:t>
            </a:r>
            <a:r>
              <a:rPr lang="fr-FR" sz="900" dirty="0" err="1"/>
              <a:t>compelling</a:t>
            </a:r>
            <a:r>
              <a:rPr lang="fr-FR" sz="900" dirty="0"/>
              <a:t> lead and copy prospect,</a:t>
            </a:r>
          </a:p>
          <a:p>
            <a:pPr algn="ctr"/>
            <a:r>
              <a:rPr lang="fr-FR" sz="900" dirty="0" err="1"/>
              <a:t>Generate</a:t>
            </a:r>
            <a:r>
              <a:rPr lang="fr-FR" sz="900" dirty="0"/>
              <a:t> </a:t>
            </a:r>
            <a:r>
              <a:rPr lang="fr-FR" sz="900" dirty="0" err="1"/>
              <a:t>customers</a:t>
            </a:r>
            <a:r>
              <a:rPr lang="fr-FR" sz="900" dirty="0"/>
              <a:t> and leads, and more business</a:t>
            </a:r>
          </a:p>
        </p:txBody>
      </p:sp>
      <p:sp>
        <p:nvSpPr>
          <p:cNvPr id="12" name="ZoneTexte 11">
            <a:extLst>
              <a:ext uri="{FF2B5EF4-FFF2-40B4-BE49-F238E27FC236}">
                <a16:creationId xmlns:a16="http://schemas.microsoft.com/office/drawing/2014/main" id="{F470D47B-8692-80EF-154B-C3E7ECACC17B}"/>
              </a:ext>
            </a:extLst>
          </p:cNvPr>
          <p:cNvSpPr txBox="1"/>
          <p:nvPr/>
        </p:nvSpPr>
        <p:spPr>
          <a:xfrm>
            <a:off x="7104762" y="4150488"/>
            <a:ext cx="2636138" cy="369332"/>
          </a:xfrm>
          <a:prstGeom prst="rect">
            <a:avLst/>
          </a:prstGeom>
          <a:noFill/>
        </p:spPr>
        <p:txBody>
          <a:bodyPr wrap="square" rtlCol="0">
            <a:spAutoFit/>
          </a:bodyPr>
          <a:lstStyle/>
          <a:p>
            <a:pPr algn="ctr"/>
            <a:r>
              <a:rPr lang="fr-FR" sz="900" dirty="0"/>
              <a:t>How the irish Rugby Football </a:t>
            </a:r>
            <a:r>
              <a:rPr lang="fr-FR" sz="900" dirty="0" err="1"/>
              <a:t>Unon</a:t>
            </a:r>
            <a:r>
              <a:rPr lang="fr-FR" sz="900" dirty="0"/>
              <a:t> has </a:t>
            </a:r>
            <a:r>
              <a:rPr lang="fr-FR" sz="900" dirty="0" err="1"/>
              <a:t>expanded</a:t>
            </a:r>
            <a:endParaRPr lang="fr-FR" sz="900" dirty="0"/>
          </a:p>
          <a:p>
            <a:pPr algn="ctr"/>
            <a:r>
              <a:rPr lang="fr-FR" sz="900" dirty="0" err="1"/>
              <a:t>Their</a:t>
            </a:r>
            <a:r>
              <a:rPr lang="fr-FR" sz="900" dirty="0"/>
              <a:t> use of PGI CUST for more efficient</a:t>
            </a:r>
          </a:p>
        </p:txBody>
      </p:sp>
      <p:sp>
        <p:nvSpPr>
          <p:cNvPr id="14" name="ZoneTexte 13">
            <a:extLst>
              <a:ext uri="{FF2B5EF4-FFF2-40B4-BE49-F238E27FC236}">
                <a16:creationId xmlns:a16="http://schemas.microsoft.com/office/drawing/2014/main" id="{E25ECA6C-B97B-6226-4E47-B8B8FC8363B0}"/>
              </a:ext>
            </a:extLst>
          </p:cNvPr>
          <p:cNvSpPr txBox="1"/>
          <p:nvPr/>
        </p:nvSpPr>
        <p:spPr>
          <a:xfrm>
            <a:off x="914400" y="767964"/>
            <a:ext cx="9931400" cy="954107"/>
          </a:xfrm>
          <a:prstGeom prst="rect">
            <a:avLst/>
          </a:prstGeom>
          <a:noFill/>
        </p:spPr>
        <p:txBody>
          <a:bodyPr wrap="square" rtlCol="0">
            <a:spAutoFit/>
          </a:bodyPr>
          <a:lstStyle/>
          <a:p>
            <a:pPr algn="ctr"/>
            <a:r>
              <a:rPr lang="fr-FR" sz="2800" b="1" dirty="0"/>
              <a:t>Not sur </a:t>
            </a:r>
            <a:r>
              <a:rPr lang="fr-FR" sz="2800" b="1" dirty="0" err="1"/>
              <a:t>where</a:t>
            </a:r>
            <a:r>
              <a:rPr lang="fr-FR" sz="2800" b="1" dirty="0"/>
              <a:t> to start ?</a:t>
            </a:r>
          </a:p>
          <a:p>
            <a:pPr algn="ctr"/>
            <a:r>
              <a:rPr lang="fr-FR" sz="2800" b="1" dirty="0" err="1"/>
              <a:t>We’ve</a:t>
            </a:r>
            <a:r>
              <a:rPr lang="fr-FR" sz="2800" b="1" dirty="0"/>
              <a:t> </a:t>
            </a:r>
            <a:r>
              <a:rPr lang="fr-FR" sz="2800" b="1" dirty="0" err="1"/>
              <a:t>got</a:t>
            </a:r>
            <a:r>
              <a:rPr lang="fr-FR" sz="2800" b="1" dirty="0"/>
              <a:t> </a:t>
            </a:r>
            <a:r>
              <a:rPr lang="fr-FR" sz="2800" b="1" dirty="0" err="1"/>
              <a:t>you</a:t>
            </a:r>
            <a:r>
              <a:rPr lang="fr-FR" sz="2800" b="1" dirty="0"/>
              <a:t> </a:t>
            </a:r>
            <a:r>
              <a:rPr lang="fr-FR" sz="2800" b="1" dirty="0" err="1"/>
              <a:t>covered</a:t>
            </a:r>
            <a:r>
              <a:rPr lang="fr-FR" sz="2800" b="1" dirty="0"/>
              <a:t>. </a:t>
            </a:r>
            <a:r>
              <a:rPr lang="fr-FR" sz="2800" b="1" dirty="0" err="1"/>
              <a:t>Here</a:t>
            </a:r>
            <a:r>
              <a:rPr lang="fr-FR" sz="2800" b="1" dirty="0"/>
              <a:t> are </a:t>
            </a:r>
            <a:r>
              <a:rPr lang="fr-FR" sz="2800" b="1" dirty="0" err="1"/>
              <a:t>some</a:t>
            </a:r>
            <a:r>
              <a:rPr lang="fr-FR" sz="2800" b="1" dirty="0"/>
              <a:t> </a:t>
            </a:r>
            <a:r>
              <a:rPr lang="fr-FR" sz="2800" b="1" dirty="0" err="1"/>
              <a:t>helful</a:t>
            </a:r>
            <a:r>
              <a:rPr lang="fr-FR" sz="2800" b="1" dirty="0"/>
              <a:t> </a:t>
            </a:r>
            <a:r>
              <a:rPr lang="fr-FR" sz="2800" b="1" dirty="0" err="1"/>
              <a:t>resources</a:t>
            </a:r>
            <a:r>
              <a:rPr lang="fr-FR" sz="2800" b="1" dirty="0"/>
              <a:t> :</a:t>
            </a:r>
          </a:p>
        </p:txBody>
      </p:sp>
      <p:sp>
        <p:nvSpPr>
          <p:cNvPr id="15" name="Rectangle 14">
            <a:extLst>
              <a:ext uri="{FF2B5EF4-FFF2-40B4-BE49-F238E27FC236}">
                <a16:creationId xmlns:a16="http://schemas.microsoft.com/office/drawing/2014/main" id="{71888846-D977-1A5D-F8B3-174012BCEF54}"/>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P2</a:t>
            </a:r>
          </a:p>
        </p:txBody>
      </p:sp>
      <p:sp>
        <p:nvSpPr>
          <p:cNvPr id="2" name="Espace réservé du pied de page 1">
            <a:extLst>
              <a:ext uri="{FF2B5EF4-FFF2-40B4-BE49-F238E27FC236}">
                <a16:creationId xmlns:a16="http://schemas.microsoft.com/office/drawing/2014/main" id="{64A09D98-431A-C38B-BF0C-7D44506ABE84}"/>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F9894DEB-263E-0F17-93B6-759119726637}"/>
              </a:ext>
            </a:extLst>
          </p:cNvPr>
          <p:cNvSpPr>
            <a:spLocks noGrp="1"/>
          </p:cNvSpPr>
          <p:nvPr>
            <p:ph type="sldNum" sz="quarter" idx="12"/>
          </p:nvPr>
        </p:nvSpPr>
        <p:spPr/>
        <p:txBody>
          <a:bodyPr/>
          <a:lstStyle/>
          <a:p>
            <a:fld id="{61A50371-3F2D-4FEF-B603-773838516A24}" type="slidenum">
              <a:rPr lang="fr-FR" smtClean="0"/>
              <a:t>30</a:t>
            </a:fld>
            <a:endParaRPr lang="fr-FR"/>
          </a:p>
        </p:txBody>
      </p:sp>
    </p:spTree>
    <p:extLst>
      <p:ext uri="{BB962C8B-B14F-4D97-AF65-F5344CB8AC3E}">
        <p14:creationId xmlns:p14="http://schemas.microsoft.com/office/powerpoint/2010/main" val="1516726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1A34-1FCB-2412-8E53-D09795221DF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466BF4A4-C37F-CDE4-02F8-C618B1F42820}"/>
              </a:ext>
            </a:extLst>
          </p:cNvPr>
          <p:cNvPicPr>
            <a:picLocks noChangeAspect="1"/>
          </p:cNvPicPr>
          <p:nvPr/>
        </p:nvPicPr>
        <p:blipFill>
          <a:blip r:embed="rId2"/>
          <a:srcRect t="8889" r="39896" b="5000"/>
          <a:stretch>
            <a:fillRect/>
          </a:stretch>
        </p:blipFill>
        <p:spPr>
          <a:xfrm>
            <a:off x="0" y="0"/>
            <a:ext cx="7327900" cy="6858000"/>
          </a:xfrm>
          <a:prstGeom prst="rect">
            <a:avLst/>
          </a:prstGeom>
        </p:spPr>
      </p:pic>
      <p:sp>
        <p:nvSpPr>
          <p:cNvPr id="2" name="Rectangle : coins arrondis 1">
            <a:extLst>
              <a:ext uri="{FF2B5EF4-FFF2-40B4-BE49-F238E27FC236}">
                <a16:creationId xmlns:a16="http://schemas.microsoft.com/office/drawing/2014/main" id="{F6829BE7-F175-C3FC-D983-C88E523B603E}"/>
              </a:ext>
            </a:extLst>
          </p:cNvPr>
          <p:cNvSpPr/>
          <p:nvPr/>
        </p:nvSpPr>
        <p:spPr>
          <a:xfrm>
            <a:off x="7978140" y="1082041"/>
            <a:ext cx="3771900" cy="370332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Rectangle 3">
            <a:extLst>
              <a:ext uri="{FF2B5EF4-FFF2-40B4-BE49-F238E27FC236}">
                <a16:creationId xmlns:a16="http://schemas.microsoft.com/office/drawing/2014/main" id="{BFCF99A2-6072-3CDB-311F-7823DB91F14E}"/>
              </a:ext>
            </a:extLst>
          </p:cNvPr>
          <p:cNvSpPr/>
          <p:nvPr/>
        </p:nvSpPr>
        <p:spPr>
          <a:xfrm>
            <a:off x="8082915" y="285273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err="1">
                <a:solidFill>
                  <a:schemeClr val="bg2">
                    <a:lumMod val="50000"/>
                  </a:schemeClr>
                </a:solidFill>
              </a:rPr>
              <a:t>Your</a:t>
            </a:r>
            <a:r>
              <a:rPr lang="fr-FR" sz="1100" dirty="0">
                <a:solidFill>
                  <a:schemeClr val="bg2">
                    <a:lumMod val="50000"/>
                  </a:schemeClr>
                </a:solidFill>
              </a:rPr>
              <a:t> Email</a:t>
            </a:r>
          </a:p>
        </p:txBody>
      </p:sp>
      <p:sp>
        <p:nvSpPr>
          <p:cNvPr id="5" name="Rectangle 4">
            <a:extLst>
              <a:ext uri="{FF2B5EF4-FFF2-40B4-BE49-F238E27FC236}">
                <a16:creationId xmlns:a16="http://schemas.microsoft.com/office/drawing/2014/main" id="{A7CEBA0A-565C-F4BC-0169-FF628A95F5C2}"/>
              </a:ext>
            </a:extLst>
          </p:cNvPr>
          <p:cNvSpPr/>
          <p:nvPr/>
        </p:nvSpPr>
        <p:spPr>
          <a:xfrm>
            <a:off x="8082914" y="330993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18" name="Rectangle : coins arrondis 17">
            <a:extLst>
              <a:ext uri="{FF2B5EF4-FFF2-40B4-BE49-F238E27FC236}">
                <a16:creationId xmlns:a16="http://schemas.microsoft.com/office/drawing/2014/main" id="{B9B4EB86-2BB3-DA85-18D1-5A0F607E62F0}"/>
              </a:ext>
            </a:extLst>
          </p:cNvPr>
          <p:cNvSpPr/>
          <p:nvPr/>
        </p:nvSpPr>
        <p:spPr>
          <a:xfrm>
            <a:off x="8449854" y="3861910"/>
            <a:ext cx="2374900" cy="361950"/>
          </a:xfrm>
          <a:prstGeom prst="roundRect">
            <a:avLst/>
          </a:prstGeom>
          <a:solidFill>
            <a:srgbClr val="52B4E6"/>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Se connecter</a:t>
            </a:r>
          </a:p>
        </p:txBody>
      </p:sp>
      <p:sp>
        <p:nvSpPr>
          <p:cNvPr id="19" name="ZoneTexte 18">
            <a:extLst>
              <a:ext uri="{FF2B5EF4-FFF2-40B4-BE49-F238E27FC236}">
                <a16:creationId xmlns:a16="http://schemas.microsoft.com/office/drawing/2014/main" id="{95291A6D-6A8B-49D9-42DB-58E1225B20BF}"/>
              </a:ext>
            </a:extLst>
          </p:cNvPr>
          <p:cNvSpPr txBox="1"/>
          <p:nvPr/>
        </p:nvSpPr>
        <p:spPr>
          <a:xfrm>
            <a:off x="7978140" y="2147080"/>
            <a:ext cx="1731884" cy="400110"/>
          </a:xfrm>
          <a:prstGeom prst="rect">
            <a:avLst/>
          </a:prstGeom>
          <a:noFill/>
        </p:spPr>
        <p:txBody>
          <a:bodyPr wrap="none" rtlCol="0">
            <a:spAutoFit/>
          </a:bodyPr>
          <a:lstStyle/>
          <a:p>
            <a:r>
              <a:rPr lang="fr-FR" sz="2000" b="1" dirty="0"/>
              <a:t>Se connecter</a:t>
            </a:r>
          </a:p>
        </p:txBody>
      </p:sp>
      <p:sp>
        <p:nvSpPr>
          <p:cNvPr id="20" name="ZoneTexte 19">
            <a:extLst>
              <a:ext uri="{FF2B5EF4-FFF2-40B4-BE49-F238E27FC236}">
                <a16:creationId xmlns:a16="http://schemas.microsoft.com/office/drawing/2014/main" id="{6EC2E700-F55A-451E-D2A0-557A4DF42BA8}"/>
              </a:ext>
            </a:extLst>
          </p:cNvPr>
          <p:cNvSpPr txBox="1"/>
          <p:nvPr/>
        </p:nvSpPr>
        <p:spPr>
          <a:xfrm>
            <a:off x="7978140" y="4317885"/>
            <a:ext cx="1569660" cy="261610"/>
          </a:xfrm>
          <a:prstGeom prst="rect">
            <a:avLst/>
          </a:prstGeom>
          <a:noFill/>
        </p:spPr>
        <p:txBody>
          <a:bodyPr wrap="none" rtlCol="0">
            <a:spAutoFit/>
          </a:bodyPr>
          <a:lstStyle/>
          <a:p>
            <a:r>
              <a:rPr lang="fr-FR" sz="1100" b="1" dirty="0">
                <a:solidFill>
                  <a:srgbClr val="52B4E6"/>
                </a:solidFill>
              </a:rPr>
              <a:t>Mot de passe oublié ?</a:t>
            </a:r>
          </a:p>
        </p:txBody>
      </p:sp>
      <p:pic>
        <p:nvPicPr>
          <p:cNvPr id="21" name="Image 20">
            <a:extLst>
              <a:ext uri="{FF2B5EF4-FFF2-40B4-BE49-F238E27FC236}">
                <a16:creationId xmlns:a16="http://schemas.microsoft.com/office/drawing/2014/main" id="{571F20E8-6B37-7017-E854-2238F978AD12}"/>
              </a:ext>
            </a:extLst>
          </p:cNvPr>
          <p:cNvPicPr>
            <a:picLocks noChangeAspect="1"/>
          </p:cNvPicPr>
          <p:nvPr/>
        </p:nvPicPr>
        <p:blipFill>
          <a:blip r:embed="rId3"/>
          <a:stretch>
            <a:fillRect/>
          </a:stretch>
        </p:blipFill>
        <p:spPr>
          <a:xfrm>
            <a:off x="8577722" y="1006957"/>
            <a:ext cx="2572735" cy="859611"/>
          </a:xfrm>
          <a:prstGeom prst="rect">
            <a:avLst/>
          </a:prstGeom>
        </p:spPr>
      </p:pic>
      <p:sp>
        <p:nvSpPr>
          <p:cNvPr id="22" name="Rectangle 21">
            <a:extLst>
              <a:ext uri="{FF2B5EF4-FFF2-40B4-BE49-F238E27FC236}">
                <a16:creationId xmlns:a16="http://schemas.microsoft.com/office/drawing/2014/main" id="{5169F999-C6B9-E5FA-C258-43FA1C2DD327}"/>
              </a:ext>
            </a:extLst>
          </p:cNvPr>
          <p:cNvSpPr/>
          <p:nvPr/>
        </p:nvSpPr>
        <p:spPr>
          <a:xfrm>
            <a:off x="171450" y="1524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P3</a:t>
            </a:r>
          </a:p>
        </p:txBody>
      </p:sp>
      <p:sp>
        <p:nvSpPr>
          <p:cNvPr id="6" name="Rectangle 5">
            <a:extLst>
              <a:ext uri="{FF2B5EF4-FFF2-40B4-BE49-F238E27FC236}">
                <a16:creationId xmlns:a16="http://schemas.microsoft.com/office/drawing/2014/main" id="{F0780B87-D012-372B-69C3-31AC6292945F}"/>
              </a:ext>
            </a:extLst>
          </p:cNvPr>
          <p:cNvSpPr/>
          <p:nvPr/>
        </p:nvSpPr>
        <p:spPr>
          <a:xfrm>
            <a:off x="85725" y="1047117"/>
            <a:ext cx="7216048" cy="422973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1600" dirty="0"/>
              <a:t>Sur ce formulaire, tu peux utiliser la table </a:t>
            </a:r>
            <a:r>
              <a:rPr lang="fr-FR" sz="1600" dirty="0" err="1"/>
              <a:t>users</a:t>
            </a:r>
            <a:r>
              <a:rPr lang="fr-FR" sz="1600" dirty="0"/>
              <a:t>, pour rechercher la personne dans la table et permettre sa connexion.</a:t>
            </a:r>
          </a:p>
          <a:p>
            <a:pPr algn="just"/>
            <a:endParaRPr lang="fr-FR" sz="1600" dirty="0"/>
          </a:p>
          <a:p>
            <a:pPr algn="just"/>
            <a:r>
              <a:rPr lang="fr-FR" sz="1600" dirty="0"/>
              <a:t>Par exemple, la commande SQL :</a:t>
            </a:r>
          </a:p>
          <a:p>
            <a:pPr algn="just"/>
            <a:r>
              <a:rPr lang="fr-FR" sz="1600" dirty="0"/>
              <a:t>SELECT * FROM </a:t>
            </a:r>
            <a:r>
              <a:rPr lang="fr-FR" sz="1600" dirty="0" err="1"/>
              <a:t>users</a:t>
            </a:r>
            <a:r>
              <a:rPr lang="fr-FR" sz="1600" dirty="0"/>
              <a:t> WHERE email=‘user@gmail.com’ AND </a:t>
            </a:r>
            <a:r>
              <a:rPr lang="fr-FR" sz="1600" dirty="0" err="1"/>
              <a:t>password</a:t>
            </a:r>
            <a:r>
              <a:rPr lang="fr-FR" sz="1600" dirty="0"/>
              <a:t>=‘1234’.</a:t>
            </a:r>
          </a:p>
          <a:p>
            <a:pPr algn="just"/>
            <a:r>
              <a:rPr lang="fr-FR" sz="1600" dirty="0" err="1"/>
              <a:t>Execute</a:t>
            </a:r>
            <a:r>
              <a:rPr lang="fr-FR" sz="1600" dirty="0"/>
              <a:t> la requête avec </a:t>
            </a:r>
            <a:r>
              <a:rPr lang="fr-FR" sz="1600" dirty="0" err="1"/>
              <a:t>mysqli_query</a:t>
            </a:r>
            <a:r>
              <a:rPr lang="fr-FR" sz="1600" dirty="0"/>
              <a:t>,</a:t>
            </a:r>
          </a:p>
          <a:p>
            <a:pPr algn="just"/>
            <a:r>
              <a:rPr lang="fr-FR" sz="1600" dirty="0"/>
              <a:t>Utilise cette nouvelle commande ainsi pour compter le nombre de résultat trouvé :</a:t>
            </a:r>
          </a:p>
          <a:p>
            <a:pPr algn="just"/>
            <a:r>
              <a:rPr lang="fr-FR" sz="1600" dirty="0">
                <a:highlight>
                  <a:srgbClr val="FF0000"/>
                </a:highlight>
              </a:rPr>
              <a:t>$</a:t>
            </a:r>
            <a:r>
              <a:rPr lang="fr-FR" sz="1600" dirty="0" err="1">
                <a:highlight>
                  <a:srgbClr val="FF0000"/>
                </a:highlight>
              </a:rPr>
              <a:t>NbTrouver</a:t>
            </a:r>
            <a:r>
              <a:rPr lang="fr-FR" sz="1600" dirty="0">
                <a:highlight>
                  <a:srgbClr val="FF0000"/>
                </a:highlight>
              </a:rPr>
              <a:t> = </a:t>
            </a:r>
            <a:r>
              <a:rPr lang="fr-FR" sz="1600" dirty="0" err="1">
                <a:highlight>
                  <a:srgbClr val="FF0000"/>
                </a:highlight>
              </a:rPr>
              <a:t>mysqli_num_rows</a:t>
            </a:r>
            <a:r>
              <a:rPr lang="fr-FR" sz="1600" dirty="0">
                <a:highlight>
                  <a:srgbClr val="FF0000"/>
                </a:highlight>
              </a:rPr>
              <a:t>($</a:t>
            </a:r>
            <a:r>
              <a:rPr lang="fr-FR" sz="1600" dirty="0" err="1">
                <a:highlight>
                  <a:srgbClr val="FF0000"/>
                </a:highlight>
              </a:rPr>
              <a:t>res</a:t>
            </a:r>
            <a:r>
              <a:rPr lang="fr-FR" sz="1600" dirty="0">
                <a:highlight>
                  <a:srgbClr val="FF0000"/>
                </a:highlight>
              </a:rPr>
              <a:t>);</a:t>
            </a:r>
          </a:p>
          <a:p>
            <a:pPr algn="just"/>
            <a:endParaRPr lang="fr-FR" sz="1600" dirty="0"/>
          </a:p>
          <a:p>
            <a:pPr algn="just"/>
            <a:r>
              <a:rPr lang="fr-FR" sz="1600" dirty="0"/>
              <a:t>Si $</a:t>
            </a:r>
            <a:r>
              <a:rPr lang="fr-FR" sz="1600" dirty="0" err="1"/>
              <a:t>NbTrouver</a:t>
            </a:r>
            <a:r>
              <a:rPr lang="fr-FR" sz="1600" dirty="0"/>
              <a:t>=1 alors la personne est bien présente dans la table, à défaut, on renvoie la personne sur la page 3.</a:t>
            </a:r>
          </a:p>
          <a:p>
            <a:pPr algn="just"/>
            <a:r>
              <a:rPr lang="fr-FR" sz="1600" dirty="0"/>
              <a:t>SI la personne est bien présente dans la table, tu peux la renvoyer vers la page suivante (le questionnaire). </a:t>
            </a:r>
            <a:r>
              <a:rPr lang="fr-FR" sz="1600" dirty="0">
                <a:highlight>
                  <a:srgbClr val="FF0000"/>
                </a:highlight>
              </a:rPr>
              <a:t>Facultatif</a:t>
            </a:r>
            <a:r>
              <a:rPr lang="fr-FR" sz="1600" dirty="0"/>
              <a:t> : dans ton header(location..) tu peux créer une requête http telles que : page4.php?ID=$</a:t>
            </a:r>
            <a:r>
              <a:rPr lang="fr-FR" sz="1600" dirty="0" err="1"/>
              <a:t>ID&amp;firstname</a:t>
            </a:r>
            <a:r>
              <a:rPr lang="fr-FR" sz="1600" dirty="0"/>
              <a:t>=$</a:t>
            </a:r>
            <a:r>
              <a:rPr lang="fr-FR" sz="1600" dirty="0" err="1"/>
              <a:t>firstname</a:t>
            </a:r>
            <a:endParaRPr lang="fr-FR" sz="1600" dirty="0"/>
          </a:p>
        </p:txBody>
      </p:sp>
      <p:sp>
        <p:nvSpPr>
          <p:cNvPr id="7" name="Espace réservé du pied de page 6">
            <a:extLst>
              <a:ext uri="{FF2B5EF4-FFF2-40B4-BE49-F238E27FC236}">
                <a16:creationId xmlns:a16="http://schemas.microsoft.com/office/drawing/2014/main" id="{359580B8-44C1-05A9-02EA-06D930A0AADA}"/>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2170F904-730E-C230-E47A-76A0E453DC3E}"/>
              </a:ext>
            </a:extLst>
          </p:cNvPr>
          <p:cNvSpPr>
            <a:spLocks noGrp="1"/>
          </p:cNvSpPr>
          <p:nvPr>
            <p:ph type="sldNum" sz="quarter" idx="12"/>
          </p:nvPr>
        </p:nvSpPr>
        <p:spPr/>
        <p:txBody>
          <a:bodyPr/>
          <a:lstStyle/>
          <a:p>
            <a:fld id="{61A50371-3F2D-4FEF-B603-773838516A24}" type="slidenum">
              <a:rPr lang="fr-FR" smtClean="0"/>
              <a:t>31</a:t>
            </a:fld>
            <a:endParaRPr lang="fr-FR"/>
          </a:p>
        </p:txBody>
      </p:sp>
    </p:spTree>
    <p:extLst>
      <p:ext uri="{BB962C8B-B14F-4D97-AF65-F5344CB8AC3E}">
        <p14:creationId xmlns:p14="http://schemas.microsoft.com/office/powerpoint/2010/main" val="1574918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B502C-6804-69A5-6655-6D646286065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70D979C1-30C3-0BFC-61CC-E9D96559FF52}"/>
              </a:ext>
            </a:extLst>
          </p:cNvPr>
          <p:cNvPicPr>
            <a:picLocks noChangeAspect="1"/>
          </p:cNvPicPr>
          <p:nvPr/>
        </p:nvPicPr>
        <p:blipFill>
          <a:blip r:embed="rId2">
            <a:clrChange>
              <a:clrFrom>
                <a:srgbClr val="FFFFFF"/>
              </a:clrFrom>
              <a:clrTo>
                <a:srgbClr val="FFFFFF">
                  <a:alpha val="0"/>
                </a:srgbClr>
              </a:clrTo>
            </a:clrChange>
          </a:blip>
          <a:srcRect l="38307" t="55537" r="60174" b="42067"/>
          <a:stretch>
            <a:fillRect/>
          </a:stretch>
        </p:blipFill>
        <p:spPr>
          <a:xfrm>
            <a:off x="4388757" y="3977152"/>
            <a:ext cx="299720" cy="265953"/>
          </a:xfrm>
          <a:prstGeom prst="rect">
            <a:avLst/>
          </a:prstGeom>
        </p:spPr>
      </p:pic>
      <p:sp>
        <p:nvSpPr>
          <p:cNvPr id="4" name="ZoneTexte 3">
            <a:extLst>
              <a:ext uri="{FF2B5EF4-FFF2-40B4-BE49-F238E27FC236}">
                <a16:creationId xmlns:a16="http://schemas.microsoft.com/office/drawing/2014/main" id="{7523F2BB-2ED7-9187-5353-E555A06B94DE}"/>
              </a:ext>
            </a:extLst>
          </p:cNvPr>
          <p:cNvSpPr txBox="1"/>
          <p:nvPr/>
        </p:nvSpPr>
        <p:spPr>
          <a:xfrm>
            <a:off x="4388757" y="1934780"/>
            <a:ext cx="3702050" cy="830997"/>
          </a:xfrm>
          <a:prstGeom prst="rect">
            <a:avLst/>
          </a:prstGeom>
          <a:noFill/>
        </p:spPr>
        <p:txBody>
          <a:bodyPr wrap="square" rtlCol="0">
            <a:spAutoFit/>
          </a:bodyPr>
          <a:lstStyle/>
          <a:p>
            <a:pPr algn="ctr"/>
            <a:r>
              <a:rPr lang="fr-FR" sz="2400" dirty="0"/>
              <a:t>Sélectionnez une région pour continuer</a:t>
            </a:r>
          </a:p>
        </p:txBody>
      </p:sp>
      <p:sp>
        <p:nvSpPr>
          <p:cNvPr id="6" name="ZoneTexte 5">
            <a:extLst>
              <a:ext uri="{FF2B5EF4-FFF2-40B4-BE49-F238E27FC236}">
                <a16:creationId xmlns:a16="http://schemas.microsoft.com/office/drawing/2014/main" id="{5DE10269-A828-2717-0F67-EB650513B9F9}"/>
              </a:ext>
            </a:extLst>
          </p:cNvPr>
          <p:cNvSpPr txBox="1"/>
          <p:nvPr/>
        </p:nvSpPr>
        <p:spPr>
          <a:xfrm>
            <a:off x="4388757" y="2765777"/>
            <a:ext cx="3702050" cy="646331"/>
          </a:xfrm>
          <a:prstGeom prst="rect">
            <a:avLst/>
          </a:prstGeom>
          <a:noFill/>
        </p:spPr>
        <p:txBody>
          <a:bodyPr wrap="square" rtlCol="0">
            <a:spAutoFit/>
          </a:bodyPr>
          <a:lstStyle/>
          <a:p>
            <a:pPr algn="ctr"/>
            <a:r>
              <a:rPr lang="fr-FR" sz="1200" dirty="0"/>
              <a:t>Il semble que vous ayez souscrit à des abonnements dans plusieurs régions. Veuillez sélectionner une région pour continuer à utiliser PGI CUST</a:t>
            </a:r>
          </a:p>
        </p:txBody>
      </p:sp>
      <p:pic>
        <p:nvPicPr>
          <p:cNvPr id="7" name="Image 6">
            <a:extLst>
              <a:ext uri="{FF2B5EF4-FFF2-40B4-BE49-F238E27FC236}">
                <a16:creationId xmlns:a16="http://schemas.microsoft.com/office/drawing/2014/main" id="{59028702-F8A4-BEDE-C497-E1F9CDDDAB6F}"/>
              </a:ext>
            </a:extLst>
          </p:cNvPr>
          <p:cNvPicPr>
            <a:picLocks noChangeAspect="1"/>
          </p:cNvPicPr>
          <p:nvPr/>
        </p:nvPicPr>
        <p:blipFill>
          <a:blip r:embed="rId2">
            <a:clrChange>
              <a:clrFrom>
                <a:srgbClr val="FFFFFF"/>
              </a:clrFrom>
              <a:clrTo>
                <a:srgbClr val="FFFFFF">
                  <a:alpha val="0"/>
                </a:srgbClr>
              </a:clrTo>
            </a:clrChange>
          </a:blip>
          <a:srcRect l="38307" t="62704" r="60174" b="34638"/>
          <a:stretch>
            <a:fillRect/>
          </a:stretch>
        </p:blipFill>
        <p:spPr>
          <a:xfrm>
            <a:off x="4388757" y="4316554"/>
            <a:ext cx="299720" cy="295001"/>
          </a:xfrm>
          <a:prstGeom prst="rect">
            <a:avLst/>
          </a:prstGeom>
        </p:spPr>
      </p:pic>
      <p:sp>
        <p:nvSpPr>
          <p:cNvPr id="8" name="ZoneTexte 7">
            <a:extLst>
              <a:ext uri="{FF2B5EF4-FFF2-40B4-BE49-F238E27FC236}">
                <a16:creationId xmlns:a16="http://schemas.microsoft.com/office/drawing/2014/main" id="{ECBE4125-F7CA-2551-6516-622BF1700BCB}"/>
              </a:ext>
            </a:extLst>
          </p:cNvPr>
          <p:cNvSpPr txBox="1"/>
          <p:nvPr/>
        </p:nvSpPr>
        <p:spPr>
          <a:xfrm>
            <a:off x="4688477" y="3977152"/>
            <a:ext cx="2103120" cy="276999"/>
          </a:xfrm>
          <a:prstGeom prst="rect">
            <a:avLst/>
          </a:prstGeom>
          <a:noFill/>
        </p:spPr>
        <p:txBody>
          <a:bodyPr wrap="square" rtlCol="0">
            <a:spAutoFit/>
          </a:bodyPr>
          <a:lstStyle/>
          <a:p>
            <a:r>
              <a:rPr lang="fr-FR" sz="1200" dirty="0"/>
              <a:t>EU – PGI CUST Trial Team</a:t>
            </a:r>
          </a:p>
        </p:txBody>
      </p:sp>
      <p:sp>
        <p:nvSpPr>
          <p:cNvPr id="9" name="ZoneTexte 8">
            <a:extLst>
              <a:ext uri="{FF2B5EF4-FFF2-40B4-BE49-F238E27FC236}">
                <a16:creationId xmlns:a16="http://schemas.microsoft.com/office/drawing/2014/main" id="{157C53E4-5A86-1B5F-4DD6-99E3B2EC3A2E}"/>
              </a:ext>
            </a:extLst>
          </p:cNvPr>
          <p:cNvSpPr txBox="1"/>
          <p:nvPr/>
        </p:nvSpPr>
        <p:spPr>
          <a:xfrm>
            <a:off x="4688477" y="4334556"/>
            <a:ext cx="2103120" cy="276999"/>
          </a:xfrm>
          <a:prstGeom prst="rect">
            <a:avLst/>
          </a:prstGeom>
          <a:noFill/>
        </p:spPr>
        <p:txBody>
          <a:bodyPr wrap="square" rtlCol="0">
            <a:spAutoFit/>
          </a:bodyPr>
          <a:lstStyle/>
          <a:p>
            <a:r>
              <a:rPr lang="fr-FR" sz="1200" dirty="0"/>
              <a:t>US – PGI CUST Trial Team</a:t>
            </a:r>
          </a:p>
        </p:txBody>
      </p:sp>
      <p:sp>
        <p:nvSpPr>
          <p:cNvPr id="10" name="Rectangle : coins arrondis 9">
            <a:extLst>
              <a:ext uri="{FF2B5EF4-FFF2-40B4-BE49-F238E27FC236}">
                <a16:creationId xmlns:a16="http://schemas.microsoft.com/office/drawing/2014/main" id="{B349CBA0-5A9E-4723-6EFB-82E1053DC6CA}"/>
              </a:ext>
            </a:extLst>
          </p:cNvPr>
          <p:cNvSpPr/>
          <p:nvPr/>
        </p:nvSpPr>
        <p:spPr>
          <a:xfrm>
            <a:off x="3628571" y="1585686"/>
            <a:ext cx="5181600" cy="3686628"/>
          </a:xfrm>
          <a:prstGeom prst="round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1" name="Image 10">
            <a:extLst>
              <a:ext uri="{FF2B5EF4-FFF2-40B4-BE49-F238E27FC236}">
                <a16:creationId xmlns:a16="http://schemas.microsoft.com/office/drawing/2014/main" id="{3B731F8C-5475-389D-79F2-9720D6329273}"/>
              </a:ext>
            </a:extLst>
          </p:cNvPr>
          <p:cNvPicPr>
            <a:picLocks noChangeAspect="1"/>
          </p:cNvPicPr>
          <p:nvPr/>
        </p:nvPicPr>
        <p:blipFill>
          <a:blip r:embed="rId3"/>
          <a:stretch>
            <a:fillRect/>
          </a:stretch>
        </p:blipFill>
        <p:spPr>
          <a:xfrm>
            <a:off x="338597" y="111608"/>
            <a:ext cx="1356853" cy="453356"/>
          </a:xfrm>
          <a:prstGeom prst="rect">
            <a:avLst/>
          </a:prstGeom>
        </p:spPr>
      </p:pic>
      <p:sp>
        <p:nvSpPr>
          <p:cNvPr id="12" name="Rectangle 11">
            <a:extLst>
              <a:ext uri="{FF2B5EF4-FFF2-40B4-BE49-F238E27FC236}">
                <a16:creationId xmlns:a16="http://schemas.microsoft.com/office/drawing/2014/main" id="{FC727A16-5119-C47E-4933-14854E4350AC}"/>
              </a:ext>
            </a:extLst>
          </p:cNvPr>
          <p:cNvSpPr/>
          <p:nvPr/>
        </p:nvSpPr>
        <p:spPr>
          <a:xfrm>
            <a:off x="338597" y="762000"/>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P4</a:t>
            </a:r>
          </a:p>
        </p:txBody>
      </p:sp>
      <p:sp>
        <p:nvSpPr>
          <p:cNvPr id="2" name="Rectangle 1">
            <a:extLst>
              <a:ext uri="{FF2B5EF4-FFF2-40B4-BE49-F238E27FC236}">
                <a16:creationId xmlns:a16="http://schemas.microsoft.com/office/drawing/2014/main" id="{E3370CDD-F48D-06FA-695A-BEE3B3C4CF7A}"/>
              </a:ext>
            </a:extLst>
          </p:cNvPr>
          <p:cNvSpPr/>
          <p:nvPr/>
        </p:nvSpPr>
        <p:spPr>
          <a:xfrm>
            <a:off x="338598" y="1638447"/>
            <a:ext cx="4050160" cy="46774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Un clic sur le lien EU ou US permet d’accéder à la page 5. NB, idéalement utiliser un lien avec une requête http, sinon tant pis.</a:t>
            </a:r>
          </a:p>
          <a:p>
            <a:pPr algn="just"/>
            <a:r>
              <a:rPr lang="fr-FR" dirty="0"/>
              <a:t>Exemple de requête http: localhost/</a:t>
            </a:r>
            <a:r>
              <a:rPr lang="fr-FR" dirty="0" err="1"/>
              <a:t>mapage.php?langue</a:t>
            </a:r>
            <a:r>
              <a:rPr lang="fr-FR" dirty="0"/>
              <a:t>=eu</a:t>
            </a:r>
          </a:p>
          <a:p>
            <a:pPr algn="just"/>
            <a:r>
              <a:rPr lang="fr-FR" dirty="0"/>
              <a:t>Au cas où vous vous souvenez de la variable $_GET et comment on modifie la barre d’adresse du navigateur simplement.</a:t>
            </a:r>
          </a:p>
        </p:txBody>
      </p:sp>
      <p:sp>
        <p:nvSpPr>
          <p:cNvPr id="5" name="Espace réservé du pied de page 4">
            <a:extLst>
              <a:ext uri="{FF2B5EF4-FFF2-40B4-BE49-F238E27FC236}">
                <a16:creationId xmlns:a16="http://schemas.microsoft.com/office/drawing/2014/main" id="{11DB8FA7-4307-44F1-D8C0-FC087758FA6B}"/>
              </a:ext>
            </a:extLst>
          </p:cNvPr>
          <p:cNvSpPr>
            <a:spLocks noGrp="1"/>
          </p:cNvSpPr>
          <p:nvPr>
            <p:ph type="ftr" sz="quarter" idx="11"/>
          </p:nvPr>
        </p:nvSpPr>
        <p:spPr/>
        <p:txBody>
          <a:bodyPr/>
          <a:lstStyle/>
          <a:p>
            <a:r>
              <a:rPr lang="fr-FR"/>
              <a:t>Evaluaiton avec un micro projet HTML-CSS</a:t>
            </a:r>
          </a:p>
        </p:txBody>
      </p:sp>
      <p:sp>
        <p:nvSpPr>
          <p:cNvPr id="13" name="Espace réservé du numéro de diapositive 12">
            <a:extLst>
              <a:ext uri="{FF2B5EF4-FFF2-40B4-BE49-F238E27FC236}">
                <a16:creationId xmlns:a16="http://schemas.microsoft.com/office/drawing/2014/main" id="{0D88563B-FAC9-F6C5-7465-09C5C08C8F2F}"/>
              </a:ext>
            </a:extLst>
          </p:cNvPr>
          <p:cNvSpPr>
            <a:spLocks noGrp="1"/>
          </p:cNvSpPr>
          <p:nvPr>
            <p:ph type="sldNum" sz="quarter" idx="12"/>
          </p:nvPr>
        </p:nvSpPr>
        <p:spPr/>
        <p:txBody>
          <a:bodyPr/>
          <a:lstStyle/>
          <a:p>
            <a:fld id="{61A50371-3F2D-4FEF-B603-773838516A24}" type="slidenum">
              <a:rPr lang="fr-FR" smtClean="0"/>
              <a:t>32</a:t>
            </a:fld>
            <a:endParaRPr lang="fr-FR"/>
          </a:p>
        </p:txBody>
      </p:sp>
    </p:spTree>
    <p:extLst>
      <p:ext uri="{BB962C8B-B14F-4D97-AF65-F5344CB8AC3E}">
        <p14:creationId xmlns:p14="http://schemas.microsoft.com/office/powerpoint/2010/main" val="2647000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9AFDF-D732-A642-802A-84525E2B0363}"/>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6E00B8B4-D80B-B8C3-615C-AE37EA560C0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102" y="854105"/>
            <a:ext cx="12119898" cy="5145470"/>
          </a:xfrm>
          <a:prstGeom prst="rect">
            <a:avLst/>
          </a:prstGeom>
        </p:spPr>
      </p:pic>
      <p:sp>
        <p:nvSpPr>
          <p:cNvPr id="16" name="Rectangle : coins arrondis 15">
            <a:extLst>
              <a:ext uri="{FF2B5EF4-FFF2-40B4-BE49-F238E27FC236}">
                <a16:creationId xmlns:a16="http://schemas.microsoft.com/office/drawing/2014/main" id="{ACF15019-9B85-EEA3-D55A-357741A02292}"/>
              </a:ext>
            </a:extLst>
          </p:cNvPr>
          <p:cNvSpPr/>
          <p:nvPr/>
        </p:nvSpPr>
        <p:spPr>
          <a:xfrm>
            <a:off x="3628571" y="1585686"/>
            <a:ext cx="5181600" cy="3686628"/>
          </a:xfrm>
          <a:prstGeom prst="round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D7430353-A92E-D0FD-B402-E6478BDF16E2}"/>
              </a:ext>
            </a:extLst>
          </p:cNvPr>
          <p:cNvSpPr txBox="1"/>
          <p:nvPr/>
        </p:nvSpPr>
        <p:spPr>
          <a:xfrm>
            <a:off x="4185103" y="1991930"/>
            <a:ext cx="3821793" cy="400110"/>
          </a:xfrm>
          <a:prstGeom prst="rect">
            <a:avLst/>
          </a:prstGeom>
          <a:noFill/>
        </p:spPr>
        <p:txBody>
          <a:bodyPr wrap="square" rtlCol="0">
            <a:spAutoFit/>
          </a:bodyPr>
          <a:lstStyle/>
          <a:p>
            <a:pPr algn="ctr"/>
            <a:r>
              <a:rPr lang="fr-FR" sz="2000" b="1" dirty="0" err="1"/>
              <a:t>What</a:t>
            </a:r>
            <a:r>
              <a:rPr lang="fr-FR" sz="2000" b="1" dirty="0"/>
              <a:t> best </a:t>
            </a:r>
            <a:r>
              <a:rPr lang="fr-FR" sz="2000" b="1" dirty="0" err="1"/>
              <a:t>describes</a:t>
            </a:r>
            <a:r>
              <a:rPr lang="fr-FR" sz="2000" b="1" dirty="0"/>
              <a:t> </a:t>
            </a:r>
            <a:r>
              <a:rPr lang="fr-FR" sz="2000" b="1" dirty="0" err="1"/>
              <a:t>your</a:t>
            </a:r>
            <a:r>
              <a:rPr lang="fr-FR" sz="2000" b="1" dirty="0"/>
              <a:t> rôle ?</a:t>
            </a:r>
          </a:p>
        </p:txBody>
      </p:sp>
      <p:sp>
        <p:nvSpPr>
          <p:cNvPr id="7" name="Ellipse 6">
            <a:extLst>
              <a:ext uri="{FF2B5EF4-FFF2-40B4-BE49-F238E27FC236}">
                <a16:creationId xmlns:a16="http://schemas.microsoft.com/office/drawing/2014/main" id="{AF5F225F-F3CF-8E1D-D6FC-1F5C4D842CC0}"/>
              </a:ext>
            </a:extLst>
          </p:cNvPr>
          <p:cNvSpPr/>
          <p:nvPr/>
        </p:nvSpPr>
        <p:spPr>
          <a:xfrm>
            <a:off x="4309293" y="2596683"/>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9" name="ZoneTexte 8">
            <a:extLst>
              <a:ext uri="{FF2B5EF4-FFF2-40B4-BE49-F238E27FC236}">
                <a16:creationId xmlns:a16="http://schemas.microsoft.com/office/drawing/2014/main" id="{FACC7A31-1135-CC99-7170-E19F6B4BB1A6}"/>
              </a:ext>
            </a:extLst>
          </p:cNvPr>
          <p:cNvSpPr txBox="1"/>
          <p:nvPr/>
        </p:nvSpPr>
        <p:spPr>
          <a:xfrm>
            <a:off x="4547418" y="2515691"/>
            <a:ext cx="3288030" cy="400110"/>
          </a:xfrm>
          <a:prstGeom prst="rect">
            <a:avLst/>
          </a:prstGeom>
          <a:noFill/>
        </p:spPr>
        <p:txBody>
          <a:bodyPr wrap="square" rtlCol="0">
            <a:spAutoFit/>
          </a:bodyPr>
          <a:lstStyle/>
          <a:p>
            <a:r>
              <a:rPr lang="fr-FR" sz="1000" dirty="0"/>
              <a:t>I </a:t>
            </a:r>
            <a:r>
              <a:rPr lang="fr-FR" sz="1000" dirty="0" err="1"/>
              <a:t>evaluate</a:t>
            </a:r>
            <a:r>
              <a:rPr lang="fr-FR" sz="1000" dirty="0"/>
              <a:t> </a:t>
            </a:r>
            <a:r>
              <a:rPr lang="fr-FR" sz="1000" dirty="0" err="1"/>
              <a:t>tooling</a:t>
            </a:r>
            <a:r>
              <a:rPr lang="fr-FR" sz="1000" dirty="0"/>
              <a:t> and </a:t>
            </a:r>
            <a:r>
              <a:rPr lang="fr-FR" sz="1000" dirty="0" err="1"/>
              <a:t>technology</a:t>
            </a:r>
            <a:r>
              <a:rPr lang="fr-FR" sz="1000" dirty="0"/>
              <a:t> or </a:t>
            </a:r>
            <a:r>
              <a:rPr lang="fr-FR" sz="1000" dirty="0" err="1"/>
              <a:t>am</a:t>
            </a:r>
            <a:r>
              <a:rPr lang="fr-FR" sz="1000" dirty="0"/>
              <a:t> the </a:t>
            </a:r>
            <a:r>
              <a:rPr lang="fr-FR" sz="1000" dirty="0" err="1"/>
              <a:t>decision</a:t>
            </a:r>
            <a:r>
              <a:rPr lang="fr-FR" sz="1000" dirty="0"/>
              <a:t>-maker for </a:t>
            </a:r>
            <a:r>
              <a:rPr lang="fr-FR" sz="1000" dirty="0" err="1"/>
              <a:t>this</a:t>
            </a:r>
            <a:r>
              <a:rPr lang="fr-FR" sz="1000" dirty="0"/>
              <a:t> </a:t>
            </a:r>
            <a:r>
              <a:rPr lang="fr-FR" sz="1000" dirty="0" err="1"/>
              <a:t>tool</a:t>
            </a:r>
            <a:endParaRPr lang="fr-FR" sz="1000" dirty="0"/>
          </a:p>
        </p:txBody>
      </p:sp>
      <p:sp>
        <p:nvSpPr>
          <p:cNvPr id="10" name="Ellipse 9">
            <a:extLst>
              <a:ext uri="{FF2B5EF4-FFF2-40B4-BE49-F238E27FC236}">
                <a16:creationId xmlns:a16="http://schemas.microsoft.com/office/drawing/2014/main" id="{0B012697-D29B-8D00-1A60-B609216EE3B0}"/>
              </a:ext>
            </a:extLst>
          </p:cNvPr>
          <p:cNvSpPr/>
          <p:nvPr/>
        </p:nvSpPr>
        <p:spPr>
          <a:xfrm>
            <a:off x="4309293" y="3052258"/>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1" name="ZoneTexte 10">
            <a:extLst>
              <a:ext uri="{FF2B5EF4-FFF2-40B4-BE49-F238E27FC236}">
                <a16:creationId xmlns:a16="http://schemas.microsoft.com/office/drawing/2014/main" id="{BE97F502-51C0-7D41-8AC7-AEAC6DFFF38A}"/>
              </a:ext>
            </a:extLst>
          </p:cNvPr>
          <p:cNvSpPr txBox="1"/>
          <p:nvPr/>
        </p:nvSpPr>
        <p:spPr>
          <a:xfrm>
            <a:off x="4547418" y="2971266"/>
            <a:ext cx="3288030" cy="400110"/>
          </a:xfrm>
          <a:prstGeom prst="rect">
            <a:avLst/>
          </a:prstGeom>
          <a:noFill/>
        </p:spPr>
        <p:txBody>
          <a:bodyPr wrap="square" rtlCol="0">
            <a:spAutoFit/>
          </a:bodyPr>
          <a:lstStyle/>
          <a:p>
            <a:r>
              <a:rPr lang="fr-FR" sz="1000" dirty="0"/>
              <a:t>I </a:t>
            </a:r>
            <a:r>
              <a:rPr lang="fr-FR" sz="1000" dirty="0" err="1"/>
              <a:t>am</a:t>
            </a:r>
            <a:r>
              <a:rPr lang="fr-FR" sz="1000" dirty="0"/>
              <a:t> a </a:t>
            </a:r>
            <a:r>
              <a:rPr lang="fr-FR" sz="1000" dirty="0" err="1"/>
              <a:t>student</a:t>
            </a:r>
            <a:r>
              <a:rPr lang="fr-FR" sz="1000" dirty="0"/>
              <a:t> or </a:t>
            </a:r>
            <a:r>
              <a:rPr lang="fr-FR" sz="1000" dirty="0" err="1"/>
              <a:t>recent</a:t>
            </a:r>
            <a:r>
              <a:rPr lang="fr-FR" sz="1000" dirty="0"/>
              <a:t> </a:t>
            </a:r>
            <a:r>
              <a:rPr lang="fr-FR" sz="1000" dirty="0" err="1"/>
              <a:t>grad</a:t>
            </a:r>
            <a:r>
              <a:rPr lang="fr-FR" sz="1000" dirty="0"/>
              <a:t> </a:t>
            </a:r>
            <a:r>
              <a:rPr lang="fr-FR" sz="1000" dirty="0" err="1"/>
              <a:t>interested</a:t>
            </a:r>
            <a:r>
              <a:rPr lang="fr-FR" sz="1000" dirty="0"/>
              <a:t> in </a:t>
            </a:r>
            <a:r>
              <a:rPr lang="fr-FR" sz="1000" dirty="0" err="1"/>
              <a:t>creating</a:t>
            </a:r>
            <a:r>
              <a:rPr lang="fr-FR" sz="1000" dirty="0"/>
              <a:t> courses</a:t>
            </a:r>
          </a:p>
        </p:txBody>
      </p:sp>
      <p:sp>
        <p:nvSpPr>
          <p:cNvPr id="12" name="Ellipse 11">
            <a:extLst>
              <a:ext uri="{FF2B5EF4-FFF2-40B4-BE49-F238E27FC236}">
                <a16:creationId xmlns:a16="http://schemas.microsoft.com/office/drawing/2014/main" id="{06E4F13B-4E0D-AB5A-C871-5CD6AF8EA567}"/>
              </a:ext>
            </a:extLst>
          </p:cNvPr>
          <p:cNvSpPr/>
          <p:nvPr/>
        </p:nvSpPr>
        <p:spPr>
          <a:xfrm>
            <a:off x="4309293" y="3507832"/>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3" name="ZoneTexte 12">
            <a:extLst>
              <a:ext uri="{FF2B5EF4-FFF2-40B4-BE49-F238E27FC236}">
                <a16:creationId xmlns:a16="http://schemas.microsoft.com/office/drawing/2014/main" id="{7803E658-31CA-91D1-0A47-47D3D89E2FAB}"/>
              </a:ext>
            </a:extLst>
          </p:cNvPr>
          <p:cNvSpPr txBox="1"/>
          <p:nvPr/>
        </p:nvSpPr>
        <p:spPr>
          <a:xfrm>
            <a:off x="4547418" y="3426840"/>
            <a:ext cx="3288030" cy="400110"/>
          </a:xfrm>
          <a:prstGeom prst="rect">
            <a:avLst/>
          </a:prstGeom>
          <a:noFill/>
        </p:spPr>
        <p:txBody>
          <a:bodyPr wrap="square" rtlCol="0">
            <a:spAutoFit/>
          </a:bodyPr>
          <a:lstStyle/>
          <a:p>
            <a:r>
              <a:rPr lang="fr-FR" sz="1000" dirty="0"/>
              <a:t>I </a:t>
            </a:r>
            <a:r>
              <a:rPr lang="fr-FR" sz="1000" dirty="0" err="1"/>
              <a:t>am</a:t>
            </a:r>
            <a:r>
              <a:rPr lang="fr-FR" sz="1000" dirty="0"/>
              <a:t> a consultant or </a:t>
            </a:r>
            <a:r>
              <a:rPr lang="fr-FR" sz="1000" dirty="0" err="1"/>
              <a:t>freelancer</a:t>
            </a:r>
            <a:r>
              <a:rPr lang="fr-FR" sz="1000" dirty="0"/>
              <a:t> </a:t>
            </a:r>
            <a:r>
              <a:rPr lang="fr-FR" sz="1000" dirty="0" err="1"/>
              <a:t>who</a:t>
            </a:r>
            <a:r>
              <a:rPr lang="fr-FR" sz="1000" dirty="0"/>
              <a:t> </a:t>
            </a:r>
            <a:r>
              <a:rPr lang="fr-FR" sz="1000" dirty="0" err="1"/>
              <a:t>creates</a:t>
            </a:r>
            <a:r>
              <a:rPr lang="fr-FR" sz="1000" dirty="0"/>
              <a:t> leads for </a:t>
            </a:r>
            <a:r>
              <a:rPr lang="fr-FR" sz="1000" dirty="0" err="1"/>
              <a:t>companies</a:t>
            </a:r>
            <a:endParaRPr lang="fr-FR" sz="1000" dirty="0"/>
          </a:p>
        </p:txBody>
      </p:sp>
      <p:sp>
        <p:nvSpPr>
          <p:cNvPr id="14" name="Ellipse 13">
            <a:extLst>
              <a:ext uri="{FF2B5EF4-FFF2-40B4-BE49-F238E27FC236}">
                <a16:creationId xmlns:a16="http://schemas.microsoft.com/office/drawing/2014/main" id="{21185875-2730-9110-91FC-C1A3470AFA43}"/>
              </a:ext>
            </a:extLst>
          </p:cNvPr>
          <p:cNvSpPr/>
          <p:nvPr/>
        </p:nvSpPr>
        <p:spPr>
          <a:xfrm>
            <a:off x="4309293" y="3988934"/>
            <a:ext cx="238125" cy="23812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dirty="0"/>
          </a:p>
        </p:txBody>
      </p:sp>
      <p:sp>
        <p:nvSpPr>
          <p:cNvPr id="15" name="ZoneTexte 14">
            <a:extLst>
              <a:ext uri="{FF2B5EF4-FFF2-40B4-BE49-F238E27FC236}">
                <a16:creationId xmlns:a16="http://schemas.microsoft.com/office/drawing/2014/main" id="{CD81C8D6-61FD-39B1-ED8C-03EC31331C9D}"/>
              </a:ext>
            </a:extLst>
          </p:cNvPr>
          <p:cNvSpPr txBox="1"/>
          <p:nvPr/>
        </p:nvSpPr>
        <p:spPr>
          <a:xfrm>
            <a:off x="4547418" y="4027720"/>
            <a:ext cx="3288030" cy="246221"/>
          </a:xfrm>
          <a:prstGeom prst="rect">
            <a:avLst/>
          </a:prstGeom>
          <a:noFill/>
        </p:spPr>
        <p:txBody>
          <a:bodyPr wrap="square" rtlCol="0">
            <a:spAutoFit/>
          </a:bodyPr>
          <a:lstStyle/>
          <a:p>
            <a:r>
              <a:rPr lang="fr-FR" sz="1000" dirty="0" err="1"/>
              <a:t>Other</a:t>
            </a:r>
            <a:endParaRPr lang="fr-FR" sz="1000" dirty="0"/>
          </a:p>
        </p:txBody>
      </p:sp>
      <p:sp>
        <p:nvSpPr>
          <p:cNvPr id="17" name="Rectangle : coins arrondis 16">
            <a:extLst>
              <a:ext uri="{FF2B5EF4-FFF2-40B4-BE49-F238E27FC236}">
                <a16:creationId xmlns:a16="http://schemas.microsoft.com/office/drawing/2014/main" id="{8580A394-A41B-6C1E-09C0-0FCEFC08CFA9}"/>
              </a:ext>
            </a:extLst>
          </p:cNvPr>
          <p:cNvSpPr/>
          <p:nvPr/>
        </p:nvSpPr>
        <p:spPr>
          <a:xfrm>
            <a:off x="5003983" y="459215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Continuer</a:t>
            </a:r>
          </a:p>
        </p:txBody>
      </p:sp>
      <p:pic>
        <p:nvPicPr>
          <p:cNvPr id="18" name="Image 17">
            <a:extLst>
              <a:ext uri="{FF2B5EF4-FFF2-40B4-BE49-F238E27FC236}">
                <a16:creationId xmlns:a16="http://schemas.microsoft.com/office/drawing/2014/main" id="{0C95CAD4-610C-39B9-4A2A-A461A5F38990}"/>
              </a:ext>
            </a:extLst>
          </p:cNvPr>
          <p:cNvPicPr>
            <a:picLocks noChangeAspect="1"/>
          </p:cNvPicPr>
          <p:nvPr/>
        </p:nvPicPr>
        <p:blipFill>
          <a:blip r:embed="rId3"/>
          <a:stretch>
            <a:fillRect/>
          </a:stretch>
        </p:blipFill>
        <p:spPr>
          <a:xfrm>
            <a:off x="338597" y="312551"/>
            <a:ext cx="1356853" cy="453356"/>
          </a:xfrm>
          <a:prstGeom prst="rect">
            <a:avLst/>
          </a:prstGeom>
        </p:spPr>
      </p:pic>
      <p:sp>
        <p:nvSpPr>
          <p:cNvPr id="19" name="Rectangle 18">
            <a:extLst>
              <a:ext uri="{FF2B5EF4-FFF2-40B4-BE49-F238E27FC236}">
                <a16:creationId xmlns:a16="http://schemas.microsoft.com/office/drawing/2014/main" id="{61F6D32B-72CA-AD9A-E55C-0FC999C94368}"/>
              </a:ext>
            </a:extLst>
          </p:cNvPr>
          <p:cNvSpPr/>
          <p:nvPr/>
        </p:nvSpPr>
        <p:spPr>
          <a:xfrm>
            <a:off x="338597" y="603852"/>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P5</a:t>
            </a:r>
          </a:p>
        </p:txBody>
      </p:sp>
      <p:sp>
        <p:nvSpPr>
          <p:cNvPr id="2" name="Rectangle 1">
            <a:extLst>
              <a:ext uri="{FF2B5EF4-FFF2-40B4-BE49-F238E27FC236}">
                <a16:creationId xmlns:a16="http://schemas.microsoft.com/office/drawing/2014/main" id="{E4DF7847-7662-767F-423B-4DAABCDA19C5}"/>
              </a:ext>
            </a:extLst>
          </p:cNvPr>
          <p:cNvSpPr/>
          <p:nvPr/>
        </p:nvSpPr>
        <p:spPr>
          <a:xfrm>
            <a:off x="220848" y="1399978"/>
            <a:ext cx="4326570" cy="45656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Lorsque le visiteur est connecté, et après avoir choisit la langue (Cf. page 3), il a droit à un questionnaire.</a:t>
            </a:r>
          </a:p>
          <a:p>
            <a:pPr algn="just"/>
            <a:r>
              <a:rPr lang="fr-FR" dirty="0"/>
              <a:t>Ce questionnaire est un formulaire simple composé de input type=radio, et d’un bouton </a:t>
            </a:r>
            <a:r>
              <a:rPr lang="fr-FR" dirty="0" err="1"/>
              <a:t>submit</a:t>
            </a:r>
            <a:r>
              <a:rPr lang="fr-FR" dirty="0"/>
              <a:t>.</a:t>
            </a:r>
          </a:p>
          <a:p>
            <a:pPr algn="just"/>
            <a:endParaRPr lang="fr-FR" dirty="0"/>
          </a:p>
          <a:p>
            <a:pPr algn="just"/>
            <a:r>
              <a:rPr lang="fr-FR" dirty="0">
                <a:highlight>
                  <a:srgbClr val="FF0000"/>
                </a:highlight>
              </a:rPr>
              <a:t>Lorsque la personne se connecte, Cf. P3, on peut indiquer qu’elle a réalisée le questionnaire, afin d’éviter qu’elle refasse le même à chaque connexion. Pour cela il faut utiliser la commande SQL UPDATE que l’on n'a pas encore vu. Tu peux tenter si tu le souhaites. Voici des instructions :</a:t>
            </a:r>
          </a:p>
          <a:p>
            <a:pPr algn="just"/>
            <a:r>
              <a:rPr lang="fr-FR" dirty="0">
                <a:highlight>
                  <a:srgbClr val="FF0000"/>
                </a:highlight>
              </a:rPr>
              <a:t>Crée ta requête ainsi : UPDATE </a:t>
            </a:r>
            <a:r>
              <a:rPr lang="fr-FR" dirty="0" err="1">
                <a:highlight>
                  <a:srgbClr val="FF0000"/>
                </a:highlight>
              </a:rPr>
              <a:t>users</a:t>
            </a:r>
            <a:r>
              <a:rPr lang="fr-FR" dirty="0">
                <a:highlight>
                  <a:srgbClr val="FF0000"/>
                </a:highlight>
              </a:rPr>
              <a:t> SET </a:t>
            </a:r>
            <a:r>
              <a:rPr lang="fr-FR" dirty="0" err="1">
                <a:highlight>
                  <a:srgbClr val="FF0000"/>
                </a:highlight>
              </a:rPr>
              <a:t>QuestionsOK</a:t>
            </a:r>
            <a:r>
              <a:rPr lang="fr-FR" dirty="0">
                <a:highlight>
                  <a:srgbClr val="FF0000"/>
                </a:highlight>
              </a:rPr>
              <a:t>=1 WHERE </a:t>
            </a:r>
            <a:r>
              <a:rPr lang="fr-FR" dirty="0" err="1">
                <a:highlight>
                  <a:srgbClr val="FF0000"/>
                </a:highlight>
              </a:rPr>
              <a:t>IdAbonne</a:t>
            </a:r>
            <a:r>
              <a:rPr lang="fr-FR" dirty="0">
                <a:highlight>
                  <a:srgbClr val="FF0000"/>
                </a:highlight>
              </a:rPr>
              <a:t>=1</a:t>
            </a:r>
          </a:p>
        </p:txBody>
      </p:sp>
      <p:sp>
        <p:nvSpPr>
          <p:cNvPr id="3" name="Rectangle 2">
            <a:extLst>
              <a:ext uri="{FF2B5EF4-FFF2-40B4-BE49-F238E27FC236}">
                <a16:creationId xmlns:a16="http://schemas.microsoft.com/office/drawing/2014/main" id="{7F89F5DD-E0A2-494F-2A97-4DAD1FA619AD}"/>
              </a:ext>
            </a:extLst>
          </p:cNvPr>
          <p:cNvSpPr/>
          <p:nvPr/>
        </p:nvSpPr>
        <p:spPr>
          <a:xfrm>
            <a:off x="5572125" y="557242"/>
            <a:ext cx="4381500" cy="9047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NB : Il n’est pas demandé de créer une table pour le questionnaire.</a:t>
            </a:r>
          </a:p>
        </p:txBody>
      </p:sp>
      <p:sp>
        <p:nvSpPr>
          <p:cNvPr id="4" name="Espace réservé du pied de page 3">
            <a:extLst>
              <a:ext uri="{FF2B5EF4-FFF2-40B4-BE49-F238E27FC236}">
                <a16:creationId xmlns:a16="http://schemas.microsoft.com/office/drawing/2014/main" id="{EA711A57-54A0-0193-4823-7242E48D0874}"/>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8BA605BC-4172-E172-2366-AE43E73BC213}"/>
              </a:ext>
            </a:extLst>
          </p:cNvPr>
          <p:cNvSpPr>
            <a:spLocks noGrp="1"/>
          </p:cNvSpPr>
          <p:nvPr>
            <p:ph type="sldNum" sz="quarter" idx="12"/>
          </p:nvPr>
        </p:nvSpPr>
        <p:spPr/>
        <p:txBody>
          <a:bodyPr/>
          <a:lstStyle/>
          <a:p>
            <a:fld id="{61A50371-3F2D-4FEF-B603-773838516A24}" type="slidenum">
              <a:rPr lang="fr-FR" smtClean="0"/>
              <a:t>33</a:t>
            </a:fld>
            <a:endParaRPr lang="fr-FR"/>
          </a:p>
        </p:txBody>
      </p:sp>
    </p:spTree>
    <p:extLst>
      <p:ext uri="{BB962C8B-B14F-4D97-AF65-F5344CB8AC3E}">
        <p14:creationId xmlns:p14="http://schemas.microsoft.com/office/powerpoint/2010/main" val="3354851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920A-9262-E4F2-84EF-05490B4B5C6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C09A753-C8EB-0DD1-63E9-F460FD2C7E36}"/>
              </a:ext>
            </a:extLst>
          </p:cNvPr>
          <p:cNvPicPr>
            <a:picLocks noChangeAspect="1"/>
          </p:cNvPicPr>
          <p:nvPr/>
        </p:nvPicPr>
        <p:blipFill>
          <a:blip r:embed="rId2"/>
          <a:srcRect l="1071" t="24762" r="27023" b="10476"/>
          <a:stretch>
            <a:fillRect/>
          </a:stretch>
        </p:blipFill>
        <p:spPr>
          <a:xfrm>
            <a:off x="1402098" y="1538514"/>
            <a:ext cx="9425558" cy="4775202"/>
          </a:xfrm>
          <a:prstGeom prst="rect">
            <a:avLst/>
          </a:prstGeom>
        </p:spPr>
      </p:pic>
      <p:pic>
        <p:nvPicPr>
          <p:cNvPr id="4" name="Image 3">
            <a:extLst>
              <a:ext uri="{FF2B5EF4-FFF2-40B4-BE49-F238E27FC236}">
                <a16:creationId xmlns:a16="http://schemas.microsoft.com/office/drawing/2014/main" id="{42EBB0D8-B4B8-6959-0851-34624BF696C3}"/>
              </a:ext>
            </a:extLst>
          </p:cNvPr>
          <p:cNvPicPr>
            <a:picLocks noChangeAspect="1"/>
          </p:cNvPicPr>
          <p:nvPr/>
        </p:nvPicPr>
        <p:blipFill>
          <a:blip r:embed="rId3"/>
          <a:stretch>
            <a:fillRect/>
          </a:stretch>
        </p:blipFill>
        <p:spPr>
          <a:xfrm>
            <a:off x="338597" y="111608"/>
            <a:ext cx="1356853" cy="453356"/>
          </a:xfrm>
          <a:prstGeom prst="rect">
            <a:avLst/>
          </a:prstGeom>
        </p:spPr>
      </p:pic>
      <p:sp>
        <p:nvSpPr>
          <p:cNvPr id="5" name="ZoneTexte 4">
            <a:extLst>
              <a:ext uri="{FF2B5EF4-FFF2-40B4-BE49-F238E27FC236}">
                <a16:creationId xmlns:a16="http://schemas.microsoft.com/office/drawing/2014/main" id="{8F2A3899-95DC-2701-79B6-D7D3B9837893}"/>
              </a:ext>
            </a:extLst>
          </p:cNvPr>
          <p:cNvSpPr txBox="1"/>
          <p:nvPr/>
        </p:nvSpPr>
        <p:spPr>
          <a:xfrm>
            <a:off x="274752" y="592899"/>
            <a:ext cx="6547077" cy="461665"/>
          </a:xfrm>
          <a:prstGeom prst="rect">
            <a:avLst/>
          </a:prstGeom>
          <a:noFill/>
        </p:spPr>
        <p:txBody>
          <a:bodyPr wrap="square" rtlCol="0">
            <a:spAutoFit/>
          </a:bodyPr>
          <a:lstStyle/>
          <a:p>
            <a:r>
              <a:rPr lang="fr-FR" sz="2400" b="1" dirty="0"/>
              <a:t>Hi </a:t>
            </a:r>
            <a:r>
              <a:rPr lang="fr-FR" sz="2400" b="1" dirty="0">
                <a:highlight>
                  <a:srgbClr val="FFFF00"/>
                </a:highlight>
              </a:rPr>
              <a:t>Stéphane</a:t>
            </a:r>
            <a:r>
              <a:rPr lang="fr-FR" sz="2400" b="1" dirty="0"/>
              <a:t> ! </a:t>
            </a:r>
            <a:r>
              <a:rPr lang="fr-FR" sz="2400" b="1" dirty="0" err="1"/>
              <a:t>welcome</a:t>
            </a:r>
            <a:r>
              <a:rPr lang="fr-FR" sz="2400" b="1" dirty="0"/>
              <a:t> to </a:t>
            </a:r>
            <a:r>
              <a:rPr lang="fr-FR" sz="2400" b="1" dirty="0" err="1"/>
              <a:t>PgI</a:t>
            </a:r>
            <a:r>
              <a:rPr lang="fr-FR" sz="2400" b="1" dirty="0"/>
              <a:t> </a:t>
            </a:r>
            <a:r>
              <a:rPr lang="fr-FR" sz="2400" b="1" dirty="0" err="1"/>
              <a:t>CuST</a:t>
            </a:r>
            <a:endParaRPr lang="fr-FR" sz="2400" b="1" dirty="0"/>
          </a:p>
        </p:txBody>
      </p:sp>
      <p:sp>
        <p:nvSpPr>
          <p:cNvPr id="6" name="ZoneTexte 5">
            <a:extLst>
              <a:ext uri="{FF2B5EF4-FFF2-40B4-BE49-F238E27FC236}">
                <a16:creationId xmlns:a16="http://schemas.microsoft.com/office/drawing/2014/main" id="{D549DC70-2F2D-AEA5-926F-B31270423056}"/>
              </a:ext>
            </a:extLst>
          </p:cNvPr>
          <p:cNvSpPr txBox="1"/>
          <p:nvPr/>
        </p:nvSpPr>
        <p:spPr>
          <a:xfrm>
            <a:off x="274752" y="973899"/>
            <a:ext cx="6547077" cy="276999"/>
          </a:xfrm>
          <a:prstGeom prst="rect">
            <a:avLst/>
          </a:prstGeom>
          <a:noFill/>
        </p:spPr>
        <p:txBody>
          <a:bodyPr wrap="square" rtlCol="0">
            <a:spAutoFit/>
          </a:bodyPr>
          <a:lstStyle/>
          <a:p>
            <a:r>
              <a:rPr lang="fr-FR" sz="1200" b="1" dirty="0" err="1"/>
              <a:t>Get</a:t>
            </a:r>
            <a:r>
              <a:rPr lang="fr-FR" sz="1200" b="1" dirty="0"/>
              <a:t> </a:t>
            </a:r>
            <a:r>
              <a:rPr lang="fr-FR" sz="1200" b="1" dirty="0" err="1"/>
              <a:t>started</a:t>
            </a:r>
            <a:r>
              <a:rPr lang="fr-FR" sz="1200" b="1" dirty="0"/>
              <a:t> </a:t>
            </a:r>
            <a:r>
              <a:rPr lang="fr-FR" sz="1200" b="1" dirty="0" err="1"/>
              <a:t>with</a:t>
            </a:r>
            <a:r>
              <a:rPr lang="fr-FR" sz="1200" b="1" dirty="0"/>
              <a:t> </a:t>
            </a:r>
            <a:r>
              <a:rPr lang="fr-FR" sz="1200" b="1" dirty="0" err="1"/>
              <a:t>Pgi</a:t>
            </a:r>
            <a:r>
              <a:rPr lang="fr-FR" sz="1200" b="1" dirty="0"/>
              <a:t> and courses for use AI.</a:t>
            </a:r>
          </a:p>
        </p:txBody>
      </p:sp>
      <p:sp>
        <p:nvSpPr>
          <p:cNvPr id="7" name="Rectangle 6">
            <a:extLst>
              <a:ext uri="{FF2B5EF4-FFF2-40B4-BE49-F238E27FC236}">
                <a16:creationId xmlns:a16="http://schemas.microsoft.com/office/drawing/2014/main" id="{7D249B39-646E-E054-F032-3D0D6CDD2DA9}"/>
              </a:ext>
            </a:extLst>
          </p:cNvPr>
          <p:cNvSpPr/>
          <p:nvPr/>
        </p:nvSpPr>
        <p:spPr>
          <a:xfrm>
            <a:off x="3476625" y="75857"/>
            <a:ext cx="472621" cy="5048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P6</a:t>
            </a:r>
          </a:p>
        </p:txBody>
      </p:sp>
      <p:sp>
        <p:nvSpPr>
          <p:cNvPr id="2" name="Rectangle 1">
            <a:extLst>
              <a:ext uri="{FF2B5EF4-FFF2-40B4-BE49-F238E27FC236}">
                <a16:creationId xmlns:a16="http://schemas.microsoft.com/office/drawing/2014/main" id="{74436039-EB2D-5415-1775-02991638695C}"/>
              </a:ext>
            </a:extLst>
          </p:cNvPr>
          <p:cNvSpPr/>
          <p:nvPr/>
        </p:nvSpPr>
        <p:spPr>
          <a:xfrm>
            <a:off x="995498" y="2286637"/>
            <a:ext cx="5434873" cy="272224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dirty="0"/>
              <a:t>Facultatif : Un tout petit peu compliqué, qui peut se faire avec $_POST ou $_GET, lorsque le formulaire de connexion est validé, il conserve soit sur la barre d’adresse ou autre… le prénom de la personne.</a:t>
            </a:r>
          </a:p>
          <a:p>
            <a:pPr algn="just"/>
            <a:r>
              <a:rPr lang="fr-FR" dirty="0" err="1"/>
              <a:t>Cer</a:t>
            </a:r>
            <a:r>
              <a:rPr lang="fr-FR" dirty="0"/>
              <a:t> qui permet de souhaitez la bienvenue avec le prénom de la personne.</a:t>
            </a:r>
          </a:p>
        </p:txBody>
      </p:sp>
      <p:cxnSp>
        <p:nvCxnSpPr>
          <p:cNvPr id="9" name="Connecteur droit avec flèche 8">
            <a:extLst>
              <a:ext uri="{FF2B5EF4-FFF2-40B4-BE49-F238E27FC236}">
                <a16:creationId xmlns:a16="http://schemas.microsoft.com/office/drawing/2014/main" id="{1E02CD7A-59A0-F5ED-8AA3-640075AE0687}"/>
              </a:ext>
            </a:extLst>
          </p:cNvPr>
          <p:cNvCxnSpPr/>
          <p:nvPr/>
        </p:nvCxnSpPr>
        <p:spPr>
          <a:xfrm flipH="1" flipV="1">
            <a:off x="1290320" y="973899"/>
            <a:ext cx="751840" cy="146450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 name="Espace réservé du pied de page 7">
            <a:extLst>
              <a:ext uri="{FF2B5EF4-FFF2-40B4-BE49-F238E27FC236}">
                <a16:creationId xmlns:a16="http://schemas.microsoft.com/office/drawing/2014/main" id="{2B1B3865-458A-9DA0-4B1D-0F2643062C17}"/>
              </a:ext>
            </a:extLst>
          </p:cNvPr>
          <p:cNvSpPr>
            <a:spLocks noGrp="1"/>
          </p:cNvSpPr>
          <p:nvPr>
            <p:ph type="ftr" sz="quarter" idx="11"/>
          </p:nvPr>
        </p:nvSpPr>
        <p:spPr/>
        <p:txBody>
          <a:bodyPr/>
          <a:lstStyle/>
          <a:p>
            <a:r>
              <a:rPr lang="fr-FR"/>
              <a:t>Evaluaiton avec un micro projet HTML-CSS</a:t>
            </a:r>
          </a:p>
        </p:txBody>
      </p:sp>
      <p:sp>
        <p:nvSpPr>
          <p:cNvPr id="10" name="Espace réservé du numéro de diapositive 9">
            <a:extLst>
              <a:ext uri="{FF2B5EF4-FFF2-40B4-BE49-F238E27FC236}">
                <a16:creationId xmlns:a16="http://schemas.microsoft.com/office/drawing/2014/main" id="{17DCDCCB-3235-B398-0556-24746AA05B92}"/>
              </a:ext>
            </a:extLst>
          </p:cNvPr>
          <p:cNvSpPr>
            <a:spLocks noGrp="1"/>
          </p:cNvSpPr>
          <p:nvPr>
            <p:ph type="sldNum" sz="quarter" idx="12"/>
          </p:nvPr>
        </p:nvSpPr>
        <p:spPr/>
        <p:txBody>
          <a:bodyPr/>
          <a:lstStyle/>
          <a:p>
            <a:fld id="{61A50371-3F2D-4FEF-B603-773838516A24}" type="slidenum">
              <a:rPr lang="fr-FR" smtClean="0"/>
              <a:t>34</a:t>
            </a:fld>
            <a:endParaRPr lang="fr-FR"/>
          </a:p>
        </p:txBody>
      </p:sp>
    </p:spTree>
    <p:extLst>
      <p:ext uri="{BB962C8B-B14F-4D97-AF65-F5344CB8AC3E}">
        <p14:creationId xmlns:p14="http://schemas.microsoft.com/office/powerpoint/2010/main" val="1797991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F56EAD-C00B-7474-1BF5-959F81EE0A9D}"/>
              </a:ext>
            </a:extLst>
          </p:cNvPr>
          <p:cNvSpPr>
            <a:spLocks noGrp="1"/>
          </p:cNvSpPr>
          <p:nvPr>
            <p:ph type="title"/>
          </p:nvPr>
        </p:nvSpPr>
        <p:spPr/>
        <p:txBody>
          <a:bodyPr/>
          <a:lstStyle/>
          <a:p>
            <a:r>
              <a:rPr lang="fr-FR" dirty="0"/>
              <a:t>QCM vocabulaire 1.0</a:t>
            </a:r>
          </a:p>
        </p:txBody>
      </p:sp>
      <p:sp>
        <p:nvSpPr>
          <p:cNvPr id="3" name="Espace réservé du texte 2">
            <a:extLst>
              <a:ext uri="{FF2B5EF4-FFF2-40B4-BE49-F238E27FC236}">
                <a16:creationId xmlns:a16="http://schemas.microsoft.com/office/drawing/2014/main" id="{6E1D6CED-9DD9-88A2-AA4A-BD3431763E15}"/>
              </a:ext>
            </a:extLst>
          </p:cNvPr>
          <p:cNvSpPr>
            <a:spLocks noGrp="1"/>
          </p:cNvSpPr>
          <p:nvPr>
            <p:ph type="body" idx="1"/>
          </p:nvPr>
        </p:nvSpPr>
        <p:spPr>
          <a:xfrm>
            <a:off x="831850" y="4589463"/>
            <a:ext cx="10515600" cy="915987"/>
          </a:xfrm>
        </p:spPr>
        <p:txBody>
          <a:bodyPr/>
          <a:lstStyle/>
          <a:p>
            <a:r>
              <a:rPr lang="fr-FR" dirty="0"/>
              <a:t>Que tu sois niveau 1 développeur ou 3, réponds au questionnaire ci-après, en créant un formulaire de réponse.</a:t>
            </a:r>
          </a:p>
        </p:txBody>
      </p:sp>
      <p:sp>
        <p:nvSpPr>
          <p:cNvPr id="4" name="Rectangle 3">
            <a:extLst>
              <a:ext uri="{FF2B5EF4-FFF2-40B4-BE49-F238E27FC236}">
                <a16:creationId xmlns:a16="http://schemas.microsoft.com/office/drawing/2014/main" id="{F28F43D5-8B5F-C522-BA46-1134247E8DEA}"/>
              </a:ext>
            </a:extLst>
          </p:cNvPr>
          <p:cNvSpPr/>
          <p:nvPr/>
        </p:nvSpPr>
        <p:spPr>
          <a:xfrm>
            <a:off x="1290637" y="800100"/>
            <a:ext cx="9610725" cy="1819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PS : N’oublie pas qu’il est important de le faire seul(e) et idéalement sans l’aide d’internet.</a:t>
            </a:r>
          </a:p>
          <a:p>
            <a:pPr algn="ctr"/>
            <a:r>
              <a:rPr lang="fr-FR" dirty="0"/>
              <a:t>N’oublie pas qu’ç ton examen oral tu seras aussi seul(e) devant les jurys.</a:t>
            </a:r>
          </a:p>
          <a:p>
            <a:pPr algn="ctr"/>
            <a:r>
              <a:rPr lang="fr-FR" dirty="0"/>
              <a:t>En répondant à ces questions tu commences à peaufiner ta culture informatique…</a:t>
            </a:r>
          </a:p>
        </p:txBody>
      </p:sp>
      <p:sp>
        <p:nvSpPr>
          <p:cNvPr id="5" name="Espace réservé du pied de page 4">
            <a:extLst>
              <a:ext uri="{FF2B5EF4-FFF2-40B4-BE49-F238E27FC236}">
                <a16:creationId xmlns:a16="http://schemas.microsoft.com/office/drawing/2014/main" id="{5887A50E-45A9-1A76-78F3-06C44DD092FF}"/>
              </a:ext>
            </a:extLst>
          </p:cNvPr>
          <p:cNvSpPr>
            <a:spLocks noGrp="1"/>
          </p:cNvSpPr>
          <p:nvPr>
            <p:ph type="ftr" sz="quarter" idx="11"/>
          </p:nvPr>
        </p:nvSpPr>
        <p:spPr/>
        <p:txBody>
          <a:bodyPr/>
          <a:lstStyle/>
          <a:p>
            <a:r>
              <a:rPr lang="fr-FR"/>
              <a:t>Evaluaiton avec un micro projet HTML-CSS</a:t>
            </a:r>
          </a:p>
        </p:txBody>
      </p:sp>
      <p:sp>
        <p:nvSpPr>
          <p:cNvPr id="6" name="Espace réservé du numéro de diapositive 5">
            <a:extLst>
              <a:ext uri="{FF2B5EF4-FFF2-40B4-BE49-F238E27FC236}">
                <a16:creationId xmlns:a16="http://schemas.microsoft.com/office/drawing/2014/main" id="{3D86A6EB-53B0-980C-73F6-E57BBF6486E5}"/>
              </a:ext>
            </a:extLst>
          </p:cNvPr>
          <p:cNvSpPr>
            <a:spLocks noGrp="1"/>
          </p:cNvSpPr>
          <p:nvPr>
            <p:ph type="sldNum" sz="quarter" idx="12"/>
          </p:nvPr>
        </p:nvSpPr>
        <p:spPr/>
        <p:txBody>
          <a:bodyPr/>
          <a:lstStyle/>
          <a:p>
            <a:fld id="{61A50371-3F2D-4FEF-B603-773838516A24}" type="slidenum">
              <a:rPr lang="fr-FR" smtClean="0"/>
              <a:t>35</a:t>
            </a:fld>
            <a:endParaRPr lang="fr-FR"/>
          </a:p>
        </p:txBody>
      </p:sp>
    </p:spTree>
    <p:extLst>
      <p:ext uri="{BB962C8B-B14F-4D97-AF65-F5344CB8AC3E}">
        <p14:creationId xmlns:p14="http://schemas.microsoft.com/office/powerpoint/2010/main" val="4280289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D0D89E-7C2C-7850-DC37-9C35FEDDECE4}"/>
              </a:ext>
            </a:extLst>
          </p:cNvPr>
          <p:cNvSpPr>
            <a:spLocks noGrp="1"/>
          </p:cNvSpPr>
          <p:nvPr>
            <p:ph type="title"/>
          </p:nvPr>
        </p:nvSpPr>
        <p:spPr/>
        <p:txBody>
          <a:bodyPr/>
          <a:lstStyle/>
          <a:p>
            <a:r>
              <a:rPr lang="fr-FR" dirty="0"/>
              <a:t>Crée un formulaire…</a:t>
            </a:r>
          </a:p>
        </p:txBody>
      </p:sp>
      <p:sp>
        <p:nvSpPr>
          <p:cNvPr id="3" name="Espace réservé du contenu 2">
            <a:extLst>
              <a:ext uri="{FF2B5EF4-FFF2-40B4-BE49-F238E27FC236}">
                <a16:creationId xmlns:a16="http://schemas.microsoft.com/office/drawing/2014/main" id="{7F16D477-87F5-3BA2-37CD-5200621B0210}"/>
              </a:ext>
            </a:extLst>
          </p:cNvPr>
          <p:cNvSpPr>
            <a:spLocks noGrp="1"/>
          </p:cNvSpPr>
          <p:nvPr>
            <p:ph idx="1"/>
          </p:nvPr>
        </p:nvSpPr>
        <p:spPr>
          <a:xfrm>
            <a:off x="723900" y="1595438"/>
            <a:ext cx="5086349" cy="4351338"/>
          </a:xfrm>
        </p:spPr>
        <p:txBody>
          <a:bodyPr>
            <a:normAutofit fontScale="77500" lnSpcReduction="20000"/>
          </a:bodyPr>
          <a:lstStyle/>
          <a:p>
            <a:pPr algn="just"/>
            <a:r>
              <a:rPr lang="fr-FR" sz="2400" dirty="0"/>
              <a:t>Dans lequel tu stockeras ta réponse aux questions du QCM dans un </a:t>
            </a:r>
            <a:r>
              <a:rPr lang="fr-FR" sz="2400" dirty="0" err="1"/>
              <a:t>textaera</a:t>
            </a:r>
            <a:r>
              <a:rPr lang="fr-FR" sz="2400" dirty="0"/>
              <a:t>.</a:t>
            </a:r>
          </a:p>
          <a:p>
            <a:pPr algn="just"/>
            <a:r>
              <a:rPr lang="fr-FR" sz="2400" dirty="0"/>
              <a:t>N’oublie pas que dans ce formulaire du stockeras ton nom ton prénom,</a:t>
            </a:r>
          </a:p>
          <a:p>
            <a:pPr algn="just"/>
            <a:r>
              <a:rPr lang="fr-FR" sz="2400" dirty="0"/>
              <a:t>Il n’est pas nécessaire de faire du CSS sur ce formulaire,</a:t>
            </a:r>
          </a:p>
          <a:p>
            <a:pPr algn="just"/>
            <a:r>
              <a:rPr lang="fr-FR" sz="2400" dirty="0"/>
              <a:t>Tu l’enverras sur ma boite de messagerie.</a:t>
            </a:r>
          </a:p>
          <a:p>
            <a:pPr algn="just"/>
            <a:r>
              <a:rPr lang="fr-FR" sz="2400" dirty="0"/>
              <a:t>Ce formulaire n’a pas besoin d’un bouton </a:t>
            </a:r>
            <a:r>
              <a:rPr lang="fr-FR" sz="2400" dirty="0" err="1"/>
              <a:t>submit</a:t>
            </a:r>
            <a:r>
              <a:rPr lang="fr-FR" sz="2400" dirty="0"/>
              <a:t>,</a:t>
            </a:r>
          </a:p>
          <a:p>
            <a:pPr algn="just"/>
            <a:r>
              <a:rPr lang="fr-FR" sz="2400" dirty="0"/>
              <a:t>Pour stocker dans un input, ajouter l’attribut value, exemple :</a:t>
            </a:r>
          </a:p>
          <a:p>
            <a:pPr algn="just"/>
            <a:r>
              <a:rPr lang="fr-FR" sz="2400" dirty="0"/>
              <a:t>&lt;input type=</a:t>
            </a:r>
            <a:r>
              <a:rPr lang="fr-FR" sz="2400" dirty="0" err="1"/>
              <a:t>text</a:t>
            </a:r>
            <a:r>
              <a:rPr lang="fr-FR" sz="2400" dirty="0"/>
              <a:t> value=‘Mon nom’&gt;</a:t>
            </a:r>
          </a:p>
          <a:p>
            <a:pPr algn="just"/>
            <a:r>
              <a:rPr lang="fr-FR" sz="2400" dirty="0"/>
              <a:t>Pour stocker dans un </a:t>
            </a:r>
            <a:r>
              <a:rPr lang="fr-FR" sz="2400" dirty="0" err="1"/>
              <a:t>textaera</a:t>
            </a:r>
            <a:r>
              <a:rPr lang="fr-FR" sz="2400" dirty="0"/>
              <a:t>, mettre entre la balise ouvrante et la balise fermante le texte de votre réponse. Exemple : &lt;</a:t>
            </a:r>
            <a:r>
              <a:rPr lang="fr-FR" sz="2400" dirty="0" err="1"/>
              <a:t>textaera</a:t>
            </a:r>
            <a:r>
              <a:rPr lang="fr-FR" sz="2400" dirty="0"/>
              <a:t> cols=‘, rows=‘’&gt;Ma réponse&lt;/</a:t>
            </a:r>
            <a:r>
              <a:rPr lang="fr-FR" sz="2400" dirty="0" err="1"/>
              <a:t>textaera</a:t>
            </a:r>
            <a:r>
              <a:rPr lang="fr-FR" sz="2400" dirty="0"/>
              <a:t>&gt;</a:t>
            </a:r>
          </a:p>
          <a:p>
            <a:pPr marL="0" indent="0" algn="just">
              <a:buNone/>
            </a:pPr>
            <a:endParaRPr lang="fr-FR" sz="2400" dirty="0"/>
          </a:p>
        </p:txBody>
      </p:sp>
      <p:sp>
        <p:nvSpPr>
          <p:cNvPr id="4" name="Rectangle 3">
            <a:extLst>
              <a:ext uri="{FF2B5EF4-FFF2-40B4-BE49-F238E27FC236}">
                <a16:creationId xmlns:a16="http://schemas.microsoft.com/office/drawing/2014/main" id="{1FACA435-E1C3-41BD-45B8-4BBC719E7ED2}"/>
              </a:ext>
            </a:extLst>
          </p:cNvPr>
          <p:cNvSpPr/>
          <p:nvPr/>
        </p:nvSpPr>
        <p:spPr>
          <a:xfrm>
            <a:off x="6096000" y="1381125"/>
            <a:ext cx="5543550" cy="4838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Rectangle 4">
            <a:extLst>
              <a:ext uri="{FF2B5EF4-FFF2-40B4-BE49-F238E27FC236}">
                <a16:creationId xmlns:a16="http://schemas.microsoft.com/office/drawing/2014/main" id="{CFF14D75-D0A4-4767-D62E-268FEB1A0C6F}"/>
              </a:ext>
            </a:extLst>
          </p:cNvPr>
          <p:cNvSpPr/>
          <p:nvPr/>
        </p:nvSpPr>
        <p:spPr>
          <a:xfrm>
            <a:off x="6334125" y="1990725"/>
            <a:ext cx="2133600" cy="36195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Nom</a:t>
            </a:r>
          </a:p>
        </p:txBody>
      </p:sp>
      <p:sp>
        <p:nvSpPr>
          <p:cNvPr id="6" name="Rectangle 5">
            <a:extLst>
              <a:ext uri="{FF2B5EF4-FFF2-40B4-BE49-F238E27FC236}">
                <a16:creationId xmlns:a16="http://schemas.microsoft.com/office/drawing/2014/main" id="{04855A12-A695-C7D6-9F26-A920E6857D50}"/>
              </a:ext>
            </a:extLst>
          </p:cNvPr>
          <p:cNvSpPr/>
          <p:nvPr/>
        </p:nvSpPr>
        <p:spPr>
          <a:xfrm>
            <a:off x="8582024" y="1990725"/>
            <a:ext cx="2133600" cy="36195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Prénom</a:t>
            </a:r>
          </a:p>
        </p:txBody>
      </p:sp>
      <p:sp>
        <p:nvSpPr>
          <p:cNvPr id="7" name="ZoneTexte 6">
            <a:extLst>
              <a:ext uri="{FF2B5EF4-FFF2-40B4-BE49-F238E27FC236}">
                <a16:creationId xmlns:a16="http://schemas.microsoft.com/office/drawing/2014/main" id="{29A7C705-B479-CC2B-46A6-880AC722DF22}"/>
              </a:ext>
            </a:extLst>
          </p:cNvPr>
          <p:cNvSpPr txBox="1"/>
          <p:nvPr/>
        </p:nvSpPr>
        <p:spPr>
          <a:xfrm>
            <a:off x="6210301" y="2543175"/>
            <a:ext cx="3724274" cy="369332"/>
          </a:xfrm>
          <a:prstGeom prst="rect">
            <a:avLst/>
          </a:prstGeom>
          <a:noFill/>
        </p:spPr>
        <p:txBody>
          <a:bodyPr wrap="square" rtlCol="0">
            <a:spAutoFit/>
          </a:bodyPr>
          <a:lstStyle/>
          <a:p>
            <a:r>
              <a:rPr lang="fr-FR" b="1" dirty="0">
                <a:solidFill>
                  <a:schemeClr val="bg1"/>
                </a:solidFill>
              </a:rPr>
              <a:t>1. Qu’est-ce qu’un ordinateur ?</a:t>
            </a:r>
          </a:p>
        </p:txBody>
      </p:sp>
      <p:sp>
        <p:nvSpPr>
          <p:cNvPr id="8" name="Rectangle 7">
            <a:extLst>
              <a:ext uri="{FF2B5EF4-FFF2-40B4-BE49-F238E27FC236}">
                <a16:creationId xmlns:a16="http://schemas.microsoft.com/office/drawing/2014/main" id="{D62BE5D5-23B3-F9D6-DF41-16378D264D7B}"/>
              </a:ext>
            </a:extLst>
          </p:cNvPr>
          <p:cNvSpPr/>
          <p:nvPr/>
        </p:nvSpPr>
        <p:spPr>
          <a:xfrm>
            <a:off x="6334125" y="3006725"/>
            <a:ext cx="4495800" cy="75565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Un ordinateur est une unité qui permet de travailler avec internet et de concevoir des sites internet pour les utilisateurs</a:t>
            </a:r>
          </a:p>
        </p:txBody>
      </p:sp>
      <p:sp>
        <p:nvSpPr>
          <p:cNvPr id="9" name="Rectangle 8">
            <a:extLst>
              <a:ext uri="{FF2B5EF4-FFF2-40B4-BE49-F238E27FC236}">
                <a16:creationId xmlns:a16="http://schemas.microsoft.com/office/drawing/2014/main" id="{01C79C42-69F4-47E2-1737-19FC474C980F}"/>
              </a:ext>
            </a:extLst>
          </p:cNvPr>
          <p:cNvSpPr/>
          <p:nvPr/>
        </p:nvSpPr>
        <p:spPr>
          <a:xfrm>
            <a:off x="9267825" y="1181100"/>
            <a:ext cx="2371725" cy="41433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dirty="0"/>
              <a:t>Exemple</a:t>
            </a:r>
          </a:p>
        </p:txBody>
      </p:sp>
      <p:sp>
        <p:nvSpPr>
          <p:cNvPr id="10" name="Espace réservé du pied de page 9">
            <a:extLst>
              <a:ext uri="{FF2B5EF4-FFF2-40B4-BE49-F238E27FC236}">
                <a16:creationId xmlns:a16="http://schemas.microsoft.com/office/drawing/2014/main" id="{F8CF76F8-BFFD-CD8F-8D2A-C23173B466C7}"/>
              </a:ext>
            </a:extLst>
          </p:cNvPr>
          <p:cNvSpPr>
            <a:spLocks noGrp="1"/>
          </p:cNvSpPr>
          <p:nvPr>
            <p:ph type="ftr" sz="quarter" idx="11"/>
          </p:nvPr>
        </p:nvSpPr>
        <p:spPr/>
        <p:txBody>
          <a:bodyPr/>
          <a:lstStyle/>
          <a:p>
            <a:r>
              <a:rPr lang="fr-FR"/>
              <a:t>Evaluaiton avec un micro projet HTML-CSS</a:t>
            </a:r>
          </a:p>
        </p:txBody>
      </p:sp>
      <p:sp>
        <p:nvSpPr>
          <p:cNvPr id="11" name="Espace réservé du numéro de diapositive 10">
            <a:extLst>
              <a:ext uri="{FF2B5EF4-FFF2-40B4-BE49-F238E27FC236}">
                <a16:creationId xmlns:a16="http://schemas.microsoft.com/office/drawing/2014/main" id="{45563578-274D-B27F-C59E-B7CF24D44BDA}"/>
              </a:ext>
            </a:extLst>
          </p:cNvPr>
          <p:cNvSpPr>
            <a:spLocks noGrp="1"/>
          </p:cNvSpPr>
          <p:nvPr>
            <p:ph type="sldNum" sz="quarter" idx="12"/>
          </p:nvPr>
        </p:nvSpPr>
        <p:spPr/>
        <p:txBody>
          <a:bodyPr/>
          <a:lstStyle/>
          <a:p>
            <a:fld id="{61A50371-3F2D-4FEF-B603-773838516A24}" type="slidenum">
              <a:rPr lang="fr-FR" smtClean="0"/>
              <a:t>36</a:t>
            </a:fld>
            <a:endParaRPr lang="fr-FR"/>
          </a:p>
        </p:txBody>
      </p:sp>
    </p:spTree>
    <p:extLst>
      <p:ext uri="{BB962C8B-B14F-4D97-AF65-F5344CB8AC3E}">
        <p14:creationId xmlns:p14="http://schemas.microsoft.com/office/powerpoint/2010/main" val="34412904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7654B-CD3C-E61C-84A7-C6118DE71863}"/>
              </a:ext>
            </a:extLst>
          </p:cNvPr>
          <p:cNvSpPr>
            <a:spLocks noGrp="1"/>
          </p:cNvSpPr>
          <p:nvPr>
            <p:ph type="title"/>
          </p:nvPr>
        </p:nvSpPr>
        <p:spPr/>
        <p:txBody>
          <a:bodyPr/>
          <a:lstStyle/>
          <a:p>
            <a:r>
              <a:rPr lang="fr-FR" dirty="0"/>
              <a:t>1. Qu’est-ce et à quoi sert un ordinateur ?</a:t>
            </a:r>
          </a:p>
        </p:txBody>
      </p:sp>
      <p:sp>
        <p:nvSpPr>
          <p:cNvPr id="3" name="Espace réservé du contenu 2">
            <a:extLst>
              <a:ext uri="{FF2B5EF4-FFF2-40B4-BE49-F238E27FC236}">
                <a16:creationId xmlns:a16="http://schemas.microsoft.com/office/drawing/2014/main" id="{58A1459B-1488-A872-8D31-3983FC2B6740}"/>
              </a:ext>
            </a:extLst>
          </p:cNvPr>
          <p:cNvSpPr>
            <a:spLocks noGrp="1"/>
          </p:cNvSpPr>
          <p:nvPr>
            <p:ph idx="1"/>
          </p:nvPr>
        </p:nvSpPr>
        <p:spPr/>
        <p:txBody>
          <a:bodyPr/>
          <a:lstStyle/>
          <a:p>
            <a:pPr algn="just">
              <a:buFont typeface="Wingdings" panose="05000000000000000000" pitchFamily="2" charset="2"/>
              <a:buChar char="q"/>
            </a:pPr>
            <a:r>
              <a:rPr lang="fr-FR" dirty="0"/>
              <a:t>Un ordinateur est une unité qui permet de travailler avec internet et de concevoir des sites internet pour les utilisateurs,</a:t>
            </a:r>
          </a:p>
          <a:p>
            <a:pPr algn="just">
              <a:buFont typeface="Wingdings" panose="05000000000000000000" pitchFamily="2" charset="2"/>
              <a:buChar char="q"/>
            </a:pPr>
            <a:r>
              <a:rPr lang="fr-FR" dirty="0"/>
              <a:t>Un ordinateur est composé de différents périphériques internes et externes, tels que claviers, souris, écran etc.</a:t>
            </a:r>
          </a:p>
          <a:p>
            <a:pPr algn="just">
              <a:buFont typeface="Wingdings" panose="05000000000000000000" pitchFamily="2" charset="2"/>
              <a:buChar char="q"/>
            </a:pPr>
            <a:r>
              <a:rPr lang="fr-FR" dirty="0"/>
              <a:t>Un ordinateur est composé d’une tour de travail qui permet aux développeurs de travailler facilement et rapidement.</a:t>
            </a:r>
          </a:p>
        </p:txBody>
      </p:sp>
      <p:grpSp>
        <p:nvGrpSpPr>
          <p:cNvPr id="6" name="Groupe 5">
            <a:extLst>
              <a:ext uri="{FF2B5EF4-FFF2-40B4-BE49-F238E27FC236}">
                <a16:creationId xmlns:a16="http://schemas.microsoft.com/office/drawing/2014/main" id="{52310477-C2FC-FE92-193A-C63F676119A8}"/>
              </a:ext>
            </a:extLst>
          </p:cNvPr>
          <p:cNvGrpSpPr/>
          <p:nvPr/>
        </p:nvGrpSpPr>
        <p:grpSpPr>
          <a:xfrm>
            <a:off x="9743438" y="38580"/>
            <a:ext cx="1244284" cy="518160"/>
            <a:chOff x="8600438" y="38580"/>
            <a:chExt cx="1244284" cy="518160"/>
          </a:xfrm>
        </p:grpSpPr>
        <p:sp>
          <p:nvSpPr>
            <p:cNvPr id="4" name="Rectangle 3">
              <a:extLst>
                <a:ext uri="{FF2B5EF4-FFF2-40B4-BE49-F238E27FC236}">
                  <a16:creationId xmlns:a16="http://schemas.microsoft.com/office/drawing/2014/main" id="{4BF02A9D-C536-40A1-51F9-B7076A8DE5C0}"/>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1pt</a:t>
              </a:r>
            </a:p>
          </p:txBody>
        </p:sp>
        <p:sp>
          <p:nvSpPr>
            <p:cNvPr id="5" name="Rectangle 4">
              <a:extLst>
                <a:ext uri="{FF2B5EF4-FFF2-40B4-BE49-F238E27FC236}">
                  <a16:creationId xmlns:a16="http://schemas.microsoft.com/office/drawing/2014/main" id="{59EA46FC-1ACF-9115-5568-6CB08B53511C}"/>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0AB2E8A5-48BE-F584-4313-6E88EC7CBCE8}"/>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11EC45E0-E59C-1D79-920C-4052656A6F49}"/>
              </a:ext>
            </a:extLst>
          </p:cNvPr>
          <p:cNvSpPr>
            <a:spLocks noGrp="1"/>
          </p:cNvSpPr>
          <p:nvPr>
            <p:ph type="sldNum" sz="quarter" idx="12"/>
          </p:nvPr>
        </p:nvSpPr>
        <p:spPr/>
        <p:txBody>
          <a:bodyPr/>
          <a:lstStyle/>
          <a:p>
            <a:fld id="{681DAA27-3CEF-4994-B97D-0830B1A16037}" type="slidenum">
              <a:rPr lang="fr-FR" smtClean="0"/>
              <a:t>37</a:t>
            </a:fld>
            <a:endParaRPr lang="fr-FR"/>
          </a:p>
        </p:txBody>
      </p:sp>
    </p:spTree>
    <p:extLst>
      <p:ext uri="{BB962C8B-B14F-4D97-AF65-F5344CB8AC3E}">
        <p14:creationId xmlns:p14="http://schemas.microsoft.com/office/powerpoint/2010/main" val="1508561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3DC8D-991D-C31E-0B01-10202D9F8F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7D15E93-5A0E-4F19-B07E-393D6A0DB2EE}"/>
              </a:ext>
            </a:extLst>
          </p:cNvPr>
          <p:cNvSpPr>
            <a:spLocks noGrp="1"/>
          </p:cNvSpPr>
          <p:nvPr>
            <p:ph type="title"/>
          </p:nvPr>
        </p:nvSpPr>
        <p:spPr/>
        <p:txBody>
          <a:bodyPr/>
          <a:lstStyle/>
          <a:p>
            <a:r>
              <a:rPr lang="fr-FR" dirty="0"/>
              <a:t>2. Qu’est-ce et à quoi sert un ordinateur ?</a:t>
            </a:r>
          </a:p>
        </p:txBody>
      </p:sp>
      <p:sp>
        <p:nvSpPr>
          <p:cNvPr id="3" name="Espace réservé du contenu 2">
            <a:extLst>
              <a:ext uri="{FF2B5EF4-FFF2-40B4-BE49-F238E27FC236}">
                <a16:creationId xmlns:a16="http://schemas.microsoft.com/office/drawing/2014/main" id="{5EB8BCDE-69FF-A9AE-D8E2-5A8466A20C23}"/>
              </a:ext>
            </a:extLst>
          </p:cNvPr>
          <p:cNvSpPr>
            <a:spLocks noGrp="1"/>
          </p:cNvSpPr>
          <p:nvPr>
            <p:ph idx="1"/>
          </p:nvPr>
        </p:nvSpPr>
        <p:spPr/>
        <p:txBody>
          <a:bodyPr/>
          <a:lstStyle/>
          <a:p>
            <a:pPr algn="just">
              <a:buFont typeface="Wingdings" panose="05000000000000000000" pitchFamily="2" charset="2"/>
              <a:buChar char="q"/>
            </a:pPr>
            <a:r>
              <a:rPr lang="fr-FR" dirty="0"/>
              <a:t>Un ordinateur permet le travail sur le réseau si on a internet, c’est évident. Un développeur à besoin de ça pour travailler</a:t>
            </a:r>
          </a:p>
          <a:p>
            <a:pPr algn="just">
              <a:buFont typeface="Wingdings" panose="05000000000000000000" pitchFamily="2" charset="2"/>
              <a:buChar char="q"/>
            </a:pPr>
            <a:r>
              <a:rPr lang="fr-FR" dirty="0"/>
              <a:t>Un ordinateur permet le travail en IP local comme en IP étendu, idéalement avec l’accès à internet</a:t>
            </a:r>
          </a:p>
          <a:p>
            <a:pPr algn="just">
              <a:buFont typeface="Wingdings" panose="05000000000000000000" pitchFamily="2" charset="2"/>
              <a:buChar char="q"/>
            </a:pPr>
            <a:r>
              <a:rPr lang="fr-FR" dirty="0"/>
              <a:t>Un ordinateur est un poste de déploiement pour concevoir  son site internet</a:t>
            </a:r>
          </a:p>
          <a:p>
            <a:pPr algn="just">
              <a:buFont typeface="Wingdings" panose="05000000000000000000" pitchFamily="2" charset="2"/>
              <a:buChar char="q"/>
            </a:pPr>
            <a:r>
              <a:rPr lang="fr-FR" dirty="0"/>
              <a:t>Un ordinateur est un poste de développement pour concevoir son site internet</a:t>
            </a:r>
          </a:p>
        </p:txBody>
      </p:sp>
      <p:grpSp>
        <p:nvGrpSpPr>
          <p:cNvPr id="4" name="Groupe 3">
            <a:extLst>
              <a:ext uri="{FF2B5EF4-FFF2-40B4-BE49-F238E27FC236}">
                <a16:creationId xmlns:a16="http://schemas.microsoft.com/office/drawing/2014/main" id="{26A5180B-6EE8-444B-808C-FF414B4D8E9B}"/>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92E86863-2C5F-EFF1-626C-0A7633EB7EDA}"/>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2pts</a:t>
              </a:r>
            </a:p>
          </p:txBody>
        </p:sp>
        <p:sp>
          <p:nvSpPr>
            <p:cNvPr id="6" name="Rectangle 5">
              <a:extLst>
                <a:ext uri="{FF2B5EF4-FFF2-40B4-BE49-F238E27FC236}">
                  <a16:creationId xmlns:a16="http://schemas.microsoft.com/office/drawing/2014/main" id="{67C6A1AF-A874-F6A6-248C-BCDD401BDE54}"/>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4D4897CE-54C6-0CBD-5153-4CCD219F1201}"/>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2A75E286-1D65-4C75-9AE2-2591F54BF3A7}"/>
              </a:ext>
            </a:extLst>
          </p:cNvPr>
          <p:cNvSpPr>
            <a:spLocks noGrp="1"/>
          </p:cNvSpPr>
          <p:nvPr>
            <p:ph type="sldNum" sz="quarter" idx="12"/>
          </p:nvPr>
        </p:nvSpPr>
        <p:spPr/>
        <p:txBody>
          <a:bodyPr/>
          <a:lstStyle/>
          <a:p>
            <a:fld id="{681DAA27-3CEF-4994-B97D-0830B1A16037}" type="slidenum">
              <a:rPr lang="fr-FR" smtClean="0"/>
              <a:t>38</a:t>
            </a:fld>
            <a:endParaRPr lang="fr-FR"/>
          </a:p>
        </p:txBody>
      </p:sp>
    </p:spTree>
    <p:extLst>
      <p:ext uri="{BB962C8B-B14F-4D97-AF65-F5344CB8AC3E}">
        <p14:creationId xmlns:p14="http://schemas.microsoft.com/office/powerpoint/2010/main" val="21086913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4162-60A4-33E3-7F5A-536CF6CB54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FCD42E0-E6A9-5BA0-DEA7-A5687BCF1D3D}"/>
              </a:ext>
            </a:extLst>
          </p:cNvPr>
          <p:cNvSpPr>
            <a:spLocks noGrp="1"/>
          </p:cNvSpPr>
          <p:nvPr>
            <p:ph type="title"/>
          </p:nvPr>
        </p:nvSpPr>
        <p:spPr/>
        <p:txBody>
          <a:bodyPr/>
          <a:lstStyle/>
          <a:p>
            <a:r>
              <a:rPr lang="fr-FR" dirty="0"/>
              <a:t>3. Qu’est-ce et à quoi sert un ordinateur ?</a:t>
            </a:r>
          </a:p>
        </p:txBody>
      </p:sp>
      <p:sp>
        <p:nvSpPr>
          <p:cNvPr id="3" name="Espace réservé du contenu 2">
            <a:extLst>
              <a:ext uri="{FF2B5EF4-FFF2-40B4-BE49-F238E27FC236}">
                <a16:creationId xmlns:a16="http://schemas.microsoft.com/office/drawing/2014/main" id="{911CEE64-733B-472E-7E85-5ECEF990E2F2}"/>
              </a:ext>
            </a:extLst>
          </p:cNvPr>
          <p:cNvSpPr>
            <a:spLocks noGrp="1"/>
          </p:cNvSpPr>
          <p:nvPr>
            <p:ph idx="1"/>
          </p:nvPr>
        </p:nvSpPr>
        <p:spPr/>
        <p:txBody>
          <a:bodyPr/>
          <a:lstStyle/>
          <a:p>
            <a:pPr algn="just">
              <a:buFont typeface="Wingdings" panose="05000000000000000000" pitchFamily="2" charset="2"/>
              <a:buChar char="q"/>
            </a:pPr>
            <a:r>
              <a:rPr lang="fr-FR" dirty="0"/>
              <a:t>Un ordinateur est équipé pour travailler grâce à de nombreux logiciels</a:t>
            </a:r>
          </a:p>
          <a:p>
            <a:pPr algn="just">
              <a:buFont typeface="Wingdings" panose="05000000000000000000" pitchFamily="2" charset="2"/>
              <a:buChar char="q"/>
            </a:pPr>
            <a:r>
              <a:rPr lang="fr-FR" dirty="0"/>
              <a:t>Un ordinateur est évidemment fonctionnel dès l’existence d’un O.S</a:t>
            </a:r>
          </a:p>
          <a:p>
            <a:pPr algn="just">
              <a:buFont typeface="Wingdings" panose="05000000000000000000" pitchFamily="2" charset="2"/>
              <a:buChar char="q"/>
            </a:pPr>
            <a:r>
              <a:rPr lang="fr-FR" dirty="0"/>
              <a:t>Un ordinateur est en réseau grâce à une carte et un câble</a:t>
            </a:r>
          </a:p>
          <a:p>
            <a:pPr algn="just">
              <a:buFont typeface="Wingdings" panose="05000000000000000000" pitchFamily="2" charset="2"/>
              <a:buChar char="q"/>
            </a:pPr>
            <a:r>
              <a:rPr lang="fr-FR" dirty="0"/>
              <a:t>Un ordinateur est en réseau dès sa mise en service</a:t>
            </a:r>
          </a:p>
        </p:txBody>
      </p:sp>
      <p:grpSp>
        <p:nvGrpSpPr>
          <p:cNvPr id="4" name="Groupe 3">
            <a:extLst>
              <a:ext uri="{FF2B5EF4-FFF2-40B4-BE49-F238E27FC236}">
                <a16:creationId xmlns:a16="http://schemas.microsoft.com/office/drawing/2014/main" id="{81A62769-4A31-88F9-072C-028D98FA0185}"/>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49661BC8-400D-4C22-8B76-9441704C4351}"/>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1pt</a:t>
              </a:r>
            </a:p>
          </p:txBody>
        </p:sp>
        <p:sp>
          <p:nvSpPr>
            <p:cNvPr id="6" name="Rectangle 5">
              <a:extLst>
                <a:ext uri="{FF2B5EF4-FFF2-40B4-BE49-F238E27FC236}">
                  <a16:creationId xmlns:a16="http://schemas.microsoft.com/office/drawing/2014/main" id="{366269C6-AFE2-A925-8495-04D1E5111D9C}"/>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599A3756-3F67-ED8A-EEE0-CADFF27A8EC6}"/>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B803F982-6D39-CDB1-8F70-44DA979A50C1}"/>
              </a:ext>
            </a:extLst>
          </p:cNvPr>
          <p:cNvSpPr>
            <a:spLocks noGrp="1"/>
          </p:cNvSpPr>
          <p:nvPr>
            <p:ph type="sldNum" sz="quarter" idx="12"/>
          </p:nvPr>
        </p:nvSpPr>
        <p:spPr/>
        <p:txBody>
          <a:bodyPr/>
          <a:lstStyle/>
          <a:p>
            <a:fld id="{681DAA27-3CEF-4994-B97D-0830B1A16037}" type="slidenum">
              <a:rPr lang="fr-FR" smtClean="0"/>
              <a:t>39</a:t>
            </a:fld>
            <a:endParaRPr lang="fr-FR"/>
          </a:p>
        </p:txBody>
      </p:sp>
    </p:spTree>
    <p:extLst>
      <p:ext uri="{BB962C8B-B14F-4D97-AF65-F5344CB8AC3E}">
        <p14:creationId xmlns:p14="http://schemas.microsoft.com/office/powerpoint/2010/main" val="4204658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87520-FA63-93D0-26D3-CFCED655C3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0B7B43-A36A-68BE-87F7-D7003792533E}"/>
              </a:ext>
            </a:extLst>
          </p:cNvPr>
          <p:cNvSpPr>
            <a:spLocks noGrp="1"/>
          </p:cNvSpPr>
          <p:nvPr>
            <p:ph type="title"/>
          </p:nvPr>
        </p:nvSpPr>
        <p:spPr/>
        <p:txBody>
          <a:bodyPr/>
          <a:lstStyle/>
          <a:p>
            <a:r>
              <a:rPr lang="fr-FR" dirty="0"/>
              <a:t>4. Qu’est-ce et à quoi sert un ordinateur ?</a:t>
            </a:r>
          </a:p>
        </p:txBody>
      </p:sp>
      <p:sp>
        <p:nvSpPr>
          <p:cNvPr id="3" name="Espace réservé du contenu 2">
            <a:extLst>
              <a:ext uri="{FF2B5EF4-FFF2-40B4-BE49-F238E27FC236}">
                <a16:creationId xmlns:a16="http://schemas.microsoft.com/office/drawing/2014/main" id="{41DE9F8D-966F-6AA5-513B-2E068E02952B}"/>
              </a:ext>
            </a:extLst>
          </p:cNvPr>
          <p:cNvSpPr>
            <a:spLocks noGrp="1"/>
          </p:cNvSpPr>
          <p:nvPr>
            <p:ph idx="1"/>
          </p:nvPr>
        </p:nvSpPr>
        <p:spPr/>
        <p:txBody>
          <a:bodyPr/>
          <a:lstStyle/>
          <a:p>
            <a:pPr algn="just">
              <a:buFont typeface="Wingdings" panose="05000000000000000000" pitchFamily="2" charset="2"/>
              <a:buChar char="q"/>
            </a:pPr>
            <a:r>
              <a:rPr lang="fr-FR" dirty="0"/>
              <a:t>Un ordinateur permet de travail sur le réseau si on a internet, c’est évident. Un développeur à besoin de ça pour travailler</a:t>
            </a:r>
          </a:p>
          <a:p>
            <a:pPr algn="just">
              <a:buFont typeface="Wingdings" panose="05000000000000000000" pitchFamily="2" charset="2"/>
              <a:buChar char="q"/>
            </a:pPr>
            <a:r>
              <a:rPr lang="fr-FR" dirty="0"/>
              <a:t>Un ordinateur permet de travail en IP local comme en IP étendu, idéalement avec l’accès à internet</a:t>
            </a:r>
          </a:p>
          <a:p>
            <a:pPr algn="just">
              <a:buFont typeface="Wingdings" panose="05000000000000000000" pitchFamily="2" charset="2"/>
              <a:buChar char="q"/>
            </a:pPr>
            <a:r>
              <a:rPr lang="fr-FR" dirty="0"/>
              <a:t>Un ordinateur est un poste de déploiement pour concevoir  son site internet</a:t>
            </a:r>
          </a:p>
          <a:p>
            <a:pPr algn="just">
              <a:buFont typeface="Wingdings" panose="05000000000000000000" pitchFamily="2" charset="2"/>
              <a:buChar char="q"/>
            </a:pPr>
            <a:r>
              <a:rPr lang="fr-FR" dirty="0"/>
              <a:t>Un ordinateur est un poste de développement pour concevoir son site internet</a:t>
            </a:r>
          </a:p>
        </p:txBody>
      </p:sp>
      <p:grpSp>
        <p:nvGrpSpPr>
          <p:cNvPr id="4" name="Groupe 3">
            <a:extLst>
              <a:ext uri="{FF2B5EF4-FFF2-40B4-BE49-F238E27FC236}">
                <a16:creationId xmlns:a16="http://schemas.microsoft.com/office/drawing/2014/main" id="{9591F5DF-B0CE-A0F7-1758-D2C89226E045}"/>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6AE8ADC2-D289-5921-FF5D-4F574D0AB5B4}"/>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2pts</a:t>
              </a:r>
            </a:p>
          </p:txBody>
        </p:sp>
        <p:sp>
          <p:nvSpPr>
            <p:cNvPr id="6" name="Rectangle 5">
              <a:extLst>
                <a:ext uri="{FF2B5EF4-FFF2-40B4-BE49-F238E27FC236}">
                  <a16:creationId xmlns:a16="http://schemas.microsoft.com/office/drawing/2014/main" id="{F958E499-383F-9E54-167A-76E1C44629A8}"/>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43106CCF-3450-30E4-82E5-038FCBD2FB48}"/>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0368CE54-1BEB-29DC-DA02-2883BC825443}"/>
              </a:ext>
            </a:extLst>
          </p:cNvPr>
          <p:cNvSpPr>
            <a:spLocks noGrp="1"/>
          </p:cNvSpPr>
          <p:nvPr>
            <p:ph type="sldNum" sz="quarter" idx="12"/>
          </p:nvPr>
        </p:nvSpPr>
        <p:spPr/>
        <p:txBody>
          <a:bodyPr/>
          <a:lstStyle/>
          <a:p>
            <a:fld id="{681DAA27-3CEF-4994-B97D-0830B1A16037}" type="slidenum">
              <a:rPr lang="fr-FR" smtClean="0"/>
              <a:t>40</a:t>
            </a:fld>
            <a:endParaRPr lang="fr-FR"/>
          </a:p>
        </p:txBody>
      </p:sp>
    </p:spTree>
    <p:extLst>
      <p:ext uri="{BB962C8B-B14F-4D97-AF65-F5344CB8AC3E}">
        <p14:creationId xmlns:p14="http://schemas.microsoft.com/office/powerpoint/2010/main" val="980833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F2C7E-8568-CEDD-6999-2E2E566365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3F16BF-CECF-5BBD-D07E-7DF0C47E760C}"/>
              </a:ext>
            </a:extLst>
          </p:cNvPr>
          <p:cNvSpPr>
            <a:spLocks noGrp="1"/>
          </p:cNvSpPr>
          <p:nvPr>
            <p:ph type="title"/>
          </p:nvPr>
        </p:nvSpPr>
        <p:spPr/>
        <p:txBody>
          <a:bodyPr/>
          <a:lstStyle/>
          <a:p>
            <a:r>
              <a:rPr lang="fr-FR" dirty="0"/>
              <a:t>5. Qu’est-ce et à quoi sert un ordinateur ?</a:t>
            </a:r>
          </a:p>
        </p:txBody>
      </p:sp>
      <p:sp>
        <p:nvSpPr>
          <p:cNvPr id="3" name="Espace réservé du contenu 2">
            <a:extLst>
              <a:ext uri="{FF2B5EF4-FFF2-40B4-BE49-F238E27FC236}">
                <a16:creationId xmlns:a16="http://schemas.microsoft.com/office/drawing/2014/main" id="{6D34667E-F077-B33A-022D-8F28CC871C11}"/>
              </a:ext>
            </a:extLst>
          </p:cNvPr>
          <p:cNvSpPr>
            <a:spLocks noGrp="1"/>
          </p:cNvSpPr>
          <p:nvPr>
            <p:ph idx="1"/>
          </p:nvPr>
        </p:nvSpPr>
        <p:spPr/>
        <p:txBody>
          <a:bodyPr>
            <a:normAutofit/>
          </a:bodyPr>
          <a:lstStyle/>
          <a:p>
            <a:pPr algn="just">
              <a:buFont typeface="Wingdings" panose="05000000000000000000" pitchFamily="2" charset="2"/>
              <a:buChar char="q"/>
            </a:pPr>
            <a:r>
              <a:rPr lang="fr-FR" dirty="0"/>
              <a:t>Chaque ordinateur a un nom comme un être humain, ce qui permet de communiquer facilement sur le réseau</a:t>
            </a:r>
          </a:p>
          <a:p>
            <a:pPr algn="just">
              <a:buFont typeface="Wingdings" panose="05000000000000000000" pitchFamily="2" charset="2"/>
              <a:buChar char="q"/>
            </a:pPr>
            <a:r>
              <a:rPr lang="fr-FR" dirty="0"/>
              <a:t>Chaque ordinateur peu avoir un nom sur le réseau, ainsi qu’une adresse IP permettant de communiquer</a:t>
            </a:r>
          </a:p>
          <a:p>
            <a:pPr algn="just">
              <a:buFont typeface="Wingdings" panose="05000000000000000000" pitchFamily="2" charset="2"/>
              <a:buChar char="q"/>
            </a:pPr>
            <a:r>
              <a:rPr lang="fr-FR" dirty="0"/>
              <a:t>Chaque ordinateur à un nom sur le réseau ainsi qu’une adresse IP permettant de communiquer</a:t>
            </a:r>
          </a:p>
          <a:p>
            <a:pPr algn="just">
              <a:buFont typeface="Wingdings" panose="05000000000000000000" pitchFamily="2" charset="2"/>
              <a:buChar char="q"/>
            </a:pPr>
            <a:r>
              <a:rPr lang="fr-FR" dirty="0"/>
              <a:t>Souvent un ordinateur est appelé « hôte », tourne en localhost en LAN , peu disposer d’un IP fixe en WAN, et d’un nom de domaine sur le réseau, dispose donc d’un nom d’hôte.</a:t>
            </a:r>
          </a:p>
        </p:txBody>
      </p:sp>
      <p:grpSp>
        <p:nvGrpSpPr>
          <p:cNvPr id="4" name="Groupe 3">
            <a:extLst>
              <a:ext uri="{FF2B5EF4-FFF2-40B4-BE49-F238E27FC236}">
                <a16:creationId xmlns:a16="http://schemas.microsoft.com/office/drawing/2014/main" id="{436B03CA-950A-58CF-843C-BF18237E2867}"/>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82AFF7E0-C272-5D34-5D77-F3CD93BC21EE}"/>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2pts</a:t>
              </a:r>
            </a:p>
          </p:txBody>
        </p:sp>
        <p:sp>
          <p:nvSpPr>
            <p:cNvPr id="6" name="Rectangle 5">
              <a:extLst>
                <a:ext uri="{FF2B5EF4-FFF2-40B4-BE49-F238E27FC236}">
                  <a16:creationId xmlns:a16="http://schemas.microsoft.com/office/drawing/2014/main" id="{BFF1DC07-1DAB-334A-DBC2-4C389A7FFD3E}"/>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DACD0EEB-5EF7-3B9F-2A30-9B29018E74A9}"/>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EC26AD7E-8185-DAE2-3FCC-B8DC651066E9}"/>
              </a:ext>
            </a:extLst>
          </p:cNvPr>
          <p:cNvSpPr>
            <a:spLocks noGrp="1"/>
          </p:cNvSpPr>
          <p:nvPr>
            <p:ph type="sldNum" sz="quarter" idx="12"/>
          </p:nvPr>
        </p:nvSpPr>
        <p:spPr/>
        <p:txBody>
          <a:bodyPr/>
          <a:lstStyle/>
          <a:p>
            <a:fld id="{681DAA27-3CEF-4994-B97D-0830B1A16037}" type="slidenum">
              <a:rPr lang="fr-FR" smtClean="0"/>
              <a:t>41</a:t>
            </a:fld>
            <a:endParaRPr lang="fr-FR"/>
          </a:p>
        </p:txBody>
      </p:sp>
    </p:spTree>
    <p:extLst>
      <p:ext uri="{BB962C8B-B14F-4D97-AF65-F5344CB8AC3E}">
        <p14:creationId xmlns:p14="http://schemas.microsoft.com/office/powerpoint/2010/main" val="3854377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E9468-B835-5DC6-5F0B-DF9F943918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9AEB34-67A8-0DB1-710A-8F596A34506F}"/>
              </a:ext>
            </a:extLst>
          </p:cNvPr>
          <p:cNvSpPr>
            <a:spLocks noGrp="1"/>
          </p:cNvSpPr>
          <p:nvPr>
            <p:ph type="title"/>
          </p:nvPr>
        </p:nvSpPr>
        <p:spPr/>
        <p:txBody>
          <a:bodyPr/>
          <a:lstStyle/>
          <a:p>
            <a:r>
              <a:rPr lang="fr-FR" dirty="0"/>
              <a:t>6. Qu’est-ce et à quoi sert un ordinateur ?</a:t>
            </a:r>
          </a:p>
        </p:txBody>
      </p:sp>
      <p:sp>
        <p:nvSpPr>
          <p:cNvPr id="3" name="Espace réservé du contenu 2">
            <a:extLst>
              <a:ext uri="{FF2B5EF4-FFF2-40B4-BE49-F238E27FC236}">
                <a16:creationId xmlns:a16="http://schemas.microsoft.com/office/drawing/2014/main" id="{65ED4E1D-2B3F-9020-2B21-3FDC0ACB398A}"/>
              </a:ext>
            </a:extLst>
          </p:cNvPr>
          <p:cNvSpPr>
            <a:spLocks noGrp="1"/>
          </p:cNvSpPr>
          <p:nvPr>
            <p:ph idx="1"/>
          </p:nvPr>
        </p:nvSpPr>
        <p:spPr/>
        <p:txBody>
          <a:bodyPr>
            <a:normAutofit lnSpcReduction="10000"/>
          </a:bodyPr>
          <a:lstStyle/>
          <a:p>
            <a:pPr algn="just">
              <a:buFont typeface="Wingdings" panose="05000000000000000000" pitchFamily="2" charset="2"/>
              <a:buChar char="q"/>
            </a:pPr>
            <a:r>
              <a:rPr lang="fr-FR" dirty="0"/>
              <a:t>Un ordinateur peut être un serveur web c’est évident à condition qu’il soit sur le réseau internet</a:t>
            </a:r>
          </a:p>
          <a:p>
            <a:pPr algn="just">
              <a:buFont typeface="Wingdings" panose="05000000000000000000" pitchFamily="2" charset="2"/>
              <a:buChar char="q"/>
            </a:pPr>
            <a:r>
              <a:rPr lang="fr-FR" dirty="0"/>
              <a:t>Un ordinateur peut être un serveur web, s’il est équipé d’un logiciel « serveur web »,</a:t>
            </a:r>
          </a:p>
          <a:p>
            <a:pPr algn="just">
              <a:buFont typeface="Wingdings" panose="05000000000000000000" pitchFamily="2" charset="2"/>
              <a:buChar char="q"/>
            </a:pPr>
            <a:r>
              <a:rPr lang="fr-FR" dirty="0"/>
              <a:t>Mon ordinateur peut être un serveur web et permettre que mon site web soit vu depuis internet,</a:t>
            </a:r>
          </a:p>
          <a:p>
            <a:pPr algn="just">
              <a:buFont typeface="Wingdings" panose="05000000000000000000" pitchFamily="2" charset="2"/>
              <a:buChar char="q"/>
            </a:pPr>
            <a:r>
              <a:rPr lang="fr-FR" dirty="0"/>
              <a:t>Mon ordinateur peut être un serveur web s’il dispose d’un nom de domaine,</a:t>
            </a:r>
          </a:p>
          <a:p>
            <a:pPr algn="just">
              <a:buFont typeface="Wingdings" panose="05000000000000000000" pitchFamily="2" charset="2"/>
              <a:buChar char="q"/>
            </a:pPr>
            <a:r>
              <a:rPr lang="fr-FR" dirty="0"/>
              <a:t>Mon ordinateur peut être un serveur web s’il dispose d’une IP WAN</a:t>
            </a:r>
          </a:p>
        </p:txBody>
      </p:sp>
      <p:grpSp>
        <p:nvGrpSpPr>
          <p:cNvPr id="4" name="Groupe 3">
            <a:extLst>
              <a:ext uri="{FF2B5EF4-FFF2-40B4-BE49-F238E27FC236}">
                <a16:creationId xmlns:a16="http://schemas.microsoft.com/office/drawing/2014/main" id="{2815A875-FABE-8296-C1F5-837A81543BA9}"/>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DDAA679F-910F-7C97-B3EF-35D0334E29C7}"/>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1pt</a:t>
              </a:r>
            </a:p>
          </p:txBody>
        </p:sp>
        <p:sp>
          <p:nvSpPr>
            <p:cNvPr id="6" name="Rectangle 5">
              <a:extLst>
                <a:ext uri="{FF2B5EF4-FFF2-40B4-BE49-F238E27FC236}">
                  <a16:creationId xmlns:a16="http://schemas.microsoft.com/office/drawing/2014/main" id="{C34CF0B1-ABF7-AE4D-6F8D-6F559C183252}"/>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03E32B4E-EC35-8ECC-6F6B-C1AE8F0807F4}"/>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84FF5B6E-902E-F7CA-90E7-E1FB3AF6B1A4}"/>
              </a:ext>
            </a:extLst>
          </p:cNvPr>
          <p:cNvSpPr>
            <a:spLocks noGrp="1"/>
          </p:cNvSpPr>
          <p:nvPr>
            <p:ph type="sldNum" sz="quarter" idx="12"/>
          </p:nvPr>
        </p:nvSpPr>
        <p:spPr/>
        <p:txBody>
          <a:bodyPr/>
          <a:lstStyle/>
          <a:p>
            <a:fld id="{681DAA27-3CEF-4994-B97D-0830B1A16037}" type="slidenum">
              <a:rPr lang="fr-FR" smtClean="0"/>
              <a:t>42</a:t>
            </a:fld>
            <a:endParaRPr lang="fr-FR"/>
          </a:p>
        </p:txBody>
      </p:sp>
    </p:spTree>
    <p:extLst>
      <p:ext uri="{BB962C8B-B14F-4D97-AF65-F5344CB8AC3E}">
        <p14:creationId xmlns:p14="http://schemas.microsoft.com/office/powerpoint/2010/main" val="38016766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FCE24-3FFC-50AB-835B-03CB80DCC69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5129DE-8733-6194-8177-39858548F3F1}"/>
              </a:ext>
            </a:extLst>
          </p:cNvPr>
          <p:cNvSpPr>
            <a:spLocks noGrp="1"/>
          </p:cNvSpPr>
          <p:nvPr>
            <p:ph type="title"/>
          </p:nvPr>
        </p:nvSpPr>
        <p:spPr/>
        <p:txBody>
          <a:bodyPr/>
          <a:lstStyle/>
          <a:p>
            <a:r>
              <a:rPr lang="fr-FR" dirty="0"/>
              <a:t>7. Accès à Internet ? </a:t>
            </a:r>
            <a:r>
              <a:rPr lang="fr-FR" sz="2800" dirty="0"/>
              <a:t>(Cocher ce qui est vrai)</a:t>
            </a:r>
            <a:endParaRPr lang="fr-FR" dirty="0"/>
          </a:p>
        </p:txBody>
      </p:sp>
      <p:sp>
        <p:nvSpPr>
          <p:cNvPr id="3" name="Espace réservé du contenu 2">
            <a:extLst>
              <a:ext uri="{FF2B5EF4-FFF2-40B4-BE49-F238E27FC236}">
                <a16:creationId xmlns:a16="http://schemas.microsoft.com/office/drawing/2014/main" id="{D5A3C386-AE3A-C804-4473-BF79E4ACB44F}"/>
              </a:ext>
            </a:extLst>
          </p:cNvPr>
          <p:cNvSpPr>
            <a:spLocks noGrp="1"/>
          </p:cNvSpPr>
          <p:nvPr>
            <p:ph idx="1"/>
          </p:nvPr>
        </p:nvSpPr>
        <p:spPr/>
        <p:txBody>
          <a:bodyPr>
            <a:normAutofit/>
          </a:bodyPr>
          <a:lstStyle/>
          <a:p>
            <a:pPr algn="just">
              <a:buFont typeface="Wingdings" panose="05000000000000000000" pitchFamily="2" charset="2"/>
              <a:buChar char="q"/>
            </a:pPr>
            <a:r>
              <a:rPr lang="fr-FR" dirty="0"/>
              <a:t>Sans box, pas de connexion à internet pour mon ordinateur</a:t>
            </a:r>
          </a:p>
          <a:p>
            <a:pPr algn="just">
              <a:buFont typeface="Wingdings" panose="05000000000000000000" pitchFamily="2" charset="2"/>
              <a:buChar char="q"/>
            </a:pPr>
            <a:r>
              <a:rPr lang="fr-FR" dirty="0"/>
              <a:t>Un ordinateur se connecte grâce à une clé USB</a:t>
            </a:r>
          </a:p>
          <a:p>
            <a:pPr algn="just">
              <a:buFont typeface="Wingdings" panose="05000000000000000000" pitchFamily="2" charset="2"/>
              <a:buChar char="q"/>
            </a:pPr>
            <a:r>
              <a:rPr lang="fr-FR" dirty="0"/>
              <a:t>Un ordinateur sans internet ne permet pas de travailler,</a:t>
            </a:r>
          </a:p>
          <a:p>
            <a:pPr algn="just">
              <a:buFont typeface="Wingdings" panose="05000000000000000000" pitchFamily="2" charset="2"/>
              <a:buChar char="q"/>
            </a:pPr>
            <a:r>
              <a:rPr lang="fr-FR" dirty="0"/>
              <a:t>Un ordinateur est visible sur internet par tout le monde, alors pourquoi avoir besoin d’un hébergement ?</a:t>
            </a:r>
          </a:p>
          <a:p>
            <a:pPr algn="just">
              <a:buFont typeface="Wingdings" panose="05000000000000000000" pitchFamily="2" charset="2"/>
              <a:buChar char="q"/>
            </a:pPr>
            <a:r>
              <a:rPr lang="fr-FR" dirty="0"/>
              <a:t>Un ordinateur dispose d’une IP fixe, c’est automatique, ça permet d’être trouvé sur internet</a:t>
            </a:r>
          </a:p>
          <a:p>
            <a:pPr algn="just">
              <a:buFont typeface="Wingdings" panose="05000000000000000000" pitchFamily="2" charset="2"/>
              <a:buChar char="q"/>
            </a:pPr>
            <a:r>
              <a:rPr lang="fr-FR" dirty="0"/>
              <a:t>Sans IP fixe pas de W.A.N</a:t>
            </a:r>
          </a:p>
          <a:p>
            <a:pPr algn="just">
              <a:buFont typeface="Wingdings" panose="05000000000000000000" pitchFamily="2" charset="2"/>
              <a:buChar char="q"/>
            </a:pPr>
            <a:r>
              <a:rPr lang="fr-FR" dirty="0"/>
              <a:t>Sans W.A.N pas d’IP fixe</a:t>
            </a:r>
          </a:p>
        </p:txBody>
      </p:sp>
      <p:grpSp>
        <p:nvGrpSpPr>
          <p:cNvPr id="4" name="Groupe 3">
            <a:extLst>
              <a:ext uri="{FF2B5EF4-FFF2-40B4-BE49-F238E27FC236}">
                <a16:creationId xmlns:a16="http://schemas.microsoft.com/office/drawing/2014/main" id="{A382C716-1479-0CAE-B21A-0E67FFAC2E92}"/>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6F60A18D-0916-1D13-13CE-8FCF6E311406}"/>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1pt</a:t>
              </a:r>
            </a:p>
          </p:txBody>
        </p:sp>
        <p:sp>
          <p:nvSpPr>
            <p:cNvPr id="6" name="Rectangle 5">
              <a:extLst>
                <a:ext uri="{FF2B5EF4-FFF2-40B4-BE49-F238E27FC236}">
                  <a16:creationId xmlns:a16="http://schemas.microsoft.com/office/drawing/2014/main" id="{1FE17E66-E7A9-164A-FE72-B4A166AA4CF9}"/>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11E5BC1E-7B27-6F6A-3E86-68D8C4396DE8}"/>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3F8C9E9E-532A-3D22-C748-FE969D855020}"/>
              </a:ext>
            </a:extLst>
          </p:cNvPr>
          <p:cNvSpPr>
            <a:spLocks noGrp="1"/>
          </p:cNvSpPr>
          <p:nvPr>
            <p:ph type="sldNum" sz="quarter" idx="12"/>
          </p:nvPr>
        </p:nvSpPr>
        <p:spPr/>
        <p:txBody>
          <a:bodyPr/>
          <a:lstStyle/>
          <a:p>
            <a:fld id="{681DAA27-3CEF-4994-B97D-0830B1A16037}" type="slidenum">
              <a:rPr lang="fr-FR" smtClean="0"/>
              <a:t>43</a:t>
            </a:fld>
            <a:endParaRPr lang="fr-FR"/>
          </a:p>
        </p:txBody>
      </p:sp>
    </p:spTree>
    <p:extLst>
      <p:ext uri="{BB962C8B-B14F-4D97-AF65-F5344CB8AC3E}">
        <p14:creationId xmlns:p14="http://schemas.microsoft.com/office/powerpoint/2010/main" val="1644569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26C59-A370-B9B4-C034-8FAD289160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558D28-B1E6-AF28-053D-9D670D029B48}"/>
              </a:ext>
            </a:extLst>
          </p:cNvPr>
          <p:cNvSpPr>
            <a:spLocks noGrp="1"/>
          </p:cNvSpPr>
          <p:nvPr>
            <p:ph type="title"/>
          </p:nvPr>
        </p:nvSpPr>
        <p:spPr/>
        <p:txBody>
          <a:bodyPr/>
          <a:lstStyle/>
          <a:p>
            <a:r>
              <a:rPr lang="fr-FR" dirty="0"/>
              <a:t>8. Un O.S ?</a:t>
            </a:r>
          </a:p>
        </p:txBody>
      </p:sp>
      <p:sp>
        <p:nvSpPr>
          <p:cNvPr id="3" name="Espace réservé du contenu 2">
            <a:extLst>
              <a:ext uri="{FF2B5EF4-FFF2-40B4-BE49-F238E27FC236}">
                <a16:creationId xmlns:a16="http://schemas.microsoft.com/office/drawing/2014/main" id="{369DCBEF-A026-C4E3-D702-A899348F6F4E}"/>
              </a:ext>
            </a:extLst>
          </p:cNvPr>
          <p:cNvSpPr>
            <a:spLocks noGrp="1"/>
          </p:cNvSpPr>
          <p:nvPr>
            <p:ph idx="1"/>
          </p:nvPr>
        </p:nvSpPr>
        <p:spPr/>
        <p:txBody>
          <a:bodyPr/>
          <a:lstStyle/>
          <a:p>
            <a:pPr algn="just">
              <a:buFont typeface="Wingdings" panose="05000000000000000000" pitchFamily="2" charset="2"/>
              <a:buChar char="q"/>
            </a:pPr>
            <a:r>
              <a:rPr lang="fr-FR" dirty="0"/>
              <a:t>Il faut faire gaffe aussi aux arrêtes !</a:t>
            </a:r>
          </a:p>
          <a:p>
            <a:pPr algn="just">
              <a:buFont typeface="Wingdings" panose="05000000000000000000" pitchFamily="2" charset="2"/>
              <a:buChar char="q"/>
            </a:pPr>
            <a:r>
              <a:rPr lang="fr-FR" dirty="0"/>
              <a:t>Signifie « Opérateur de Système »</a:t>
            </a:r>
          </a:p>
          <a:p>
            <a:pPr algn="just">
              <a:buFont typeface="Wingdings" panose="05000000000000000000" pitchFamily="2" charset="2"/>
              <a:buChar char="q"/>
            </a:pPr>
            <a:r>
              <a:rPr lang="fr-FR" dirty="0"/>
              <a:t>Signifie « </a:t>
            </a:r>
            <a:r>
              <a:rPr lang="fr-FR" dirty="0" err="1"/>
              <a:t>Operacing</a:t>
            </a:r>
            <a:r>
              <a:rPr lang="fr-FR" dirty="0"/>
              <a:t> </a:t>
            </a:r>
            <a:r>
              <a:rPr lang="fr-FR" dirty="0" err="1"/>
              <a:t>Sistème</a:t>
            </a:r>
            <a:r>
              <a:rPr lang="fr-FR" dirty="0"/>
              <a:t> »</a:t>
            </a:r>
          </a:p>
          <a:p>
            <a:pPr algn="just">
              <a:buFont typeface="Wingdings" panose="05000000000000000000" pitchFamily="2" charset="2"/>
              <a:buChar char="q"/>
            </a:pPr>
            <a:r>
              <a:rPr lang="fr-FR" dirty="0"/>
              <a:t>Signifie « Operating Système »</a:t>
            </a:r>
          </a:p>
          <a:p>
            <a:pPr algn="just">
              <a:buFont typeface="Wingdings" panose="05000000000000000000" pitchFamily="2" charset="2"/>
              <a:buChar char="q"/>
            </a:pPr>
            <a:r>
              <a:rPr lang="fr-FR" dirty="0"/>
              <a:t>Signifie « Système d’opération »</a:t>
            </a:r>
          </a:p>
          <a:p>
            <a:pPr algn="just">
              <a:buFont typeface="Wingdings" panose="05000000000000000000" pitchFamily="2" charset="2"/>
              <a:buChar char="q"/>
            </a:pPr>
            <a:r>
              <a:rPr lang="fr-FR" dirty="0"/>
              <a:t>Signifie « Système d’information »</a:t>
            </a:r>
          </a:p>
          <a:p>
            <a:pPr algn="just">
              <a:buFont typeface="Wingdings" panose="05000000000000000000" pitchFamily="2" charset="2"/>
              <a:buChar char="q"/>
            </a:pPr>
            <a:r>
              <a:rPr lang="fr-FR" dirty="0"/>
              <a:t>Signifie « </a:t>
            </a:r>
            <a:r>
              <a:rPr lang="fr-FR" dirty="0" err="1"/>
              <a:t>Sistème</a:t>
            </a:r>
            <a:r>
              <a:rPr lang="fr-FR" dirty="0"/>
              <a:t> d’exploitation »</a:t>
            </a:r>
          </a:p>
          <a:p>
            <a:pPr algn="just">
              <a:buFont typeface="Wingdings" panose="05000000000000000000" pitchFamily="2" charset="2"/>
              <a:buChar char="q"/>
            </a:pPr>
            <a:r>
              <a:rPr lang="fr-FR" dirty="0"/>
              <a:t>Signifie « Système d’exploitation »</a:t>
            </a:r>
          </a:p>
        </p:txBody>
      </p:sp>
      <p:grpSp>
        <p:nvGrpSpPr>
          <p:cNvPr id="4" name="Groupe 3">
            <a:extLst>
              <a:ext uri="{FF2B5EF4-FFF2-40B4-BE49-F238E27FC236}">
                <a16:creationId xmlns:a16="http://schemas.microsoft.com/office/drawing/2014/main" id="{09CF6A68-EB90-D53A-7268-1A3EFB15032B}"/>
              </a:ext>
            </a:extLst>
          </p:cNvPr>
          <p:cNvGrpSpPr/>
          <p:nvPr/>
        </p:nvGrpSpPr>
        <p:grpSpPr>
          <a:xfrm>
            <a:off x="9743438" y="38580"/>
            <a:ext cx="1244284" cy="518160"/>
            <a:chOff x="8600438" y="38580"/>
            <a:chExt cx="1244284" cy="518160"/>
          </a:xfrm>
        </p:grpSpPr>
        <p:sp>
          <p:nvSpPr>
            <p:cNvPr id="5" name="Rectangle 4">
              <a:extLst>
                <a:ext uri="{FF2B5EF4-FFF2-40B4-BE49-F238E27FC236}">
                  <a16:creationId xmlns:a16="http://schemas.microsoft.com/office/drawing/2014/main" id="{9D898B0B-5D71-8F8F-2970-96578A786B2A}"/>
                </a:ext>
              </a:extLst>
            </p:cNvPr>
            <p:cNvSpPr/>
            <p:nvPr/>
          </p:nvSpPr>
          <p:spPr>
            <a:xfrm>
              <a:off x="8600438" y="38580"/>
              <a:ext cx="619760" cy="518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2pts</a:t>
              </a:r>
            </a:p>
          </p:txBody>
        </p:sp>
        <p:sp>
          <p:nvSpPr>
            <p:cNvPr id="6" name="Rectangle 5">
              <a:extLst>
                <a:ext uri="{FF2B5EF4-FFF2-40B4-BE49-F238E27FC236}">
                  <a16:creationId xmlns:a16="http://schemas.microsoft.com/office/drawing/2014/main" id="{5FA6953D-03BA-A616-A202-35E47509232B}"/>
                </a:ext>
              </a:extLst>
            </p:cNvPr>
            <p:cNvSpPr/>
            <p:nvPr/>
          </p:nvSpPr>
          <p:spPr>
            <a:xfrm>
              <a:off x="9224962" y="38580"/>
              <a:ext cx="619760" cy="51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800" dirty="0">
                <a:solidFill>
                  <a:srgbClr val="FF0000"/>
                </a:solidFill>
              </a:endParaRPr>
            </a:p>
          </p:txBody>
        </p:sp>
      </p:grpSp>
      <p:sp>
        <p:nvSpPr>
          <p:cNvPr id="7" name="Espace réservé du pied de page 6">
            <a:extLst>
              <a:ext uri="{FF2B5EF4-FFF2-40B4-BE49-F238E27FC236}">
                <a16:creationId xmlns:a16="http://schemas.microsoft.com/office/drawing/2014/main" id="{B1102245-5337-E14B-5D02-179751EE427D}"/>
              </a:ext>
            </a:extLst>
          </p:cNvPr>
          <p:cNvSpPr>
            <a:spLocks noGrp="1"/>
          </p:cNvSpPr>
          <p:nvPr>
            <p:ph type="ftr" sz="quarter" idx="11"/>
          </p:nvPr>
        </p:nvSpPr>
        <p:spPr/>
        <p:txBody>
          <a:bodyPr/>
          <a:lstStyle/>
          <a:p>
            <a:r>
              <a:rPr lang="fr-FR"/>
              <a:t>Evaluaiton avec un micro projet HTML-CSS</a:t>
            </a:r>
          </a:p>
        </p:txBody>
      </p:sp>
      <p:sp>
        <p:nvSpPr>
          <p:cNvPr id="8" name="Espace réservé du numéro de diapositive 7">
            <a:extLst>
              <a:ext uri="{FF2B5EF4-FFF2-40B4-BE49-F238E27FC236}">
                <a16:creationId xmlns:a16="http://schemas.microsoft.com/office/drawing/2014/main" id="{EC23935E-DB30-E594-BAF7-8F89126C102E}"/>
              </a:ext>
            </a:extLst>
          </p:cNvPr>
          <p:cNvSpPr>
            <a:spLocks noGrp="1"/>
          </p:cNvSpPr>
          <p:nvPr>
            <p:ph type="sldNum" sz="quarter" idx="12"/>
          </p:nvPr>
        </p:nvSpPr>
        <p:spPr/>
        <p:txBody>
          <a:bodyPr/>
          <a:lstStyle/>
          <a:p>
            <a:fld id="{681DAA27-3CEF-4994-B97D-0830B1A16037}" type="slidenum">
              <a:rPr lang="fr-FR" smtClean="0"/>
              <a:t>44</a:t>
            </a:fld>
            <a:endParaRPr lang="fr-FR"/>
          </a:p>
        </p:txBody>
      </p:sp>
    </p:spTree>
    <p:extLst>
      <p:ext uri="{BB962C8B-B14F-4D97-AF65-F5344CB8AC3E}">
        <p14:creationId xmlns:p14="http://schemas.microsoft.com/office/powerpoint/2010/main" val="21185519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181D9410-EEFA-53D9-DCD3-226D905E751F}"/>
              </a:ext>
            </a:extLst>
          </p:cNvPr>
          <p:cNvSpPr/>
          <p:nvPr/>
        </p:nvSpPr>
        <p:spPr>
          <a:xfrm>
            <a:off x="1242060" y="213362"/>
            <a:ext cx="3771900" cy="593407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Rectangle 2">
            <a:extLst>
              <a:ext uri="{FF2B5EF4-FFF2-40B4-BE49-F238E27FC236}">
                <a16:creationId xmlns:a16="http://schemas.microsoft.com/office/drawing/2014/main" id="{C574E995-DDEC-DB0A-A56E-EBECA6A3C8CC}"/>
              </a:ext>
            </a:extLst>
          </p:cNvPr>
          <p:cNvSpPr/>
          <p:nvPr/>
        </p:nvSpPr>
        <p:spPr>
          <a:xfrm>
            <a:off x="1438275" y="90487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Work Email</a:t>
            </a:r>
          </a:p>
        </p:txBody>
      </p:sp>
      <p:sp>
        <p:nvSpPr>
          <p:cNvPr id="4" name="Rectangle 3">
            <a:extLst>
              <a:ext uri="{FF2B5EF4-FFF2-40B4-BE49-F238E27FC236}">
                <a16:creationId xmlns:a16="http://schemas.microsoft.com/office/drawing/2014/main" id="{162E775D-0D9B-4FB9-F909-C0068457800C}"/>
              </a:ext>
            </a:extLst>
          </p:cNvPr>
          <p:cNvSpPr/>
          <p:nvPr/>
        </p:nvSpPr>
        <p:spPr>
          <a:xfrm>
            <a:off x="1438274" y="1362076"/>
            <a:ext cx="3108780"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a:t>
            </a:r>
          </a:p>
        </p:txBody>
      </p:sp>
      <p:sp>
        <p:nvSpPr>
          <p:cNvPr id="5" name="Rectangle 4">
            <a:extLst>
              <a:ext uri="{FF2B5EF4-FFF2-40B4-BE49-F238E27FC236}">
                <a16:creationId xmlns:a16="http://schemas.microsoft.com/office/drawing/2014/main" id="{DF2ED8F9-E8D6-7882-F121-B7F67759F201}"/>
              </a:ext>
            </a:extLst>
          </p:cNvPr>
          <p:cNvSpPr/>
          <p:nvPr/>
        </p:nvSpPr>
        <p:spPr>
          <a:xfrm>
            <a:off x="1438275" y="189547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First Name</a:t>
            </a:r>
          </a:p>
        </p:txBody>
      </p:sp>
      <p:sp>
        <p:nvSpPr>
          <p:cNvPr id="6" name="Rectangle 5">
            <a:extLst>
              <a:ext uri="{FF2B5EF4-FFF2-40B4-BE49-F238E27FC236}">
                <a16:creationId xmlns:a16="http://schemas.microsoft.com/office/drawing/2014/main" id="{EFA8390A-E7BF-CD32-3A25-E3DFA9AEA1B5}"/>
              </a:ext>
            </a:extLst>
          </p:cNvPr>
          <p:cNvSpPr/>
          <p:nvPr/>
        </p:nvSpPr>
        <p:spPr>
          <a:xfrm>
            <a:off x="3032578" y="1895475"/>
            <a:ext cx="1514476"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Last Name</a:t>
            </a:r>
          </a:p>
        </p:txBody>
      </p:sp>
      <p:sp>
        <p:nvSpPr>
          <p:cNvPr id="7" name="Rectangle 6">
            <a:extLst>
              <a:ext uri="{FF2B5EF4-FFF2-40B4-BE49-F238E27FC236}">
                <a16:creationId xmlns:a16="http://schemas.microsoft.com/office/drawing/2014/main" id="{C5496D70-7DC0-E659-3B00-F3F95E50A9E4}"/>
              </a:ext>
            </a:extLst>
          </p:cNvPr>
          <p:cNvSpPr/>
          <p:nvPr/>
        </p:nvSpPr>
        <p:spPr>
          <a:xfrm>
            <a:off x="1438275" y="2409826"/>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Organizations</a:t>
            </a:r>
          </a:p>
        </p:txBody>
      </p:sp>
      <p:sp>
        <p:nvSpPr>
          <p:cNvPr id="8" name="Rectangle 7">
            <a:extLst>
              <a:ext uri="{FF2B5EF4-FFF2-40B4-BE49-F238E27FC236}">
                <a16:creationId xmlns:a16="http://schemas.microsoft.com/office/drawing/2014/main" id="{FC788A0B-7B10-4472-F3B7-561FF1048CBA}"/>
              </a:ext>
            </a:extLst>
          </p:cNvPr>
          <p:cNvSpPr/>
          <p:nvPr/>
        </p:nvSpPr>
        <p:spPr>
          <a:xfrm>
            <a:off x="1398361" y="292417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Country</a:t>
            </a:r>
          </a:p>
        </p:txBody>
      </p:sp>
      <p:sp>
        <p:nvSpPr>
          <p:cNvPr id="9" name="Rectangle 8">
            <a:extLst>
              <a:ext uri="{FF2B5EF4-FFF2-40B4-BE49-F238E27FC236}">
                <a16:creationId xmlns:a16="http://schemas.microsoft.com/office/drawing/2014/main" id="{5274433B-E095-02C1-89E6-9098B4D3ACA4}"/>
              </a:ext>
            </a:extLst>
          </p:cNvPr>
          <p:cNvSpPr/>
          <p:nvPr/>
        </p:nvSpPr>
        <p:spPr>
          <a:xfrm>
            <a:off x="1398360" y="3486151"/>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Date Center </a:t>
            </a:r>
            <a:r>
              <a:rPr lang="fr-FR" sz="1100" dirty="0" err="1">
                <a:solidFill>
                  <a:schemeClr val="bg2">
                    <a:lumMod val="50000"/>
                  </a:schemeClr>
                </a:solidFill>
              </a:rPr>
              <a:t>Region</a:t>
            </a:r>
            <a:endParaRPr lang="fr-FR" sz="1100" dirty="0">
              <a:solidFill>
                <a:schemeClr val="bg2">
                  <a:lumMod val="50000"/>
                </a:schemeClr>
              </a:solidFill>
            </a:endParaRPr>
          </a:p>
        </p:txBody>
      </p:sp>
      <p:sp>
        <p:nvSpPr>
          <p:cNvPr id="10" name="Triangle isocèle 9">
            <a:extLst>
              <a:ext uri="{FF2B5EF4-FFF2-40B4-BE49-F238E27FC236}">
                <a16:creationId xmlns:a16="http://schemas.microsoft.com/office/drawing/2014/main" id="{66C465FB-45C4-ECE4-06BD-2E0EEA31B3CF}"/>
              </a:ext>
            </a:extLst>
          </p:cNvPr>
          <p:cNvSpPr/>
          <p:nvPr/>
        </p:nvSpPr>
        <p:spPr>
          <a:xfrm rot="10800000">
            <a:off x="4206058" y="3601401"/>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11" name="Triangle isocèle 10">
            <a:extLst>
              <a:ext uri="{FF2B5EF4-FFF2-40B4-BE49-F238E27FC236}">
                <a16:creationId xmlns:a16="http://schemas.microsoft.com/office/drawing/2014/main" id="{58435507-012C-24B0-FC03-73065E0AF310}"/>
              </a:ext>
            </a:extLst>
          </p:cNvPr>
          <p:cNvSpPr/>
          <p:nvPr/>
        </p:nvSpPr>
        <p:spPr>
          <a:xfrm rot="10800000">
            <a:off x="4183016" y="3020379"/>
            <a:ext cx="144962" cy="16002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CA43D0DC-BC35-5119-57C5-C2A5F04616BD}"/>
              </a:ext>
            </a:extLst>
          </p:cNvPr>
          <p:cNvSpPr/>
          <p:nvPr/>
        </p:nvSpPr>
        <p:spPr>
          <a:xfrm>
            <a:off x="1398359" y="3982407"/>
            <a:ext cx="3108779" cy="352424"/>
          </a:xfrm>
          <a:prstGeom prst="rect">
            <a:avLst/>
          </a:prstGeom>
          <a:solidFill>
            <a:srgbClr val="F8F8F8"/>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dirty="0">
                <a:solidFill>
                  <a:schemeClr val="bg2">
                    <a:lumMod val="50000"/>
                  </a:schemeClr>
                </a:solidFill>
              </a:rPr>
              <a:t>Phone </a:t>
            </a:r>
            <a:r>
              <a:rPr lang="fr-FR" sz="1100" dirty="0" err="1">
                <a:solidFill>
                  <a:schemeClr val="bg2">
                    <a:lumMod val="50000"/>
                  </a:schemeClr>
                </a:solidFill>
              </a:rPr>
              <a:t>Number</a:t>
            </a:r>
            <a:endParaRPr lang="fr-FR" sz="1100" dirty="0">
              <a:solidFill>
                <a:schemeClr val="bg2">
                  <a:lumMod val="50000"/>
                </a:schemeClr>
              </a:solidFill>
            </a:endParaRPr>
          </a:p>
        </p:txBody>
      </p:sp>
      <p:sp>
        <p:nvSpPr>
          <p:cNvPr id="13" name="Rectangle 12">
            <a:extLst>
              <a:ext uri="{FF2B5EF4-FFF2-40B4-BE49-F238E27FC236}">
                <a16:creationId xmlns:a16="http://schemas.microsoft.com/office/drawing/2014/main" id="{ED79559A-C647-528C-04CA-23FD4D3BF598}"/>
              </a:ext>
            </a:extLst>
          </p:cNvPr>
          <p:cNvSpPr/>
          <p:nvPr/>
        </p:nvSpPr>
        <p:spPr>
          <a:xfrm>
            <a:off x="1398359" y="4478663"/>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14" name="Rectangle 13">
            <a:extLst>
              <a:ext uri="{FF2B5EF4-FFF2-40B4-BE49-F238E27FC236}">
                <a16:creationId xmlns:a16="http://schemas.microsoft.com/office/drawing/2014/main" id="{3AF2DBA5-EFFB-05BC-882C-F897A2A291EA}"/>
              </a:ext>
            </a:extLst>
          </p:cNvPr>
          <p:cNvSpPr/>
          <p:nvPr/>
        </p:nvSpPr>
        <p:spPr>
          <a:xfrm>
            <a:off x="1398359" y="4922526"/>
            <a:ext cx="182791" cy="207637"/>
          </a:xfrm>
          <a:prstGeom prst="rect">
            <a:avLst/>
          </a:prstGeom>
          <a:solidFill>
            <a:srgbClr val="F8F8F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100" dirty="0">
              <a:solidFill>
                <a:schemeClr val="bg2">
                  <a:lumMod val="50000"/>
                </a:schemeClr>
              </a:solidFill>
            </a:endParaRPr>
          </a:p>
        </p:txBody>
      </p:sp>
      <p:sp>
        <p:nvSpPr>
          <p:cNvPr id="15" name="ZoneTexte 14">
            <a:extLst>
              <a:ext uri="{FF2B5EF4-FFF2-40B4-BE49-F238E27FC236}">
                <a16:creationId xmlns:a16="http://schemas.microsoft.com/office/drawing/2014/main" id="{81744982-466D-B195-9B3D-E54C5CA9C4ED}"/>
              </a:ext>
            </a:extLst>
          </p:cNvPr>
          <p:cNvSpPr txBox="1"/>
          <p:nvPr/>
        </p:nvSpPr>
        <p:spPr>
          <a:xfrm>
            <a:off x="1625598" y="4444012"/>
            <a:ext cx="3162300" cy="369332"/>
          </a:xfrm>
          <a:prstGeom prst="rect">
            <a:avLst/>
          </a:prstGeom>
          <a:noFill/>
        </p:spPr>
        <p:txBody>
          <a:bodyPr wrap="square" rtlCol="0">
            <a:spAutoFit/>
          </a:bodyPr>
          <a:lstStyle/>
          <a:p>
            <a:r>
              <a:rPr lang="fr-FR" sz="900" i="1" dirty="0">
                <a:solidFill>
                  <a:schemeClr val="tx1">
                    <a:lumMod val="95000"/>
                    <a:lumOff val="5000"/>
                  </a:schemeClr>
                </a:solidFill>
              </a:rPr>
              <a:t>By </a:t>
            </a:r>
            <a:r>
              <a:rPr lang="fr-FR" sz="900" i="1" dirty="0" err="1">
                <a:solidFill>
                  <a:schemeClr val="tx1">
                    <a:lumMod val="95000"/>
                    <a:lumOff val="5000"/>
                  </a:schemeClr>
                </a:solidFill>
              </a:rPr>
              <a:t>clicking</a:t>
            </a:r>
            <a:r>
              <a:rPr lang="fr-FR" sz="900" i="1" dirty="0">
                <a:solidFill>
                  <a:schemeClr val="tx1">
                    <a:lumMod val="95000"/>
                    <a:lumOff val="5000"/>
                  </a:schemeClr>
                </a:solidFill>
              </a:rPr>
              <a:t> </a:t>
            </a:r>
            <a:r>
              <a:rPr lang="fr-FR" sz="900" i="1" dirty="0" err="1">
                <a:solidFill>
                  <a:schemeClr val="tx1">
                    <a:lumMod val="95000"/>
                    <a:lumOff val="5000"/>
                  </a:schemeClr>
                </a:solidFill>
              </a:rPr>
              <a:t>you</a:t>
            </a:r>
            <a:r>
              <a:rPr lang="fr-FR" sz="900" i="1" dirty="0">
                <a:solidFill>
                  <a:schemeClr val="tx1">
                    <a:lumMod val="95000"/>
                    <a:lumOff val="5000"/>
                  </a:schemeClr>
                </a:solidFill>
              </a:rPr>
              <a:t> are </a:t>
            </a:r>
            <a:r>
              <a:rPr lang="fr-FR" sz="900" i="1" dirty="0" err="1">
                <a:solidFill>
                  <a:schemeClr val="tx1">
                    <a:lumMod val="95000"/>
                    <a:lumOff val="5000"/>
                  </a:schemeClr>
                </a:solidFill>
              </a:rPr>
              <a:t>agreeing</a:t>
            </a:r>
            <a:r>
              <a:rPr lang="fr-FR" sz="900" i="1" dirty="0">
                <a:solidFill>
                  <a:schemeClr val="tx1">
                    <a:lumMod val="95000"/>
                    <a:lumOff val="5000"/>
                  </a:schemeClr>
                </a:solidFill>
              </a:rPr>
              <a:t> to </a:t>
            </a:r>
            <a:r>
              <a:rPr lang="fr-FR" sz="900" i="1" dirty="0" err="1">
                <a:solidFill>
                  <a:schemeClr val="tx1">
                    <a:lumMod val="95000"/>
                    <a:lumOff val="5000"/>
                  </a:schemeClr>
                </a:solidFill>
              </a:rPr>
              <a:t>our</a:t>
            </a:r>
            <a:r>
              <a:rPr lang="fr-FR" sz="900" i="1" dirty="0">
                <a:solidFill>
                  <a:schemeClr val="tx1">
                    <a:lumMod val="95000"/>
                    <a:lumOff val="5000"/>
                  </a:schemeClr>
                </a:solidFill>
              </a:rPr>
              <a:t> applicable </a:t>
            </a:r>
            <a:r>
              <a:rPr lang="fr-FR" sz="900" i="1" dirty="0" err="1">
                <a:solidFill>
                  <a:schemeClr val="tx1">
                    <a:lumMod val="95000"/>
                    <a:lumOff val="5000"/>
                  </a:schemeClr>
                </a:solidFill>
              </a:rPr>
              <a:t>terms</a:t>
            </a:r>
            <a:r>
              <a:rPr lang="fr-FR" sz="900" i="1" dirty="0">
                <a:solidFill>
                  <a:schemeClr val="tx1">
                    <a:lumMod val="95000"/>
                    <a:lumOff val="5000"/>
                  </a:schemeClr>
                </a:solidFill>
              </a:rPr>
              <a:t> and </a:t>
            </a:r>
            <a:r>
              <a:rPr lang="fr-FR" sz="900" i="1" dirty="0" err="1">
                <a:solidFill>
                  <a:schemeClr val="tx1">
                    <a:lumMod val="95000"/>
                    <a:lumOff val="5000"/>
                  </a:schemeClr>
                </a:solidFill>
              </a:rPr>
              <a:t>privacy</a:t>
            </a:r>
            <a:r>
              <a:rPr lang="fr-FR" sz="900" i="1" dirty="0">
                <a:solidFill>
                  <a:schemeClr val="tx1">
                    <a:lumMod val="95000"/>
                    <a:lumOff val="5000"/>
                  </a:schemeClr>
                </a:solidFill>
              </a:rPr>
              <a:t> notice, </a:t>
            </a:r>
            <a:r>
              <a:rPr lang="fr-FR" sz="900" i="1" dirty="0" err="1">
                <a:solidFill>
                  <a:schemeClr val="tx1">
                    <a:lumMod val="95000"/>
                    <a:lumOff val="5000"/>
                  </a:schemeClr>
                </a:solidFill>
              </a:rPr>
              <a:t>including</a:t>
            </a:r>
            <a:r>
              <a:rPr lang="fr-FR" sz="900" i="1" dirty="0">
                <a:solidFill>
                  <a:schemeClr val="tx1">
                    <a:lumMod val="95000"/>
                    <a:lumOff val="5000"/>
                  </a:schemeClr>
                </a:solidFill>
              </a:rPr>
              <a:t> </a:t>
            </a:r>
            <a:r>
              <a:rPr lang="fr-FR" sz="900" i="1" dirty="0" err="1">
                <a:solidFill>
                  <a:schemeClr val="tx1">
                    <a:lumMod val="95000"/>
                    <a:lumOff val="5000"/>
                  </a:schemeClr>
                </a:solidFill>
              </a:rPr>
              <a:t>our</a:t>
            </a:r>
            <a:r>
              <a:rPr lang="fr-FR" sz="900" i="1" dirty="0">
                <a:solidFill>
                  <a:schemeClr val="tx1">
                    <a:lumMod val="95000"/>
                    <a:lumOff val="5000"/>
                  </a:schemeClr>
                </a:solidFill>
              </a:rPr>
              <a:t> cooking </a:t>
            </a:r>
            <a:r>
              <a:rPr lang="fr-FR" sz="900" i="1" dirty="0" err="1">
                <a:solidFill>
                  <a:schemeClr val="tx1">
                    <a:lumMod val="95000"/>
                    <a:lumOff val="5000"/>
                  </a:schemeClr>
                </a:solidFill>
              </a:rPr>
              <a:t>policy</a:t>
            </a:r>
            <a:r>
              <a:rPr lang="fr-FR" sz="900" i="1" dirty="0">
                <a:solidFill>
                  <a:schemeClr val="tx1">
                    <a:lumMod val="95000"/>
                    <a:lumOff val="5000"/>
                  </a:schemeClr>
                </a:solidFill>
              </a:rPr>
              <a:t>.</a:t>
            </a:r>
          </a:p>
        </p:txBody>
      </p:sp>
      <p:sp>
        <p:nvSpPr>
          <p:cNvPr id="16" name="ZoneTexte 15">
            <a:extLst>
              <a:ext uri="{FF2B5EF4-FFF2-40B4-BE49-F238E27FC236}">
                <a16:creationId xmlns:a16="http://schemas.microsoft.com/office/drawing/2014/main" id="{F202F1F8-1F8D-5ECE-92BA-DB2072524CD3}"/>
              </a:ext>
            </a:extLst>
          </p:cNvPr>
          <p:cNvSpPr txBox="1"/>
          <p:nvPr/>
        </p:nvSpPr>
        <p:spPr>
          <a:xfrm>
            <a:off x="1625598" y="4821320"/>
            <a:ext cx="3162300" cy="230832"/>
          </a:xfrm>
          <a:prstGeom prst="rect">
            <a:avLst/>
          </a:prstGeom>
          <a:noFill/>
        </p:spPr>
        <p:txBody>
          <a:bodyPr wrap="square" rtlCol="0">
            <a:spAutoFit/>
          </a:bodyPr>
          <a:lstStyle/>
          <a:p>
            <a:r>
              <a:rPr lang="fr-FR" sz="900" i="1" dirty="0">
                <a:solidFill>
                  <a:schemeClr val="tx1">
                    <a:lumMod val="95000"/>
                    <a:lumOff val="5000"/>
                  </a:schemeClr>
                </a:solidFill>
              </a:rPr>
              <a:t>Yes, I </a:t>
            </a:r>
            <a:r>
              <a:rPr lang="fr-FR" sz="900" i="1" dirty="0" err="1">
                <a:solidFill>
                  <a:schemeClr val="tx1">
                    <a:lumMod val="95000"/>
                    <a:lumOff val="5000"/>
                  </a:schemeClr>
                </a:solidFill>
              </a:rPr>
              <a:t>would</a:t>
            </a:r>
            <a:r>
              <a:rPr lang="fr-FR" sz="900" i="1" dirty="0">
                <a:solidFill>
                  <a:schemeClr val="tx1">
                    <a:lumMod val="95000"/>
                    <a:lumOff val="5000"/>
                  </a:schemeClr>
                </a:solidFill>
              </a:rPr>
              <a:t> like to </a:t>
            </a:r>
            <a:r>
              <a:rPr lang="fr-FR" sz="900" i="1" dirty="0" err="1">
                <a:solidFill>
                  <a:schemeClr val="tx1">
                    <a:lumMod val="95000"/>
                    <a:lumOff val="5000"/>
                  </a:schemeClr>
                </a:solidFill>
              </a:rPr>
              <a:t>receive</a:t>
            </a:r>
            <a:r>
              <a:rPr lang="fr-FR" sz="900" i="1" dirty="0">
                <a:solidFill>
                  <a:schemeClr val="tx1">
                    <a:lumMod val="95000"/>
                    <a:lumOff val="5000"/>
                  </a:schemeClr>
                </a:solidFill>
              </a:rPr>
              <a:t> emails </a:t>
            </a:r>
            <a:r>
              <a:rPr lang="fr-FR" sz="900" i="1" dirty="0" err="1">
                <a:solidFill>
                  <a:schemeClr val="tx1">
                    <a:lumMod val="95000"/>
                    <a:lumOff val="5000"/>
                  </a:schemeClr>
                </a:solidFill>
              </a:rPr>
              <a:t>from</a:t>
            </a:r>
            <a:r>
              <a:rPr lang="fr-FR" sz="900" i="1" dirty="0">
                <a:solidFill>
                  <a:schemeClr val="tx1">
                    <a:lumMod val="95000"/>
                    <a:lumOff val="5000"/>
                  </a:schemeClr>
                </a:solidFill>
              </a:rPr>
              <a:t> PGI CUST</a:t>
            </a:r>
          </a:p>
        </p:txBody>
      </p:sp>
      <p:sp>
        <p:nvSpPr>
          <p:cNvPr id="17" name="Rectangle : coins arrondis 16">
            <a:extLst>
              <a:ext uri="{FF2B5EF4-FFF2-40B4-BE49-F238E27FC236}">
                <a16:creationId xmlns:a16="http://schemas.microsoft.com/office/drawing/2014/main" id="{4630E645-D54C-542D-6E61-C85557AF4F74}"/>
              </a:ext>
            </a:extLst>
          </p:cNvPr>
          <p:cNvSpPr/>
          <p:nvPr/>
        </p:nvSpPr>
        <p:spPr>
          <a:xfrm>
            <a:off x="1765301" y="5339362"/>
            <a:ext cx="2374900" cy="36195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600" dirty="0"/>
              <a:t>Start Free Trial</a:t>
            </a:r>
          </a:p>
        </p:txBody>
      </p:sp>
      <p:pic>
        <p:nvPicPr>
          <p:cNvPr id="18" name="Image 17">
            <a:extLst>
              <a:ext uri="{FF2B5EF4-FFF2-40B4-BE49-F238E27FC236}">
                <a16:creationId xmlns:a16="http://schemas.microsoft.com/office/drawing/2014/main" id="{B5F3639A-D10C-8343-DA6E-9AA40CDEA27E}"/>
              </a:ext>
            </a:extLst>
          </p:cNvPr>
          <p:cNvPicPr>
            <a:picLocks noChangeAspect="1"/>
          </p:cNvPicPr>
          <p:nvPr/>
        </p:nvPicPr>
        <p:blipFill>
          <a:blip r:embed="rId2"/>
          <a:stretch>
            <a:fillRect/>
          </a:stretch>
        </p:blipFill>
        <p:spPr>
          <a:xfrm>
            <a:off x="5911739" y="463039"/>
            <a:ext cx="3773751" cy="5931922"/>
          </a:xfrm>
          <a:prstGeom prst="rect">
            <a:avLst/>
          </a:prstGeom>
        </p:spPr>
      </p:pic>
      <p:sp>
        <p:nvSpPr>
          <p:cNvPr id="19" name="Espace réservé du pied de page 18">
            <a:extLst>
              <a:ext uri="{FF2B5EF4-FFF2-40B4-BE49-F238E27FC236}">
                <a16:creationId xmlns:a16="http://schemas.microsoft.com/office/drawing/2014/main" id="{182C9F70-FB4B-14E7-8E94-63A104669F79}"/>
              </a:ext>
            </a:extLst>
          </p:cNvPr>
          <p:cNvSpPr>
            <a:spLocks noGrp="1"/>
          </p:cNvSpPr>
          <p:nvPr>
            <p:ph type="ftr" sz="quarter" idx="11"/>
          </p:nvPr>
        </p:nvSpPr>
        <p:spPr/>
        <p:txBody>
          <a:bodyPr/>
          <a:lstStyle/>
          <a:p>
            <a:r>
              <a:rPr lang="fr-FR"/>
              <a:t>Evaluaiton avec un micro projet HTML-CSS</a:t>
            </a:r>
          </a:p>
        </p:txBody>
      </p:sp>
      <p:sp>
        <p:nvSpPr>
          <p:cNvPr id="20" name="Espace réservé du numéro de diapositive 19">
            <a:extLst>
              <a:ext uri="{FF2B5EF4-FFF2-40B4-BE49-F238E27FC236}">
                <a16:creationId xmlns:a16="http://schemas.microsoft.com/office/drawing/2014/main" id="{937786AB-B91F-16F3-EE66-FC9FDB9B4471}"/>
              </a:ext>
            </a:extLst>
          </p:cNvPr>
          <p:cNvSpPr>
            <a:spLocks noGrp="1"/>
          </p:cNvSpPr>
          <p:nvPr>
            <p:ph type="sldNum" sz="quarter" idx="12"/>
          </p:nvPr>
        </p:nvSpPr>
        <p:spPr/>
        <p:txBody>
          <a:bodyPr/>
          <a:lstStyle/>
          <a:p>
            <a:fld id="{61A50371-3F2D-4FEF-B603-773838516A24}" type="slidenum">
              <a:rPr lang="fr-FR" smtClean="0"/>
              <a:t>45</a:t>
            </a:fld>
            <a:endParaRPr lang="fr-FR"/>
          </a:p>
        </p:txBody>
      </p:sp>
    </p:spTree>
    <p:extLst>
      <p:ext uri="{BB962C8B-B14F-4D97-AF65-F5344CB8AC3E}">
        <p14:creationId xmlns:p14="http://schemas.microsoft.com/office/powerpoint/2010/main" val="3125385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llipse 2">
            <a:extLst>
              <a:ext uri="{FF2B5EF4-FFF2-40B4-BE49-F238E27FC236}">
                <a16:creationId xmlns:a16="http://schemas.microsoft.com/office/drawing/2014/main" id="{4BE9985D-3678-1429-78CF-3DCFB17A37B5}"/>
              </a:ext>
            </a:extLst>
          </p:cNvPr>
          <p:cNvSpPr/>
          <p:nvPr/>
        </p:nvSpPr>
        <p:spPr>
          <a:xfrm>
            <a:off x="571500" y="822960"/>
            <a:ext cx="358140" cy="358140"/>
          </a:xfrm>
          <a:prstGeom prst="ellipse">
            <a:avLst/>
          </a:prstGeom>
          <a:solidFill>
            <a:srgbClr val="52B4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llipse 3">
            <a:extLst>
              <a:ext uri="{FF2B5EF4-FFF2-40B4-BE49-F238E27FC236}">
                <a16:creationId xmlns:a16="http://schemas.microsoft.com/office/drawing/2014/main" id="{D3C18F64-CF5E-56D4-6076-7C357A681AE7}"/>
              </a:ext>
            </a:extLst>
          </p:cNvPr>
          <p:cNvSpPr/>
          <p:nvPr/>
        </p:nvSpPr>
        <p:spPr>
          <a:xfrm>
            <a:off x="571500" y="914400"/>
            <a:ext cx="358140" cy="358140"/>
          </a:xfrm>
          <a:prstGeom prst="ellipse">
            <a:avLst/>
          </a:prstGeom>
          <a:solidFill>
            <a:srgbClr val="FAD6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B63D97A-757B-803F-2630-61A60701B70A}"/>
              </a:ext>
            </a:extLst>
          </p:cNvPr>
          <p:cNvSpPr txBox="1"/>
          <p:nvPr/>
        </p:nvSpPr>
        <p:spPr>
          <a:xfrm>
            <a:off x="929640" y="731521"/>
            <a:ext cx="2209800" cy="584775"/>
          </a:xfrm>
          <a:prstGeom prst="rect">
            <a:avLst/>
          </a:prstGeom>
          <a:noFill/>
        </p:spPr>
        <p:txBody>
          <a:bodyPr wrap="square" rtlCol="0">
            <a:spAutoFit/>
          </a:bodyPr>
          <a:lstStyle/>
          <a:p>
            <a:r>
              <a:rPr lang="fr-FR" sz="3200" dirty="0" err="1">
                <a:latin typeface="ADLaM Display" panose="02010000000000000000" pitchFamily="2" charset="0"/>
                <a:ea typeface="ADLaM Display" panose="02010000000000000000" pitchFamily="2" charset="0"/>
                <a:cs typeface="ADLaM Display" panose="02010000000000000000" pitchFamily="2" charset="0"/>
              </a:rPr>
              <a:t>PgI</a:t>
            </a:r>
            <a:r>
              <a:rPr lang="fr-FR" sz="3200" dirty="0">
                <a:latin typeface="ADLaM Display" panose="02010000000000000000" pitchFamily="2" charset="0"/>
                <a:ea typeface="ADLaM Display" panose="02010000000000000000" pitchFamily="2" charset="0"/>
                <a:cs typeface="ADLaM Display" panose="02010000000000000000" pitchFamily="2" charset="0"/>
              </a:rPr>
              <a:t> </a:t>
            </a:r>
            <a:r>
              <a:rPr lang="fr-FR" sz="3200" dirty="0" err="1">
                <a:latin typeface="ADLaM Display" panose="02010000000000000000" pitchFamily="2" charset="0"/>
                <a:ea typeface="ADLaM Display" panose="02010000000000000000" pitchFamily="2" charset="0"/>
                <a:cs typeface="ADLaM Display" panose="02010000000000000000" pitchFamily="2" charset="0"/>
              </a:rPr>
              <a:t>CusT</a:t>
            </a:r>
            <a:r>
              <a:rPr lang="fr-FR" sz="3200" dirty="0">
                <a:latin typeface="ADLaM Display" panose="02010000000000000000" pitchFamily="2" charset="0"/>
                <a:ea typeface="ADLaM Display" panose="02010000000000000000" pitchFamily="2" charset="0"/>
                <a:cs typeface="ADLaM Display" panose="02010000000000000000" pitchFamily="2" charset="0"/>
              </a:rPr>
              <a:t> </a:t>
            </a:r>
          </a:p>
        </p:txBody>
      </p:sp>
      <p:cxnSp>
        <p:nvCxnSpPr>
          <p:cNvPr id="7" name="Connecteur droit 6">
            <a:extLst>
              <a:ext uri="{FF2B5EF4-FFF2-40B4-BE49-F238E27FC236}">
                <a16:creationId xmlns:a16="http://schemas.microsoft.com/office/drawing/2014/main" id="{831AD4ED-5B5C-8A6A-52DD-6E27EA6D3754}"/>
              </a:ext>
            </a:extLst>
          </p:cNvPr>
          <p:cNvCxnSpPr>
            <a:cxnSpLocks/>
          </p:cNvCxnSpPr>
          <p:nvPr/>
        </p:nvCxnSpPr>
        <p:spPr>
          <a:xfrm>
            <a:off x="1264920" y="1308676"/>
            <a:ext cx="274952"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Image 9">
            <a:extLst>
              <a:ext uri="{FF2B5EF4-FFF2-40B4-BE49-F238E27FC236}">
                <a16:creationId xmlns:a16="http://schemas.microsoft.com/office/drawing/2014/main" id="{DED52936-1A91-D339-34B1-3AF05866E868}"/>
              </a:ext>
            </a:extLst>
          </p:cNvPr>
          <p:cNvPicPr>
            <a:picLocks noChangeAspect="1"/>
          </p:cNvPicPr>
          <p:nvPr/>
        </p:nvPicPr>
        <p:blipFill>
          <a:blip r:embed="rId2"/>
          <a:stretch>
            <a:fillRect/>
          </a:stretch>
        </p:blipFill>
        <p:spPr>
          <a:xfrm>
            <a:off x="566705" y="1893451"/>
            <a:ext cx="2572735" cy="859611"/>
          </a:xfrm>
          <a:prstGeom prst="rect">
            <a:avLst/>
          </a:prstGeom>
        </p:spPr>
      </p:pic>
      <p:sp>
        <p:nvSpPr>
          <p:cNvPr id="11" name="Espace réservé du pied de page 10">
            <a:extLst>
              <a:ext uri="{FF2B5EF4-FFF2-40B4-BE49-F238E27FC236}">
                <a16:creationId xmlns:a16="http://schemas.microsoft.com/office/drawing/2014/main" id="{3915B35D-56FF-382D-ABB4-09B6EF106C6D}"/>
              </a:ext>
            </a:extLst>
          </p:cNvPr>
          <p:cNvSpPr>
            <a:spLocks noGrp="1"/>
          </p:cNvSpPr>
          <p:nvPr>
            <p:ph type="ftr" sz="quarter" idx="11"/>
          </p:nvPr>
        </p:nvSpPr>
        <p:spPr/>
        <p:txBody>
          <a:bodyPr/>
          <a:lstStyle/>
          <a:p>
            <a:r>
              <a:rPr lang="fr-FR"/>
              <a:t>Evaluaiton avec un micro projet HTML-CSS</a:t>
            </a:r>
          </a:p>
        </p:txBody>
      </p:sp>
      <p:sp>
        <p:nvSpPr>
          <p:cNvPr id="12" name="Espace réservé du numéro de diapositive 11">
            <a:extLst>
              <a:ext uri="{FF2B5EF4-FFF2-40B4-BE49-F238E27FC236}">
                <a16:creationId xmlns:a16="http://schemas.microsoft.com/office/drawing/2014/main" id="{511B32F8-71A1-213E-8630-9A1CD9B2F873}"/>
              </a:ext>
            </a:extLst>
          </p:cNvPr>
          <p:cNvSpPr>
            <a:spLocks noGrp="1"/>
          </p:cNvSpPr>
          <p:nvPr>
            <p:ph type="sldNum" sz="quarter" idx="12"/>
          </p:nvPr>
        </p:nvSpPr>
        <p:spPr/>
        <p:txBody>
          <a:bodyPr/>
          <a:lstStyle/>
          <a:p>
            <a:fld id="{61A50371-3F2D-4FEF-B603-773838516A24}" type="slidenum">
              <a:rPr lang="fr-FR" smtClean="0"/>
              <a:t>46</a:t>
            </a:fld>
            <a:endParaRPr lang="fr-FR"/>
          </a:p>
        </p:txBody>
      </p:sp>
      <p:sp>
        <p:nvSpPr>
          <p:cNvPr id="13" name="Rectangle 12">
            <a:extLst>
              <a:ext uri="{FF2B5EF4-FFF2-40B4-BE49-F238E27FC236}">
                <a16:creationId xmlns:a16="http://schemas.microsoft.com/office/drawing/2014/main" id="{0C7B69BB-A2B0-90F2-0F5E-42A73CD73746}"/>
              </a:ext>
            </a:extLst>
          </p:cNvPr>
          <p:cNvSpPr/>
          <p:nvPr/>
        </p:nvSpPr>
        <p:spPr>
          <a:xfrm>
            <a:off x="929640" y="3429000"/>
            <a:ext cx="2209800" cy="14001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C86EA93F-C8BD-FF2B-CBC0-30F5E3AB967D}"/>
              </a:ext>
            </a:extLst>
          </p:cNvPr>
          <p:cNvSpPr/>
          <p:nvPr/>
        </p:nvSpPr>
        <p:spPr>
          <a:xfrm>
            <a:off x="1026795" y="3561698"/>
            <a:ext cx="238125" cy="2381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Ellipse 14">
            <a:extLst>
              <a:ext uri="{FF2B5EF4-FFF2-40B4-BE49-F238E27FC236}">
                <a16:creationId xmlns:a16="http://schemas.microsoft.com/office/drawing/2014/main" id="{DEE2D6CF-3068-D25B-92FA-A83746938284}"/>
              </a:ext>
            </a:extLst>
          </p:cNvPr>
          <p:cNvSpPr/>
          <p:nvPr/>
        </p:nvSpPr>
        <p:spPr>
          <a:xfrm>
            <a:off x="1026795" y="4010024"/>
            <a:ext cx="152401" cy="15240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806836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D2DFCC9D-DC12-B3E0-E3F6-471F7BE23CF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6051" y="856265"/>
            <a:ext cx="12119898" cy="5145470"/>
          </a:xfrm>
          <a:prstGeom prst="rect">
            <a:avLst/>
          </a:prstGeom>
        </p:spPr>
      </p:pic>
      <p:sp>
        <p:nvSpPr>
          <p:cNvPr id="3" name="Espace réservé du pied de page 2">
            <a:extLst>
              <a:ext uri="{FF2B5EF4-FFF2-40B4-BE49-F238E27FC236}">
                <a16:creationId xmlns:a16="http://schemas.microsoft.com/office/drawing/2014/main" id="{85B04845-7CFB-C358-FF03-E7AF2FF091A6}"/>
              </a:ext>
            </a:extLst>
          </p:cNvPr>
          <p:cNvSpPr>
            <a:spLocks noGrp="1"/>
          </p:cNvSpPr>
          <p:nvPr>
            <p:ph type="ftr" sz="quarter" idx="11"/>
          </p:nvPr>
        </p:nvSpPr>
        <p:spPr/>
        <p:txBody>
          <a:bodyPr/>
          <a:lstStyle/>
          <a:p>
            <a:r>
              <a:rPr lang="fr-FR"/>
              <a:t>Evaluaiton avec un micro projet HTML-CSS</a:t>
            </a:r>
          </a:p>
        </p:txBody>
      </p:sp>
      <p:sp>
        <p:nvSpPr>
          <p:cNvPr id="4" name="Espace réservé du numéro de diapositive 3">
            <a:extLst>
              <a:ext uri="{FF2B5EF4-FFF2-40B4-BE49-F238E27FC236}">
                <a16:creationId xmlns:a16="http://schemas.microsoft.com/office/drawing/2014/main" id="{F86437E4-E70A-6475-CD48-1D6AEAC03FEF}"/>
              </a:ext>
            </a:extLst>
          </p:cNvPr>
          <p:cNvSpPr>
            <a:spLocks noGrp="1"/>
          </p:cNvSpPr>
          <p:nvPr>
            <p:ph type="sldNum" sz="quarter" idx="12"/>
          </p:nvPr>
        </p:nvSpPr>
        <p:spPr/>
        <p:txBody>
          <a:bodyPr/>
          <a:lstStyle/>
          <a:p>
            <a:fld id="{61A50371-3F2D-4FEF-B603-773838516A24}" type="slidenum">
              <a:rPr lang="fr-FR" smtClean="0"/>
              <a:t>47</a:t>
            </a:fld>
            <a:endParaRPr lang="fr-FR"/>
          </a:p>
        </p:txBody>
      </p:sp>
    </p:spTree>
    <p:extLst>
      <p:ext uri="{BB962C8B-B14F-4D97-AF65-F5344CB8AC3E}">
        <p14:creationId xmlns:p14="http://schemas.microsoft.com/office/powerpoint/2010/main" val="204670840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4266</Words>
  <Application>Microsoft Office PowerPoint</Application>
  <PresentationFormat>Grand écran</PresentationFormat>
  <Paragraphs>520</Paragraphs>
  <Slides>47</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47</vt:i4>
      </vt:variant>
    </vt:vector>
  </HeadingPairs>
  <TitlesOfParts>
    <vt:vector size="53" baseType="lpstr">
      <vt:lpstr>ADLaM Display</vt:lpstr>
      <vt:lpstr>Aptos</vt:lpstr>
      <vt:lpstr>Aptos Display</vt:lpstr>
      <vt:lpstr>Arial</vt:lpstr>
      <vt:lpstr>Wingdings</vt:lpstr>
      <vt:lpstr>Thème Office</vt:lpstr>
      <vt:lpstr>Micro Projet PgI CUST</vt:lpstr>
      <vt:lpstr>Contexte de travail : Expression du besoin</vt:lpstr>
      <vt:lpstr>Quelques pistes pour votre CSS…</vt:lpstr>
      <vt:lpstr>Les pages :</vt:lpstr>
      <vt:lpstr>Processus fonctionnel du site web</vt:lpstr>
      <vt:lpstr>Organisation et objectifs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Niveau 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Niveau 3</vt:lpstr>
      <vt:lpstr>Présentation PowerPoint</vt:lpstr>
      <vt:lpstr>Informations SQL pour collecter les données du formulaire…</vt:lpstr>
      <vt:lpstr>Informations SQL pour TRAITER les données du formulaire…(Facultatif)</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QCM vocabulaire 1.0</vt:lpstr>
      <vt:lpstr>Crée un formulaire…</vt:lpstr>
      <vt:lpstr>1. Qu’est-ce et à quoi sert un ordinateur ?</vt:lpstr>
      <vt:lpstr>2. Qu’est-ce et à quoi sert un ordinateur ?</vt:lpstr>
      <vt:lpstr>3. Qu’est-ce et à quoi sert un ordinateur ?</vt:lpstr>
      <vt:lpstr>4. Qu’est-ce et à quoi sert un ordinateur ?</vt:lpstr>
      <vt:lpstr>5. Qu’est-ce et à quoi sert un ordinateur ?</vt:lpstr>
      <vt:lpstr>6. Qu’est-ce et à quoi sert un ordinateur ?</vt:lpstr>
      <vt:lpstr>7. Accès à Internet ? (Cocher ce qui est vrai)</vt:lpstr>
      <vt:lpstr>8. Un O.S ?</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 NUMERIQUE</dc:creator>
  <cp:lastModifiedBy>GO NUMERIQUE</cp:lastModifiedBy>
  <cp:revision>123</cp:revision>
  <dcterms:created xsi:type="dcterms:W3CDTF">2025-07-24T14:53:37Z</dcterms:created>
  <dcterms:modified xsi:type="dcterms:W3CDTF">2025-08-02T12:47:11Z</dcterms:modified>
</cp:coreProperties>
</file>